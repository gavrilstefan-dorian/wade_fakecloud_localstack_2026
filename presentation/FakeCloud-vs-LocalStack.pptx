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Astăzi comparăm FakeCloud și LocalStack. Ambele ne lasă să dezvoltăm aplicații care folosesc servicii AWS, cu o parte dintre servicii imitate pe calculatorul nostru. Dar cum am ajuns să avem nevoie de asta și de ce ar conta ce emulator alegem? Începem cu problema, apoi ajungem la diferențele practice dintre cele două.
Tranziție: Cum ajunge o companie de comerț online să ofere servicii de infrastructură altor dezvoltatori?
Scop: Introduce the two-tool comparison through the presenter’s Amazon-to-AWS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a crescut, iar în spatele magazinului a crescut și infrastructura: calcul, stocare și rețele. În 2006 apar S3 și EC2, prin care și alți dezvoltatori pot folosi capacități de stocare și calcul prin API-uri. Pentru noi, avantajul este familiar: putem construi o aplicație fără să cumpărăm și să administrăm mai întâi toată infrastructura. Nu avem nevoie de o lecție despre fiecare serviciu AWS. Ne interesează ce se întâmplă după ce începem să le folosim, mai ales cât încă dezvoltăm aplicația.
Tranziție: Resursele sunt ușor de creat. Dar faptul că am închis laptopul nu înseamnă că s-a oprit și facturarea.
Scop: Keep the chosen Amazon-to-AWS opening and establish the benefit briefly before introducing development costs.
Surse:
https://aws.amazon.com/about-aws/whats-new/2006/03/13/announcing-amazon-s3---simple-storage-service/
https://aws.amazon.com/blogs/aws/amazon_ec2_beta/
https://aws.amazon.com/blogs/aws/15-years-of-aws-blogging/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Problema nu este că AWS ar inventa taxe secrete. Factura urmărește resursele și utilizarea, nu momentul în care noi considerăm că am terminat lucrul. O instanță EC2 pornită poate fi facturată și când stă degeaba. Dacă o oprim, volumele de stocare EBS pot rămâne și pot costa în continuare. La S3, stocarea, cererile și anumite transferuri sunt componente separate. Aici pot povesti experiența echipei mele: resurse rămase pornite și o factură de câteva sute de lei. Nu atribuim factura unui serviciu anume dacă nu știm care a produs-o. Meme-ul ilustrează surpriza; nu este o statistică despre costuri.
Tranziție: Costul este un motiv să mutăm o parte din lucru local. Mai sunt și lucruri care ne încetinesc în fiecare zi.
Scop: Explain the general billing concern, with the presenter’s anecdote spoken separately.
Surse:
https://docs.aws.amazon.com/AWSEC2/latest/UserGuide/ec2-instance-lifecycle.html
https://aws.amazon.com/s3/pricing/
https://shellhound.com/2024/09/create-a-budget-in-aws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Să zicem că modificăm o funcție. Pentru a vedea rezultatul în cloud, trebuie să ajungă codul acolo, să declanșăm funcția și să găsim logurile. Repetăm asta pentru fiecare corecție. Separat, o cerere poate eșua din cauza permisiunilor sau a rețelei, chiar dacă logica aplicației este corectă. Mai avem mediul comun: eu încerc să reproduc o problemă, colegul golește coada, iar rezultatul se schimbă. Sau rămân date din încercarea de ieri și nu mai pornim din aceeași situație. Nu toate proiectele au fiecare problemă și niciun emulator nu repară automat permisiunile reale din AWS. Dar aceste exemple explică de ce vrem un mediu pe care îl controlăm, unde putem încerca și relua lucrurile mai ușor.
Tranziție: Dacă vrem să schimbăm codul și să vedem rezultatul, trebuie să folosim de fiecare dată mediul AWS al echipei?
Scop: Show concrete development friction beyond billing and motivate a separate local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Putem păstra aplicația și muta o parte dintre dependențele ei pe laptop. La dezvoltare, asta înseamnă să lucrăm cu stocare sau cozi locale și să inspectăm rezultatul fără o deplasare în consola AWS la fiecare pas. La depanare, recreăm datele și încercăm din nou. Fiecare coleg poate avea propriul mediu. Iar în CI, adică verificările automate pornite de exemplu după un commit, pregătim serviciile și datele pentru acea rulare, verificăm aplicația și eliminăm mediul temporar. Acestea sunt utilizări diferite ale aceluiași instrument. Scopul nu este să mutăm producția pe laptop, ci să facem lucrul de zi cu zi mai ușor.
Tranziție: Codul folosește în continuare un client AWS. Cine îi răspunde atunci când serviciul nu mai este în AWS?
Scop: Explain what moves locally and why it helps development, debugging, collaboration and automated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SDK-ul este biblioteca AWS folosită în cod, iar CLI-ul este clientul din terminal. Ambele trimit cereri la o adresă. În locul adresei serviciului AWS, configurăm adresa emulatorului, de exemplu localhost:4566. Pentru o operație de stocare, emulatorul trebuie să păstreze local fișierul și să răspundă într-un format pe care clientul îl înțelege. La o citire trebuie să întoarcă fișierul potrivit, iar dacă nu există, eroarea potrivită. Deci avem o implementare locală a unor operații AWS, cu date locale. Nu trimitem pur și simplu aceleași cereri mai departe către AWS. Cât de multe operații implementează și cât de fidel se comportă sunt diferențe importante între produse.
Tranziție: Acesta este tipul de mediu pe care LocalStack a încercat să îl facă practic pentru dezvoltatori.
Scop: Explain the changed destination and the local work performed by the emulator using one request and response.
Surse:
https://fakecloud.dev/
https://docs.localstack.cloud/aws/services/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LocalStack a pornit la Atlassian în 2016, inițial cu opt servicii AWS. Motivația era foarte concretă: să poți continua dezvoltarea și fără internet, inclusiv în tren sau avion. Putem explica așa: ai laptopul, ai codul, ai chef de lucru, dar aplicația ta așteaptă răspuns de la AWS. Ce faci? În loc să depinzi de conexiune la fiecare operație, pornești local serviciile necesare. SDK-ul trimite cereri către implementarea de pe laptop. Acest exemplu face ideea de dezvoltare offline mai ușor de înțeles decât o definiție. [Trenul și avionul sunt scenarii menționate explicit de echipa LocalStack; nu susținem că fondatorul a creat proiectul în timpul unui anumit zbor.]
Tranziție: Utilitatea acestui instrument a atras o comunitate și cerințe mai largi.
Scop: Restore LocalStack’s documented origins before explaining its growth.
Surse:
https://blog.localstack.cloud/2024-01-03-celebrating-50k-github-stars-localstack/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LocalStack a crescut dincolo de nevoia inițială. În retrospectiva din ianuarie 2024, echipa raporta 50.000 de stele GitHub și descria dezvoltarea ecosistemului de integrări. Numărul arată interesul public raportat, nu demonstrează singur calitatea fiecărei operații. Pentru echipe contează serviciile și instrumentele din jur: infrastructură definită în cod, CI, adică verificări automate în pipeline, și depanare. Astfel, produsul ajunge să fie o parte a procesului de dezvoltare, cu funcții și planuri diferite.
Tranziție: Când un instrument ajunge parte din munca zilnică a echipei, contează și condițiile în care îl putem porni.
Scop: Restore the progression from project origins to an established development platform.
Surse:
https://blog.localstack.cloud/2024-01-03-celebrating-50k-github-stars-localstack/
https://docs.localstack.cloud/aws/services/
https://docs.localstack.cloud/aws/getting-started/installation/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martie se unifică imaginile LocalStack. Versiunea nouă cere un cont și un token de activare la pornire, inclusiv pentru funcțiile disponibile gratuit. Hobby rămâne gratuit pentru utilizarea necomercială eligibilă. Un pipeline care pornea imaginea latest fără token poate eșua înainte să execute verificările aplicației. game-ci a raportat un asemenea caz și a fixat temporar o versiune mai veche. Este un exemplu public raportat, nu o problemă pe care pretindem că am reprodus-o. Pentru echipă, schimbarea înseamnă configurarea și gestionarea unei cerințe noi.
Tranziție: De aici întrebarea: de ce ar vrea cineva un emulator local care să nu depindă de un cont de produs?
Scop: Explain the change, the free option and one concrete CI consequence on a single timeline.
Surse:
https://blog.localstack.cloud/localstack-for-aws-release-2026-03-0/
https://github.com/game-ci/unity-builder/issues/822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Tokenul nu este o cheie pentru contul AWS al aplicației. Este activarea produsului LocalStack. Obiecția practică este că un instrument rulat pe calculatorul meu cere acum un cont extern și o configurare suplimentară. În CI, tokenul trebuie furnizat ca secret. Mai contează dacă utilizarea noastră se încadrează în planul gratuit. Pentru confidențialitate trebuie separate activarea și evenimentele de utilizare: documentația spune că activarea păstrează momentul și credențialele de licențiere. Raportarea evenimentelor se poate dezactiva cu DISABLE_EVENTS=1, dar asta nu șterge înregistrarea activării. Documentația exclude numele și conținutul fișierelor S3 din datele colectate. Nu avem o captură de trafic proprie și nu prezentăm contul ca dovadă că cineva ne citește fișierele.
Tranziție: Cerința de cont este un motiv de a căuta alternative, dar nu este singurul și nici primul istoric.
Scop: Explain why activation matters to developers, including documented privacy concerns, rather than teaching credential names.
Surse:
https://docs.localstack.cloud/aws/getting-started/auth-token/
https://docs.localstack.cloud/aws/customization/advanced/usage-tracking/
https://blog.localstack.cloud/localstack-for-aws-release-2026-03-0/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Alternativele existau și înainte de schimbarea LocalStack. Nu toate încearcă să ofere un mediu complet: unele rezolvă o singură dependență, altele se integrează direct în teste. SAM poate rula funcții Lambda și rute HTTP, dar serviciile de care depinde funcția trebuie pregătite separat. Contul, licența și modul nostru de lucru sunt alte motive de alegere. Pe următorul slide vedem instrumentele concrete; aici ideea este de ce am alege ceva mai restrâns.
Tranziție: Să vedem câteva opțiuni concrete și ce parte din aplicație acoperă fiecare.
Scop: Explain different reasons for alternatives, including SAM local execution, before comparing focused tools.
Surse:
https://aws.amazon.com/about-aws/whats-new/2013/09/12/amazon-dynamodb-local/
https://docs.getmoto.org/en/latest/docs/getting_started.html
https://docs.getmoto.org/en/latest/docs/server_mode.html
https://docs.aws.amazon.com/serverless-application-model/latest/developerguide/using-sam-cli-local.html
https://github.com/softwaremill/elasticmq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Moto este util când testele Python trebuie să interacționeze cu o implementare locală AWS; nu trebuie să presupunem că fiecare operație este implementată complet. DynamoDB Local vine de la AWS și rezolvă nevoia de bază de date, nu și de cozi sau funcții. ElasticMQ oferă o coadă compatibilă cu SQS. S3Mock, de la Adobe, implementează o parte din API-ul S3 și are integrare cu Docker și instrumente de testare Java. Avantajul unui instrument specializat este că putem rezolva exact dependența de care avem nevoie. Dacă aplicația folosește mai multe servicii care se declanșează între ele, trebuie să ne ocupăm separat și de legăturile dintre ele.
Tranziție: FakeCloud încearcă să ofere un mediu cu mai multe servicii împreună. Motivația autorului se leagă direct de schimbarea LocalStack.
Scop: Show the benefit and scope limit of four focused alternatives; SAM is explained on the preceding page.
Surse:
https://docs.getmoto.org/en/latest/docs/server_mode.html
https://docs.getmoto.org/en/latest/docs/getting_started.html
https://docs.aws.amazon.com/amazondynamodb/latest/developerguide/DynamoDBLocal.html
https://github.com/softwaremill/elasticmq
https://github.com/adobe/S3Mock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Vieira povestește că noile cerințe LocalStack i-au stricat build-urile. A rezolvat problema imediată, dar a rămas întrebarea: cât timp poate depinde proiectul de versiunea veche? Spune că a început FakeCloud pe 4 aprilie. Voia o implementare gratuită și deschisă, în care cererile să aibă efecte pe care le putem verifica. De exemplu, după crearea unei cozi și trimiterea unui mesaj, citirea din coadă trebuie să găsească mesajul respectiv. Autorul își explică aici obiectivul; comparația practică trebuie să arate cât de bine îl îndeplinește. [Dacă apare întrebarea despre AI: articolul declară folosirea intensă a LLM-urilor și rolul testelor. Asta explică metoda de dezvoltare, nu demonstrează singur calitatea.] [Legătură opțională cu povestea de mai devreme: la începutul LocalStack, nevoia era să poți lucra inclusiv fără conexiune, în tren sau avion. În relatarea autorului FakeCloud, declanșatorul este schimbarea condițiilor de pornire. Sunt două motive diferite pentru a vrea control asupra mediului local.]
Tranziție: Ce ne oferă concret alternativa aceasta și ce putem obține deja din LocalStack?
Scop: Explain the author’s reported trigger, workaround and reason for building FakeCloud, without repeating runtime details.
Surse:
https://fakecloud.dev/blog/why-fakecloud/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Ambele instrumente au o cale gratuită, dar condițiile diferă. FakeCloud publică sursa sub AGPL-3.0, o licență open source cu condiții pentru folosirea și distribuirea codului. LocalStack oferă Hobby gratuit pentru utilizare necomercială, cu cont și token. Catalogul FakeCloud promovează peste o sută de servicii; LocalStack oferă peste treizeci în Hobby, peste cincizeci și cinci în Base și peste o sută zece în Ultimate. Numărul nu spune singur cât de complet funcționează fiecare serviciu. Rândul cu serviciile comune enumeră câteva exemple: S3 pentru fișiere, SQS pentru mesaje, Lambda pentru cod și DynamoDB pentru date. Ultimele două rânduri sunt două nevoi concrete. Prima: vreau să încerc înregistrarea și autentificarea utilizatorilor prin Cognito, inclusiv răspunsurile cu tokenuri. FakeCloud documentează aceste API-uri; LocalStack le oferă în Base sau Ultimate. A doua: vreau să opresc emulatorul și, după repornire, să găsesc resursele și datele pregătite ieri. FakeCloud are mod persistent, care salvează local pe disc; persistența LocalStack este în planurile plătite indicate. Dacă folosim containere, și directorul de date trebuie păstrat prin configurarea potrivită. Acestea sunt funcții documentate, nu rezultate pe care pretindem că le-am verificat în toate scenariile.
Tranziție: Dar ce înseamnă că un serviciu este suportat? Un nume într-un catalog nu ne spune încă tot ce putem face cu el.
Scop: Combine access, service scope and concrete paid-feature differences into one comparison rather than repeated matrices.
Surse:
https://fakecloud.dev/
https://fakecloud.dev/docs/services/
https://www.localstack.cloud/pricing
https://blog.localstack.cloud/localstack-for-aws-release-2026-03-0/
https://fakecloud.dev/docs/services/s3/
https://fakecloud.dev/docs/services/sqs/
https://fakecloud.dev/docs/services/lambda/
https://fakecloud.dev/docs/services/dynamodb/
https://fakecloud.dev/docs/services/cognito/
https://docs.localstack.cloud/aws/services/cognito-idp/
https://fakecloud.dev/docs/reference/persistence/
https://docs.localstack.cloud/aws/developer-tools/snapshots/persistence/
https://fakecloud.dev/vs/localstack/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Aici sunt trei întrebări diferite. Breadth înseamnă câte servicii sunt acoperite: stocare, cozi, funcții, baze de date și așa mai departe. Depth înseamnă cât din comportamentul fiecărui serviciu este implementat complet și fidel. De exemplu, S3 are versiuni ale fișierelor: încarc o ciornă, o suprascriu, apoi cer explicit varianta veche. Emulatorul o întoarce corect? Dacă cer un fișier care nu există, primesc eroarea pe care aplicația o așteaptă? Integrarea este altă întrebare: dacă am configurat o notificare S3 către o funcție Lambda, încărcarea unui fișier declanșează codul? Pe pagina sa de comparație, FakeCloud își numește abordarea depth-first și descrie LocalStack drept breadth-first. Este poziționarea furnizorului. Nu folosim etichetele ca pe o dovadă că toate serviciile FakeCloud sunt mai fidele sau că LocalStack nu are integrări reale. Pentru proiect contează operațiile și legăturile de care avem efectiv nevoie.
Tranziție: Aceste comportamente trebuie implementate de ceva care rulează pe calculatorul nostru. Ce anume pornim în fiecare caz?
Scop: Explain breadth, depth and integration as distinct comparison dimensions; attribute the product positioning to FakeCloud.
Surse:
https://fakecloud.dev/vs/localstack/
https://fakecloud.dev/docs/services/s3/
https://docs.aws.amazon.com/AmazonS3/latest/userguide/Versioning.html
https://docs.aws.amazon.com/AmazonS3/latest/userguide/EventNotifications.html
https://fakecloud.dev/docs/services/lambda/
https://docs.localstack.cloud/aws/services/lambda/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FakeCloud este un program compilat în Rust: îl putem porni direct ca executabil sau îl putem rula într-un container. Programul primește cererile și le trimite către modulele care implementează serviciile. LocalStack are un runtime principal bazat pe Python și este pornit în mod obișnuit în containerul său Docker. În interior, cererile ajung la implementările serviciilor. Asta nu înseamnă automat câte un container separat pentru fiecare serviciu AWS. Diferența de împachetare contează când pregătim calculatorul sau mediul de CI. Pentru funcții Lambda, însă, vrem să executăm și codul funcției într-un mediu potrivit limbajului și versiunii ei. Ambele instrumente folosesc containere suplimentare pentru această execuție. De aceea afirmația «FakeCloud este un singur executabil» nu înseamnă că orice scenariu va funcționa fără Docker. Nici limbajul Rust, singur, nu ne spune cât de repede merge aplicația noastră. [Pentru eventualele măsurători: separăm descărcarea imaginilor de pornirea cu imagini deja disponibile; așteptăm o operație AWS reușită; includem containerele funcțiilor în consum; deosebim prima invocare de cele cu mediu reutilizat. Nu prezentăm aceste puncte ca rezultate măsurate.]
Tranziție: Următoarele exemple arată ce se schimbă la pornire și ce rămâne comun: clientul AWS, operațiile și modul în care aplicația primește rezultatul.
Scop: Explain the runtime and packaging difference once, with its practical consequence for installation and Lambda execution.
Surse:
https://fakecloud.dev/docs/about/architecture/
https://github.com/localstack/localstack/blob/main/docs/localstack-concepts/README.md
https://fakecloud.dev/docs/services/lambda/
https://docs.localstack.cloud/aws/services/lambda/
https://docs.localstack.cloud/aws/getting-started/installation/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aceste exemple comparăm folosirea celor două instrumente, nu învățăm un API nou pentru fiecare. După ce avem Docker pornit, acestea sunt două comenzi alternative de pornire pentru un exemplu simplu cu o coadă SQS. La FakeCloud, pornim direct imaginea. La LocalStack, setăm înainte în terminal un token de produs valid, apoi opțiunea -e îl transmite containerului. Rândul -p leagă portul 4566 al containerului de portul local al calculatorului; aici cererile vor ajunge la emulator. Comenzile folosesc sintaxa Bash, de exemplu într-un terminal WSL. Le rulăm pe rând, fiindcă ambele ocupă același port în acest exemplu. Într-un proiect păstrăm versiunea validată a imaginii, nu depindem necontrolat de imaginea implicită latest. Pentru executarea Lambda configurația se extinde cu accesul necesar la Docker și rețeaua containerelor. Aici explicăm pornirea pentru exemplul cu mesaje; nu înlocuim configurația demonstrației noastre. [Comenzile sunt exemple din documentație; nu au fost executate în această revizie a slide-urilor.]
Tranziție: După pornire avem un server local. Acum folosim clientul AWS din terminal ca să creăm o resursă în el.
Scop: Show the startup commands and activation difference after explaining the required local runtimes.
Surse:
https://docs.localstack.cloud/aws/getting-started/installation/
https://docs.localstack.cloud/aws/getting-started/auth-token/
https://fakecloud.dev/docs/getting-started/install/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Folosim AWS CLI, clientul oficial din terminal. Valorile test sunt credențiale fictive pentru clientul AWS, diferite de tokenul de activare LocalStack. Setăm și o regiune consecventă. Eliminăm un eventual token de sesiune rămas dintr-un alt mediu. Adresa localhost:4566 trimite cererile la emulatorul pornit. Prima comandă creează coada wade-jobs. A doua listează cozile; căutăm resursa pe care tocmai am cerut să o creăm. Nu este doar o cerere la care serverul trebuie să spună succes: resursa ar trebui să existe și la următoarea citire. Putem folosi aceeași secvență cu oricare dintre cele două instrumente, pornite pe rând la aceeași adresă. [Nu afișăm un rezultat inventat: pe slide sunt comenzile, nu ieșirea unei rulări.]
Tranziție: Într-o aplicație facem operații asemănătoare prin SDK. Putem continua cu aceeași coadă, fără să schimbăm exemplul.
Scop: Turn endpoint compatibility into an understandable create-and-read example without creating a file-processing storyline.
Surse:
https://fakecloud.dev/docs/getting-started/first-test/
https://fakecloud.dev/docs/services/sqs/
https://docs.localstack.cloud/aws/connecting/aws-cli/
https://docs.aws.amazon.com/cli/latest/reference/sqs/create-queue.html
https://docs.aws.amazon.com/cli/latest/reference/sqs/list-queues.html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Boto3 este SDK-ul oficial AWS pentru Python. Lansăm acest cod din mediul în care am setat credențialele fictive și regiunea pe slide-ul anterior, iar Boto3 le citește din acel mediu. Clientul SQS primește explicit adresa emulatorului. Cerem URL-ul cozii wade-jobs, trimitem mesajul hello și apoi cerem mesaje din coadă. WaitTimeSeconds permite o scurtă așteptare pentru mesaje; dacă răspunsul este gol, bucla nu afișează nimic. Scopul este simplu: API-ul AWS este folosit de codul aplicației pentru o operație cu efect și pentru citirea rezultatului. Dacă pornim celălalt emulator la aceeași adresă, codul nu trebuie rescris cu un SDK proprietar. Tot trebuie să verificăm rezultatul și operațiile folosite. [Acesta este un exemplu de cod, nu o rulare demonstrată aici. Primirea unui mesaj nu îl șterge definitiv din SQS; într-un consumator real, confirmăm procesarea cu DeleteMessage după succes.] [Aceeași secvență de cod se poate folosi cu ambele instrumente. Dacă rulează simultan pe porturi diferite, modificăm adresa endpoint în funcție de instanța aleasă.]
Tranziție: Același SDK trebuie să recunoască și erorile. Trecem la un fișier S3 absent ca să vedem de ce fidelitatea erorilor contează pentru aplicație.
Scop: Show an actual use of the AWS SDK against the queue just created, rather than configuration alone.
Surse:
https://fakecloud.dev/docs/services/sqs/
https://docs.localstack.cloud/aws/services/sqs/
https://docs.aws.amazon.com/boto3/latest/reference/services/sqs/client/get_queue_url.html
https://docs.aws.amazon.com/boto3/latest/reference/services/sqs/client/send_message.html
https://docs.aws.amazon.com/boto3/latest/reference/services/sqs/client/receive_message.html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Luăm un alt caz foarte obișnuit: aplicația cere un fișier S3 care nu există. Cu permisiunile potrivite, AWS poate răspunde cu 404 și codul NoSuchKey. Boto3 citește răspunsul și oferă aplicației o eroare structurată. Codul nostru poate recunoaște acest caz și poate afișa utilizatorului că fișierul nu există. Dacă emulatorul întoarce succes sau un alt cod de eroare, acea ramură a aplicației poate să nu fie verificată corect. Asta face parte din fidelitatea despre care am vorbit: contează și erorile, nu numai operațiile reușite. [Răspunsul de pe ecran este o ilustrare a protocolului S3, nu o captură de la emulatoarele noastre. În AWS, fără permisiunea s3:ListBucket, un obiect absent poate produce 403; comparăm aceleași condiții de acces.] [Cerința de a întoarce o eroare compatibilă se aplică ambelor emulatoare. Textul de pe slide arată ce ar trebui să recunoască SDK-ul, nu dovedește că am obținut acel răspuns de la fiecare.]
Tranziție: Am văzut cum răspunde clientul la o cerere. Pentru codul rulat într-o funcție Lambda, întrebarea de depanare este alta: a fost funcția invocată și ce s-a întâmplat în ea?
Scop: Explain a concrete consequence of error compatibility for application behaviour, using a missing S3 file.
Surse:
https://docs.aws.amazon.com/AmazonS3/latest/API/API_GetObject.html
https://docs.aws.amazon.com/boto3/latest/guide/error-handling.html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Dacă nu văd rezultatul așteptat, trebuie mai întâi să aflu dacă funcția a fost invocată. Altfel pot pierde timp depanând un cod care nici măcar nu a rulat. FakeCloud oferă o rută proprie care listează invocările înregistrate, cu datele de intrare, răspunsul și eventualele erori. În LocalStack putem citi logurile funcției prin serviciul CloudWatch Logs emulat local. Grupurile au în mod obișnuit forma /aws/lambda/numele-funcției. Căutăm urmele invocării, mesajele scrise de funcție și excepțiile. Valoarea returnată de o funcție nu apare automat în orice log: contează și ce înregistrează aplicația. Punctul comparației este cât de ușor putem vedea ce s-a întâmplat. Ruta /_fakecloud este specifică produsului; nu este același lucru cu un API AWS folosit de codul aplicației. [Acestea sunt căi documentate de inspecție, nu singurele unelte ale fiecărui produs și nu capturi din demonstrația noastră.]
Tranziție: După ce găsim problema, vrem să încercăm din nou. Dar datele vechi pot schimba rezultatul următoarei încercări.
Scop: Compare practical ways to distinguish a missing invocation from a function that ran and failed.
Surse:
https://fakecloud.dev/docs/reference/introspection/
https://fakecloud.dev/docs/services/lambda/
https://docs.localstack.cloud/aws/services/lambda/
https://docs.localstack.cloud/aws/services/logs/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slide-ul cu Python am trimis un mesaj într-o coadă. Dacă repet exemplul, nu vreau să confund un mesaj rămas de ieri cu rezultatul încercării de acum. Avem mai multe niveluri de curățare. PurgeQueue golește mesajele și păstrează coada. DeleteQueue șterge coada; dacă o creez din nou, îi pregătesc și configurația necesară. Acestea sunt operații AWS pe care le putem folosi în ambele emulatoare. FakeCloud oferă în plus un endpoint pentru resetarea unui serviciu întreg: în acest caz, întregul SQS local, inclusiv cozile. Nu sunt operații cu același efect, așa că alegem cât vrem să ștergem. Sunt utile când reluăm un experiment manual și când pregătim verificări automate. [În AWS, golirea prin PurgeQueue poate dura până la 60 de secunde. Nu presupunem că un emulator reproduce perfect acest timp și nu prezentăm curățarea drept măsurată în această revizie.]
Tranziție: Uneori vrem însă să păstrăm resursele între sesiuni, ca să nu refacem manual pregătirea de fiecare dată.
Scop: Explain different cleanup scopes and show the FakeCloud shortcut without suggesting standard AWS cleanup is exclusive to LocalStack.
Surse:
https://fakecloud.dev/docs/reference/introspection/
https://docs.aws.amazon.com/AWSSimpleQueueService/latest/APIReference/API_PurgeQueue.html
https://docs.aws.amazon.com/AWSSimpleQueueService/latest/APIReference/API_DeleteQueue.html
https://fakecloud.dev/docs/services/sqs/
https://docs.localstack.cloud/aws/services/sqs/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Aici folosim aceeași idee de păstrare a datelor menționată în tabelul de comparație. Îmi pregătesc local resursele, de exemplu un bucket și fișiere de test, apoi vreau să opresc calculatorul și să continui mâine. Fără o configurare de persistență, starea emulatorului este temporară. În FakeCloud activez modul persistent și aleg directorul în care se salvează starea. La repornire folosesc același director. În LocalStack, PERSISTENCE=1 activează mecanismul de snapshot-uri, adică salvări ale stării care pot fi încărcate din nou. Este o funcție Base sau Ultimate. În Docker trebuie păstrat și directorul de date printr-un volum sau un director montat; simpla variabilă nu face datele să supraviețuiască ștergerii containerului. Pentru lucru manual asta scutește pregătirea repetată. Când vreau o încercare de la zero, trebuie să curăț explicit datele păstrate. [Pe slide, FakeCloud este exemplificat prin comanda nativă în sintaxă Bash, iar la LocalStack este arătată setarea de configurare. Nu am schimbat opțiunile emulatorului folosit în demo.]
Tranziție: Mai rămâne o întrebare practică pentru o echipă: cum se potrivesc aceste instrumente cu modul în care schimbăm codul și pregătim infrastructura?
Scop: Explain what persistence preserves, why a developer would use it and how each tool enables it.
Surse:
https://fakecloud.dev/docs/reference/persistence/
https://docs.localstack.cloud/aws/developer-tools/snapshots/persistence/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Tabelul arată exemple de workflow, nu liste exclusive de suport. Același SDK ajută la schimbarea emulatorului, dar proiectul are și alte componente. Codul care trimite cereri AWS poate păstra aceleași operații și poate schimba adresa. Resursele trebuie recreate în noul mediu, prin scripturi sau instrumente precum Terraform și CDK. Aici infrastructura în cod înseamnă că un fișier declară resursele necesare, iar instrumentul le creează. La modificarea codului Lambda există o diferență utilă de workflow: FakeCloud documentează actualizarea prin API-ul AWS, iar LocalStack oferă și hot reloading în Hobby. Asta înseamnă că modificările locale ajung în funcție fără un redeploy manual la fiecare editare. Acestea sunt rute documentate de lucru, nu un inventar complet al fiecărei funcții disponibile. În plus, scripturile care folosesc rute speciale de inspecție sau resetare trebuie adaptate între produse. Verificăm și adresele văzute din containere: localhost-ul unui container nu este automat laptopul. Acesta este motivul pentru care nu estimăm orice migrare doar după durata schimbării unei imagini Docker. O echipă poate păstra LocalStack fiindcă uneltele deja integrate îi economisesc timp.
Tranziție: O altă configurație importantă apare când vrem să verificăm cine are voie să citească sau să șteargă date.
Scop: Compare the parts of an existing workflow that carry over and the developer tools that can make a switch worthwhile or costly.
Surse:
https://docs.localstack.cloud/aws/developer-tools/lambda-tools/hot-reloading/
https://fakecloud.dev/docs/services/lambda/
https://docs.localstack.cloud/aws/integrations/infrastructure-as-code/terraform/
https://fakecloud.dev/blog/migrate-from-localstack/
https://fakecloud.dev/docs/reference/introspection/
https://docs.localstack.cloud/aws/developer-tools/snapshots/persistence/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 stabilește ce operații poate face o identitate. Un exemplu ușor de urmărit: utilizatorul poate citi un fișier, dar nu are voie să îl șteargă. Dacă toate operațiile sunt permise în mediul local, nu am verificat acea restricție. Ambele instrumente cer activarea aplicării politicilor. În FakeCloud folosim modul strict; în LocalStack, ENFORCE_IAM=1, o funcție Base sau Ultimate. Mai este un detaliu important față de codul de mai devreme: în FakeCloud, credențialele test/test sunt rezervate și ocolesc verificarea permisiunilor. Deci pentru acest caz creăm un utilizator local cu propriile credențiale și cu o politică limitată. Verificăm atât citirea permisă, cât și ștergerea refuzată. Exemplul descrie rezultatul pe care ar trebui să îl impună politica; nu prezentăm o rulare efectuată de noi. Verificăm separat și serviciile și tipurile de politici pe care le aplică emulatorul. Un control local trecut cu o identitate privilegiată nu dovedește că utilizatorii reali sunt limitați corect.
Tranziție: Aici putem trece la demonstrația pregătită: CSV sintetic încărcat în S3, procesat de Lambda, rezultat salvat în S3. După demonstrație revenim la limitele mediului local.
Scop: Show a meaningful permission test and the different configuration/access requirements, including the dummy-credential bypass.
Surse:
https://fakecloud.dev/docs/reference/security/
https://docs.localstack.cloud/aws/developer-tools/security-testing/iam-policy-enforcement/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Trecem la aplicația pregătită. Datele despre absolvenți sunt sintetice, nu vin din baza de date a disertației. Interfața trimite același CSV către emulatoarele locale. Fișierul intră în bucketul S3 de intrare, notificarea ObjectCreated invocă funcția Lambda, iar funcția validează înregistrările și salvează un raport JSON în bucketul de ieșire. Arăt întâi fluxul normal și rezultatul efectiv din S3. Apoi, în experimentul repetat înainte de prezentare, deconectez notificarea: fișierul se încarcă, dar raportul nu apare. Reconectarea nu procesează automat fișierul deja încărcat. Îl reîncarc pentru a crea un eveniment nou și verific rezultatul. Scopul nu este să demonstrăm cât de impresionant este un parser CSV, ci să vedem servicii conectate, o eroare de configurare și recuperarea. [Deschide http://127.0.0.1:8000/. Urmează emulator-demo/graduate-lab/PRESENTER_GUIDE.md. Nu executa pregătirea, resetarea sau instalarea de pe slide. Fișierele evidence conțin rapoarte cu 12 acceptate pentru setul valid și 4 acceptate/4 respinse pentru cel problematic, pentru ambele emulatoare; latest-notification-outage.json raportează deconectare și recuperare pentru ambele. Sunt dovezi salvate, nu o rulare nouă în această editare. Handoff-ul Stage 11 nu confirmă experimentul browser în patru pași pe LocalStack; folosește varianta repetată personal. Tabul cu SQS/DynamoDB este opțional și folosește un worker Python; nu este un event-source mapping automat SQS–Lambda.]
Tranziție: Revenim la slide-uri: ce demonstrează un astfel de flux local și ce trebuie verificat în mediul real?
Scop: Introduce the existing synthetic-data S3/Lambda application and the notification failure/recovery experiment without claiming a new live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emulator ne poate ajuta mult fără să înlocuiască fiecare efect al serviciului real. Un exemplu documentat foarte concret: în FakeCloud, notificările SNS către email sau SMS sunt înregistrate local, nu trimise destinatarului real. Pot verifica ce mesaj a încercat aplicația să trimită; nu am verificat livrarea unui email sau SMS. În AWS trebuie verificate configurația efectiv livrată, permisiunile și conexiunile dintre resurse.  Când spun event timing, mă refer la când ajunge notificarea, când începe funcția și când se reîncearcă după o eroare. De exemplu, un upload S3 reușit nu înseamnă că rezultatul funcției Lambda există deja. AWS spune că notificările S3 sosesc de obicei în secunde, dar uneori după un minut sau mai mult; notificarea se poate repeta. Pentru o invocare Lambda asincronă cu eroare de funcție, implicit există încă două încercări, după aproximativ un minut și apoi două minute. Deci un cod care așteaptă fix 100 ms și presupune că rezultatul este gata poate părea corect local și poate eșua în AWS. Așteptăm rezultatul cu o limită de timp și facem procesarea sigură la evenimente repetate. Nu susținem că am observat aceeași abatere de timp în fiecare emulator; explicăm ce trebuie validat pentru aplicația reală. Iar viteza unui cod pe laptop nu stabilește capacitatea în producție sau factura AWS. Aceste recomandări rezultă din diferențele dintre mediul local și cel real și se aplică alegerii oricăruia dintre emulatoare. [Pentru întrebări despre dovezi: FakeCloud publică verificări ale formei API-urilor din modelele AWS Smithy, fluxuri locale, comparații selectate cu AWS și teste Terraform. Aceste categorii verifică lucruri diferite. LocalStack a publicat metoda comparației cu răspunsuri AWS înregistrate. Articolul explicativ este din 2022, nu un raport de rezultate pentru versiunea noastră. Păstrăm metodele și sursele în note; nu transformăm procentele unei suite într-un procent din tot comportamentul AWS.]
Tranziție: Cu avantajele și limitele acestea, putem spune când merită aleasă fiecare opțiune.
Scop: Make the boundary of local emulation concrete, using an actual documented FakeCloud limitation and production-specific questions.
Surse:
https://fakecloud.dev/docs/reference/limitations/
https://fakecloud.dev/docs/about/conformance/
https://github.com/localstack/localstack/blob/main/docs/testing/parity-testing/README.md
https://blog.localstack.cloud/2022-08-04-parity-explained/
https://docs.aws.amazon.com/AWSEC2/latest/UserGuide/ec2-instance-lifecycle.html
https://aws.amazon.com/s3/pricing/
https://docs.aws.amazon.com/AmazonS3/latest/userguide/EventNotifications.html
https://docs.aws.amazon.com/lambda/latest/dg/invocation-async-error-handling.html
https://www.youtube.com/watch?v=jz7oq-Viwew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Acum putem trage o concluzie concretă din comparație. Pentru S3, SQS sau Lambda de bază, ambele au o variantă gratuită; nu avem un câștigător doar fiindcă unul este numit alternativa gratuită. Diferența de cost devine relevantă la funcții precum Cognito, persistență și aplicarea politicilor IAM: FakeCloud le documentează fără un nivel plătit, în timp ce în LocalStack sunt Base sau Ultimate. Pentru un proiect nou fără buget de licență, acesta este un motiv concret să încerc FakeCloud. Compromisul este istoricul mult mai scurt: a început în aprilie 2026, față de LocalStack în 2016. Istoricul nu dovedește automat că fiecare operație este mai bună, dar contează când evaluăm experiența acumulată, documentația, ecosistemul și ajutorul disponibil. LocalStack are hot reloading, integrări CDK și niveluri de suport. Dacă echipa le folosește deja, timpul economisit și costul migrării pot conta mai mult decât eliminarea activării. Ambele pot folosi instrumente AWS; nu susținem că CDK este imposibil cu FakeCloud. Concluzia noastră este că FakeCloud are un avantaj de acces și cost pentru aceste funcții, iar LocalStack are un avantaj de istoric și ecosistem. Alegerea trebuie legată de aceste diferențe concrete. [Surse și interpretare: FAUN, în copia trimisă de prezentator, acordă 79/100 și 76/100, cu diferențe mari în maturitate și suport. Sunt evaluări ale site-ului, nu măsurători independente reproduse aici. Am folosit criteriile pentru investigație și am verificat faptele de bază în surse primare. Pagina FakeCloud este poziționarea furnizorului; afirmația ei că executarea Lambda cere plată este contrazisă de documentația Hobby. Videoul Better Stack oferă context de workflow și limite, nu un benchmark direct FakeCloud–LocalStack. Nici scorurile, nici cifrele vendorului despre viteză nu devin rezultatele noastre.]
Tranziție: Încheiem prezentarea.
Scop: Draw a concrete conclusion from published access/features, workflow tooling and public project histories, informed by FAUN’s maturity/support assessment.
Surse:
https://faun.dev/toolbox/fakecloud-vs-localstack/
https://fakecloud.dev/blog/why-fakecloud/
https://blog.localstack.cloud/2024-01-03-celebrating-50k-github-stars-localstack/
https://www.localstack.cloud/pricing
https://fakecloud.dev/docs/reference/persistence/
https://docs.localstack.cloud/aws/developer-tools/snapshots/persistence/
https://fakecloud.dev/docs/services/cognito/
https://docs.localstack.cloud/aws/services/cognito-idp/
https://fakecloud.dev/docs/reference/security/
https://docs.localstack.cloud/aws/developer-tools/security-testing/iam-policy-enforcement/
https://docs.localstack.cloud/aws/developer-tools/lambda-tools/hot-reloading/
https://docs.localstack.cloud/aws/integrations/infrastructure-as-code/terraform/
https://fakecloud.dev/vs/localstack/
https://docs.localstack.cloud/aws/services/lambda/
https://www.youtube.com/watch?v=jz7oq-Viwew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Vă mulțumesc pentru atenție! Pe ecran sunt câteva surse principale. Documentația explică funcțiile și configurarea; comparația FakeCloud este perspectiva furnizorului, iar FAUN este un review extern, nu benchmarkul nostru. Linkurile detaliate sunt și în notițele fiecărui slide.
Tranziție: Sfârșitul prezentării.
Scop: Close the presentation with selected, clickable documentation and attributed comparison sources.
Surse:
https://fakecloud.dev/docs/services/
https://docs.localstack.cloud/aws/services/
https://fakecloud.dev/vs/localstack/
https://faun.dev/toolbox/fakecloud-vs-localstack/
https://blog.localstack.cloud/localstack-for-aws-release-2026-03-0/
https://www.localstack.cloud/pricing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127.0.0.1:8000/" TargetMode="Externa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fakecloud.dev/docs/services/" TargetMode="External"/><Relationship Id="rId2" Type="http://schemas.openxmlformats.org/officeDocument/2006/relationships/hyperlink" Target="https://docs.localstack.cloud/aws/services/" TargetMode="External"/><Relationship Id="rId3" Type="http://schemas.openxmlformats.org/officeDocument/2006/relationships/hyperlink" Target="https://fakecloud.dev/vs/localstack/" TargetMode="External"/><Relationship Id="rId4" Type="http://schemas.openxmlformats.org/officeDocument/2006/relationships/hyperlink" Target="https://faun.dev/toolbox/fakecloud-vs-localstack/" TargetMode="External"/><Relationship Id="rId5" Type="http://schemas.openxmlformats.org/officeDocument/2006/relationships/hyperlink" Target="https://blog.localstack.cloud/localstack-for-aws-release-2026-03-0/" TargetMode="External"/><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0" y="0"/>
            <a:ext cx="12192000" cy="6858000"/>
          </a:xfrm>
          <a:prstGeom prst="rect">
            <a:avLst/>
          </a:prstGeom>
          <a:solidFill>
            <a:srgbClr val="FFFFFF"/>
          </a:solidFill>
          <a:ln w="12700">
            <a:solidFill>
              <a:srgbClr val="FFFFFF"/>
            </a:solidFill>
            <a:prstDash val="solid"/>
          </a:ln>
        </p:spPr>
      </p:sp>
      <p:sp>
        <p:nvSpPr>
          <p:cNvPr id="5" name="Shape 2"/>
          <p:cNvSpPr/>
          <p:nvPr/>
        </p:nvSpPr>
        <p:spPr>
          <a:xfrm>
            <a:off x="9372600" y="658368"/>
            <a:ext cx="2819400" cy="5532120"/>
          </a:xfrm>
          <a:prstGeom prst="rect">
            <a:avLst/>
          </a:prstGeom>
          <a:solidFill>
            <a:srgbClr val="37325F"/>
          </a:solidFill>
          <a:ln w="12700">
            <a:solidFill>
              <a:srgbClr val="37325F"/>
            </a:solidFill>
            <a:prstDash val="solid"/>
          </a:ln>
        </p:spPr>
      </p:sp>
      <p:sp>
        <p:nvSpPr>
          <p:cNvPr id="6" name="Shape 3"/>
          <p:cNvSpPr/>
          <p:nvPr/>
        </p:nvSpPr>
        <p:spPr>
          <a:xfrm>
            <a:off x="7909560" y="1673352"/>
            <a:ext cx="3474720" cy="3474720"/>
          </a:xfrm>
          <a:prstGeom prst="diamond">
            <a:avLst/>
          </a:prstGeom>
          <a:solidFill>
            <a:srgbClr val="37325F"/>
          </a:solidFill>
          <a:ln w="12700">
            <a:solidFill>
              <a:srgbClr val="37325F"/>
            </a:solidFill>
            <a:prstDash val="solid"/>
          </a:ln>
        </p:spPr>
      </p:sp>
      <p:sp>
        <p:nvSpPr>
          <p:cNvPr id="7" name="Shape 4"/>
          <p:cNvSpPr/>
          <p:nvPr/>
        </p:nvSpPr>
        <p:spPr>
          <a:xfrm>
            <a:off x="8046720" y="2331720"/>
            <a:ext cx="2468880" cy="2468880"/>
          </a:xfrm>
          <a:prstGeom prst="diamond">
            <a:avLst/>
          </a:prstGeom>
          <a:solidFill>
            <a:srgbClr val="FF9810"/>
          </a:solidFill>
          <a:ln w="12700">
            <a:solidFill>
              <a:srgbClr val="FF9810"/>
            </a:solidFill>
            <a:prstDash val="solid"/>
          </a:ln>
        </p:spPr>
      </p:sp>
      <p:sp>
        <p:nvSpPr>
          <p:cNvPr id="8" name="Text 5"/>
          <p:cNvSpPr/>
          <p:nvPr/>
        </p:nvSpPr>
        <p:spPr>
          <a:xfrm>
            <a:off x="8321040" y="3227832"/>
            <a:ext cx="1920240" cy="594360"/>
          </a:xfrm>
          <a:prstGeom prst="rect">
            <a:avLst/>
          </a:prstGeom>
          <a:noFill/>
          <a:ln/>
        </p:spPr>
        <p:txBody>
          <a:bodyPr wrap="square" lIns="0" tIns="0" rIns="0" bIns="0" rtlCol="0" anchor="ctr"/>
          <a:lstStyle/>
          <a:p>
            <a:pPr algn="ctr" indent="0" marL="0">
              <a:lnSpc>
                <a:spcPct val="103000"/>
              </a:lnSpc>
              <a:buNone/>
            </a:pPr>
            <a:r>
              <a:rPr lang="en-US" sz="3100" b="1" dirty="0">
                <a:solidFill>
                  <a:srgbClr val="37325F"/>
                </a:solidFill>
                <a:latin typeface="Arial" pitchFamily="34" charset="0"/>
                <a:ea typeface="Arial" pitchFamily="34" charset="-122"/>
                <a:cs typeface="Arial" pitchFamily="34" charset="-120"/>
              </a:rPr>
              <a:t>AWS</a:t>
            </a:r>
            <a:endParaRPr lang="en-US" sz="3100" dirty="0"/>
          </a:p>
        </p:txBody>
      </p:sp>
      <p:sp>
        <p:nvSpPr>
          <p:cNvPr id="9" name="Text 6"/>
          <p:cNvSpPr/>
          <p:nvPr/>
        </p:nvSpPr>
        <p:spPr>
          <a:xfrm>
            <a:off x="777240" y="1572768"/>
            <a:ext cx="7132320" cy="868680"/>
          </a:xfrm>
          <a:prstGeom prst="rect">
            <a:avLst/>
          </a:prstGeom>
          <a:noFill/>
          <a:ln/>
        </p:spPr>
        <p:txBody>
          <a:bodyPr wrap="square" lIns="0" tIns="0" rIns="0" bIns="0" rtlCol="0" anchor="ctr"/>
          <a:lstStyle/>
          <a:p>
            <a:pPr algn="l" indent="0" marL="0">
              <a:lnSpc>
                <a:spcPct val="103000"/>
              </a:lnSpc>
              <a:buNone/>
            </a:pPr>
            <a:r>
              <a:rPr lang="en-US" sz="5100" b="1" dirty="0">
                <a:solidFill>
                  <a:srgbClr val="37325F"/>
                </a:solidFill>
                <a:latin typeface="Arial" pitchFamily="34" charset="0"/>
                <a:ea typeface="Arial" pitchFamily="34" charset="-122"/>
                <a:cs typeface="Arial" pitchFamily="34" charset="-120"/>
              </a:rPr>
              <a:t>FakeCloud</a:t>
            </a:r>
            <a:endParaRPr lang="en-US" sz="5100" dirty="0"/>
          </a:p>
        </p:txBody>
      </p:sp>
      <p:sp>
        <p:nvSpPr>
          <p:cNvPr id="10" name="Text 7"/>
          <p:cNvSpPr/>
          <p:nvPr/>
        </p:nvSpPr>
        <p:spPr>
          <a:xfrm>
            <a:off x="777240" y="2551176"/>
            <a:ext cx="7132320" cy="868680"/>
          </a:xfrm>
          <a:prstGeom prst="rect">
            <a:avLst/>
          </a:prstGeom>
          <a:noFill/>
          <a:ln/>
        </p:spPr>
        <p:txBody>
          <a:bodyPr wrap="square" lIns="0" tIns="0" rIns="0" bIns="0" rtlCol="0" anchor="ctr"/>
          <a:lstStyle/>
          <a:p>
            <a:pPr algn="l" indent="0" marL="0">
              <a:lnSpc>
                <a:spcPct val="103000"/>
              </a:lnSpc>
              <a:buNone/>
            </a:pPr>
            <a:r>
              <a:rPr lang="en-US" sz="4600" b="1" dirty="0">
                <a:solidFill>
                  <a:srgbClr val="37325F"/>
                </a:solidFill>
                <a:latin typeface="Arial" pitchFamily="34" charset="0"/>
                <a:ea typeface="Arial" pitchFamily="34" charset="-122"/>
                <a:cs typeface="Arial" pitchFamily="34" charset="-120"/>
              </a:rPr>
              <a:t>vs. LocalStack</a:t>
            </a:r>
            <a:endParaRPr lang="en-US" sz="4600" dirty="0"/>
          </a:p>
        </p:txBody>
      </p:sp>
      <p:sp>
        <p:nvSpPr>
          <p:cNvPr id="11" name="Shape 8"/>
          <p:cNvSpPr/>
          <p:nvPr/>
        </p:nvSpPr>
        <p:spPr>
          <a:xfrm>
            <a:off x="822960" y="3639312"/>
            <a:ext cx="1234440" cy="59436"/>
          </a:xfrm>
          <a:prstGeom prst="rect">
            <a:avLst/>
          </a:prstGeom>
          <a:solidFill>
            <a:srgbClr val="FF9810"/>
          </a:solidFill>
          <a:ln w="12700">
            <a:solidFill>
              <a:srgbClr val="FF9810"/>
            </a:solidFill>
            <a:prstDash val="solid"/>
          </a:ln>
        </p:spPr>
      </p:sp>
      <p:sp>
        <p:nvSpPr>
          <p:cNvPr id="12" name="Text 9"/>
          <p:cNvSpPr/>
          <p:nvPr/>
        </p:nvSpPr>
        <p:spPr>
          <a:xfrm>
            <a:off x="822960" y="4050792"/>
            <a:ext cx="6583680" cy="960120"/>
          </a:xfrm>
          <a:prstGeom prst="rect">
            <a:avLst/>
          </a:prstGeom>
          <a:noFill/>
          <a:ln/>
        </p:spPr>
        <p:txBody>
          <a:bodyPr wrap="square" lIns="0" tIns="0" rIns="0" bIns="0" rtlCol="0" anchor="ctr"/>
          <a:lstStyle/>
          <a:p>
            <a:pPr algn="l" indent="0" marL="0">
              <a:lnSpc>
                <a:spcPct val="103000"/>
              </a:lnSpc>
              <a:buNone/>
            </a:pPr>
            <a:r>
              <a:rPr lang="en-US" sz="2900" dirty="0">
                <a:solidFill>
                  <a:srgbClr val="202338"/>
                </a:solidFill>
                <a:latin typeface="Arial" pitchFamily="34" charset="0"/>
                <a:ea typeface="Arial" pitchFamily="34" charset="-122"/>
                <a:cs typeface="Arial" pitchFamily="34" charset="-120"/>
              </a:rPr>
              <a:t>AWS development on your laptop</a:t>
            </a:r>
            <a:endParaRPr lang="en-US" sz="2900" dirty="0"/>
          </a:p>
        </p:txBody>
      </p:sp>
      <p:sp>
        <p:nvSpPr>
          <p:cNvPr id="13" name="Text 10"/>
          <p:cNvSpPr/>
          <p:nvPr/>
        </p:nvSpPr>
        <p:spPr>
          <a:xfrm>
            <a:off x="822960" y="5596128"/>
            <a:ext cx="6583680" cy="457200"/>
          </a:xfrm>
          <a:prstGeom prst="rect">
            <a:avLst/>
          </a:prstGeom>
          <a:noFill/>
          <a:ln/>
        </p:spPr>
        <p:txBody>
          <a:bodyPr wrap="square" lIns="0" tIns="0" rIns="0" bIns="0" rtlCol="0" anchor="ctr"/>
          <a:lstStyle/>
          <a:p>
            <a:pPr algn="l" indent="0" marL="0">
              <a:lnSpc>
                <a:spcPct val="103000"/>
              </a:lnSpc>
              <a:buNone/>
            </a:pPr>
            <a:r>
              <a:rPr lang="en-US" sz="2300" dirty="0">
                <a:solidFill>
                  <a:srgbClr val="37325F"/>
                </a:solidFill>
                <a:latin typeface="Arial" pitchFamily="34" charset="0"/>
                <a:ea typeface="Arial" pitchFamily="34" charset="-122"/>
                <a:cs typeface="Arial" pitchFamily="34" charset="-120"/>
              </a:rPr>
              <a:t>Gavril Ștefan-Dorian</a:t>
            </a:r>
            <a:endParaRPr lang="en-US" sz="2300" dirty="0"/>
          </a:p>
        </p:txBody>
      </p:sp>
      <p:sp>
        <p:nvSpPr>
          <p:cNvPr id="14" name="Text 11"/>
          <p:cNvSpPr/>
          <p:nvPr/>
        </p:nvSpPr>
        <p:spPr>
          <a:xfrm>
            <a:off x="822960" y="6089904"/>
            <a:ext cx="6583680" cy="365760"/>
          </a:xfrm>
          <a:prstGeom prst="rect">
            <a:avLst/>
          </a:prstGeom>
          <a:noFill/>
          <a:ln/>
        </p:spPr>
        <p:txBody>
          <a:bodyPr wrap="square" lIns="0" tIns="0" rIns="0" bIns="0" rtlCol="0" anchor="ctr"/>
          <a:lstStyle/>
          <a:p>
            <a:pPr algn="l" indent="0" marL="0">
              <a:lnSpc>
                <a:spcPct val="103000"/>
              </a:lnSpc>
              <a:buNone/>
            </a:pPr>
            <a:r>
              <a:rPr lang="en-US" sz="2000" dirty="0">
                <a:solidFill>
                  <a:srgbClr val="51536A"/>
                </a:solidFill>
                <a:latin typeface="Arial" pitchFamily="34" charset="0"/>
                <a:ea typeface="Arial" pitchFamily="34" charset="-122"/>
                <a:cs typeface="Arial" pitchFamily="34" charset="-120"/>
              </a:rPr>
              <a:t>29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From Amazon’s infrastructure to AWS</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Amazon → AWS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2</a:t>
            </a:r>
            <a:endParaRPr lang="en-US" sz="1500" dirty="0"/>
          </a:p>
        </p:txBody>
      </p:sp>
      <p:sp>
        <p:nvSpPr>
          <p:cNvPr id="12" name="Shape 9"/>
          <p:cNvSpPr/>
          <p:nvPr/>
        </p:nvSpPr>
        <p:spPr>
          <a:xfrm>
            <a:off x="731520" y="1828800"/>
            <a:ext cx="3657600" cy="3429000"/>
          </a:xfrm>
          <a:prstGeom prst="rect">
            <a:avLst/>
          </a:prstGeom>
          <a:solidFill>
            <a:srgbClr val="37325F"/>
          </a:solidFill>
          <a:ln w="12700">
            <a:solidFill>
              <a:srgbClr val="37325F"/>
            </a:solidFill>
            <a:prstDash val="solid"/>
          </a:ln>
        </p:spPr>
      </p:sp>
      <p:sp>
        <p:nvSpPr>
          <p:cNvPr id="13" name="Text 10"/>
          <p:cNvSpPr/>
          <p:nvPr/>
        </p:nvSpPr>
        <p:spPr>
          <a:xfrm>
            <a:off x="960120" y="2148840"/>
            <a:ext cx="3200400" cy="640080"/>
          </a:xfrm>
          <a:prstGeom prst="rect">
            <a:avLst/>
          </a:prstGeom>
          <a:noFill/>
          <a:ln/>
        </p:spPr>
        <p:txBody>
          <a:bodyPr wrap="square" lIns="0" tIns="0" rIns="0" bIns="0" rtlCol="0" anchor="ctr"/>
          <a:lstStyle/>
          <a:p>
            <a:pPr algn="l" indent="0" marL="0">
              <a:lnSpc>
                <a:spcPct val="103000"/>
              </a:lnSpc>
              <a:buNone/>
            </a:pPr>
            <a:r>
              <a:rPr lang="en-US" sz="3200" b="1" dirty="0">
                <a:solidFill>
                  <a:srgbClr val="FFFFFF"/>
                </a:solidFill>
                <a:latin typeface="Arial" pitchFamily="34" charset="0"/>
                <a:ea typeface="Arial" pitchFamily="34" charset="-122"/>
                <a:cs typeface="Arial" pitchFamily="34" charset="-120"/>
              </a:rPr>
              <a:t>AMAZON</a:t>
            </a:r>
            <a:endParaRPr lang="en-US" sz="3200" dirty="0"/>
          </a:p>
        </p:txBody>
      </p:sp>
      <p:sp>
        <p:nvSpPr>
          <p:cNvPr id="14" name="Text 11"/>
          <p:cNvSpPr/>
          <p:nvPr/>
        </p:nvSpPr>
        <p:spPr>
          <a:xfrm>
            <a:off x="960120" y="3246120"/>
            <a:ext cx="3182112" cy="1645920"/>
          </a:xfrm>
          <a:prstGeom prst="rect">
            <a:avLst/>
          </a:prstGeom>
          <a:noFill/>
          <a:ln/>
        </p:spPr>
        <p:txBody>
          <a:bodyPr wrap="square" lIns="0" tIns="0" rIns="0" bIns="0" rtlCol="0" anchor="ctr"/>
          <a:lstStyle/>
          <a:p>
            <a:pPr algn="l" indent="0" marL="0">
              <a:lnSpc>
                <a:spcPct val="103000"/>
              </a:lnSpc>
              <a:buNone/>
            </a:pPr>
            <a:r>
              <a:rPr lang="en-US" sz="2500" dirty="0">
                <a:solidFill>
                  <a:srgbClr val="FFFFFF"/>
                </a:solidFill>
                <a:latin typeface="Arial" pitchFamily="34" charset="0"/>
                <a:ea typeface="Arial" pitchFamily="34" charset="-122"/>
                <a:cs typeface="Arial" pitchFamily="34" charset="-120"/>
              </a:rPr>
              <a:t>More customers</a:t>
            </a:r>
            <a:endParaRPr lang="en-US" sz="2500" dirty="0"/>
          </a:p>
          <a:p>
            <a:pPr algn="l" indent="0" marL="0">
              <a:lnSpc>
                <a:spcPct val="103000"/>
              </a:lnSpc>
              <a:buNone/>
            </a:pPr>
            <a:r>
              <a:rPr lang="en-US" sz="2500" dirty="0">
                <a:solidFill>
                  <a:srgbClr val="FFFFFF"/>
                </a:solidFill>
                <a:latin typeface="Arial" pitchFamily="34" charset="0"/>
                <a:ea typeface="Arial" pitchFamily="34" charset="-122"/>
                <a:cs typeface="Arial" pitchFamily="34" charset="-120"/>
              </a:rPr>
              <a:t>More requests</a:t>
            </a:r>
            <a:endParaRPr lang="en-US" sz="2500" dirty="0"/>
          </a:p>
          <a:p>
            <a:pPr algn="l" indent="0" marL="0">
              <a:lnSpc>
                <a:spcPct val="103000"/>
              </a:lnSpc>
              <a:buNone/>
            </a:pPr>
            <a:r>
              <a:rPr lang="en-US" sz="2500" dirty="0">
                <a:solidFill>
                  <a:srgbClr val="FFFFFF"/>
                </a:solidFill>
                <a:latin typeface="Arial" pitchFamily="34" charset="0"/>
                <a:ea typeface="Arial" pitchFamily="34" charset="-122"/>
                <a:cs typeface="Arial" pitchFamily="34" charset="-120"/>
              </a:rPr>
              <a:t>More stored data</a:t>
            </a:r>
            <a:endParaRPr lang="en-US" sz="2500" dirty="0"/>
          </a:p>
        </p:txBody>
      </p:sp>
      <p:sp>
        <p:nvSpPr>
          <p:cNvPr id="15" name="Shape 12"/>
          <p:cNvSpPr/>
          <p:nvPr/>
        </p:nvSpPr>
        <p:spPr>
          <a:xfrm>
            <a:off x="4572000" y="3566160"/>
            <a:ext cx="594360" cy="0"/>
          </a:xfrm>
          <a:prstGeom prst="line">
            <a:avLst/>
          </a:prstGeom>
          <a:noFill/>
          <a:ln w="25400">
            <a:solidFill>
              <a:srgbClr val="37325F"/>
            </a:solidFill>
            <a:prstDash val="solid"/>
          </a:ln>
        </p:spPr>
      </p:sp>
      <p:sp>
        <p:nvSpPr>
          <p:cNvPr id="16" name="Shape 13"/>
          <p:cNvSpPr/>
          <p:nvPr/>
        </p:nvSpPr>
        <p:spPr>
          <a:xfrm>
            <a:off x="5047488" y="3474720"/>
            <a:ext cx="118872" cy="91440"/>
          </a:xfrm>
          <a:prstGeom prst="line">
            <a:avLst/>
          </a:prstGeom>
          <a:noFill/>
          <a:ln w="25400">
            <a:solidFill>
              <a:srgbClr val="37325F"/>
            </a:solidFill>
            <a:prstDash val="solid"/>
          </a:ln>
        </p:spPr>
      </p:sp>
      <p:sp>
        <p:nvSpPr>
          <p:cNvPr id="17" name="Shape 14"/>
          <p:cNvSpPr/>
          <p:nvPr/>
        </p:nvSpPr>
        <p:spPr>
          <a:xfrm>
            <a:off x="5047488" y="3657600"/>
            <a:ext cx="118872" cy="-91440"/>
          </a:xfrm>
          <a:prstGeom prst="line">
            <a:avLst/>
          </a:prstGeom>
          <a:noFill/>
          <a:ln w="25400">
            <a:solidFill>
              <a:srgbClr val="37325F"/>
            </a:solidFill>
            <a:prstDash val="solid"/>
          </a:ln>
        </p:spPr>
      </p:sp>
      <p:sp>
        <p:nvSpPr>
          <p:cNvPr id="18" name="Text 15"/>
          <p:cNvSpPr/>
          <p:nvPr/>
        </p:nvSpPr>
        <p:spPr>
          <a:xfrm>
            <a:off x="5486400" y="1920240"/>
            <a:ext cx="5760720" cy="640080"/>
          </a:xfrm>
          <a:prstGeom prst="rect">
            <a:avLst/>
          </a:prstGeom>
          <a:noFill/>
          <a:ln/>
        </p:spPr>
        <p:txBody>
          <a:bodyPr wrap="square" lIns="0" tIns="0" rIns="0" bIns="0" rtlCol="0" anchor="ctr"/>
          <a:lstStyle/>
          <a:p>
            <a:pPr algn="l" indent="0" marL="0">
              <a:lnSpc>
                <a:spcPct val="103000"/>
              </a:lnSpc>
              <a:buNone/>
            </a:pPr>
            <a:r>
              <a:rPr lang="en-US" sz="2800" b="1" dirty="0">
                <a:solidFill>
                  <a:srgbClr val="37325F"/>
                </a:solidFill>
                <a:latin typeface="Arial" pitchFamily="34" charset="0"/>
                <a:ea typeface="Arial" pitchFamily="34" charset="-122"/>
                <a:cs typeface="Arial" pitchFamily="34" charset="-120"/>
              </a:rPr>
              <a:t>Reusable infrastructure</a:t>
            </a:r>
            <a:endParaRPr lang="en-US" sz="2800" dirty="0"/>
          </a:p>
        </p:txBody>
      </p:sp>
      <p:sp>
        <p:nvSpPr>
          <p:cNvPr id="19" name="Text 16"/>
          <p:cNvSpPr/>
          <p:nvPr/>
        </p:nvSpPr>
        <p:spPr>
          <a:xfrm>
            <a:off x="5513832" y="2999232"/>
            <a:ext cx="5669280" cy="1463040"/>
          </a:xfrm>
          <a:prstGeom prst="rect">
            <a:avLst/>
          </a:prstGeom>
          <a:noFill/>
          <a:ln/>
        </p:spPr>
        <p:txBody>
          <a:bodyPr wrap="square" lIns="0" tIns="0" rIns="0" bIns="0" rtlCol="0" anchor="ctr"/>
          <a:lstStyle/>
          <a:p>
            <a:pPr algn="l" indent="0" marL="0">
              <a:lnSpc>
                <a:spcPct val="103000"/>
              </a:lnSpc>
              <a:buNone/>
            </a:pPr>
            <a:r>
              <a:rPr lang="en-US" sz="2600" dirty="0">
                <a:solidFill>
                  <a:srgbClr val="202338"/>
                </a:solidFill>
                <a:latin typeface="Arial" pitchFamily="34" charset="0"/>
                <a:ea typeface="Arial" pitchFamily="34" charset="-122"/>
                <a:cs typeface="Arial" pitchFamily="34" charset="-120"/>
              </a:rPr>
              <a:t>Computing and storage become capabilities other developers can request through APIs.</a:t>
            </a:r>
            <a:endParaRPr lang="en-US" sz="2600" dirty="0"/>
          </a:p>
        </p:txBody>
      </p:sp>
      <p:sp>
        <p:nvSpPr>
          <p:cNvPr id="20" name="Shape 17"/>
          <p:cNvSpPr/>
          <p:nvPr/>
        </p:nvSpPr>
        <p:spPr>
          <a:xfrm>
            <a:off x="594360" y="5522976"/>
            <a:ext cx="11000232" cy="841248"/>
          </a:xfrm>
          <a:prstGeom prst="rect">
            <a:avLst/>
          </a:prstGeom>
          <a:solidFill>
            <a:srgbClr val="EAE7F2"/>
          </a:solidFill>
          <a:ln w="12700">
            <a:solidFill>
              <a:srgbClr val="EAE7F2"/>
            </a:solidFill>
            <a:prstDash val="solid"/>
          </a:ln>
        </p:spPr>
      </p:sp>
      <p:sp>
        <p:nvSpPr>
          <p:cNvPr id="21" name="Shape 18"/>
          <p:cNvSpPr/>
          <p:nvPr/>
        </p:nvSpPr>
        <p:spPr>
          <a:xfrm>
            <a:off x="594360" y="5522976"/>
            <a:ext cx="59436" cy="841248"/>
          </a:xfrm>
          <a:prstGeom prst="rect">
            <a:avLst/>
          </a:prstGeom>
          <a:solidFill>
            <a:srgbClr val="FF9810"/>
          </a:solidFill>
          <a:ln w="12700">
            <a:solidFill>
              <a:srgbClr val="FF9810"/>
            </a:solidFill>
            <a:prstDash val="solid"/>
          </a:ln>
        </p:spPr>
      </p:sp>
      <p:sp>
        <p:nvSpPr>
          <p:cNvPr id="22" name="Text 19"/>
          <p:cNvSpPr/>
          <p:nvPr/>
        </p:nvSpPr>
        <p:spPr>
          <a:xfrm>
            <a:off x="777240" y="5614416"/>
            <a:ext cx="10652760" cy="77724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2006: S3 and EC2 expose storage and computing through web-service interfaces.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Unexpected AWS bills</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AWS complications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3</a:t>
            </a:r>
            <a:endParaRPr lang="en-US" sz="1500" dirty="0"/>
          </a:p>
        </p:txBody>
      </p:sp>
      <p:sp>
        <p:nvSpPr>
          <p:cNvPr id="12" name="Text 9"/>
          <p:cNvSpPr/>
          <p:nvPr/>
        </p:nvSpPr>
        <p:spPr>
          <a:xfrm>
            <a:off x="731520" y="1792224"/>
            <a:ext cx="6035040" cy="548640"/>
          </a:xfrm>
          <a:prstGeom prst="rect">
            <a:avLst/>
          </a:prstGeom>
          <a:noFill/>
          <a:ln/>
        </p:spPr>
        <p:txBody>
          <a:bodyPr wrap="square" lIns="0" tIns="0" rIns="0" bIns="0" rtlCol="0" anchor="ctr"/>
          <a:lstStyle/>
          <a:p>
            <a:pPr algn="l" indent="0" marL="0">
              <a:lnSpc>
                <a:spcPct val="103000"/>
              </a:lnSpc>
              <a:buNone/>
            </a:pPr>
            <a:r>
              <a:rPr lang="en-US" sz="2700" b="1" dirty="0">
                <a:solidFill>
                  <a:srgbClr val="37325F"/>
                </a:solidFill>
                <a:latin typeface="Arial" pitchFamily="34" charset="0"/>
                <a:ea typeface="Arial" pitchFamily="34" charset="-122"/>
                <a:cs typeface="Arial" pitchFamily="34" charset="-120"/>
              </a:rPr>
              <a:t>Idle resources</a:t>
            </a:r>
            <a:endParaRPr lang="en-US" sz="2700" dirty="0"/>
          </a:p>
        </p:txBody>
      </p:sp>
      <p:sp>
        <p:nvSpPr>
          <p:cNvPr id="13" name="Text 10"/>
          <p:cNvSpPr/>
          <p:nvPr/>
        </p:nvSpPr>
        <p:spPr>
          <a:xfrm>
            <a:off x="777240" y="2386584"/>
            <a:ext cx="5943600"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 running EC2 instance can cost money even when nobody uses the app.</a:t>
            </a:r>
            <a:endParaRPr lang="en-US" sz="2400" dirty="0"/>
          </a:p>
        </p:txBody>
      </p:sp>
      <p:sp>
        <p:nvSpPr>
          <p:cNvPr id="14" name="Text 11"/>
          <p:cNvSpPr/>
          <p:nvPr/>
        </p:nvSpPr>
        <p:spPr>
          <a:xfrm>
            <a:off x="731520" y="3273552"/>
            <a:ext cx="6035040" cy="548640"/>
          </a:xfrm>
          <a:prstGeom prst="rect">
            <a:avLst/>
          </a:prstGeom>
          <a:noFill/>
          <a:ln/>
        </p:spPr>
        <p:txBody>
          <a:bodyPr wrap="square" lIns="0" tIns="0" rIns="0" bIns="0" rtlCol="0" anchor="ctr"/>
          <a:lstStyle/>
          <a:p>
            <a:pPr algn="l" indent="0" marL="0">
              <a:lnSpc>
                <a:spcPct val="103000"/>
              </a:lnSpc>
              <a:buNone/>
            </a:pPr>
            <a:r>
              <a:rPr lang="en-US" sz="2700" b="1" dirty="0">
                <a:solidFill>
                  <a:srgbClr val="37325F"/>
                </a:solidFill>
                <a:latin typeface="Arial" pitchFamily="34" charset="0"/>
                <a:ea typeface="Arial" pitchFamily="34" charset="-122"/>
                <a:cs typeface="Arial" pitchFamily="34" charset="-120"/>
              </a:rPr>
              <a:t>Resources left behind</a:t>
            </a:r>
            <a:endParaRPr lang="en-US" sz="2700" dirty="0"/>
          </a:p>
        </p:txBody>
      </p:sp>
      <p:sp>
        <p:nvSpPr>
          <p:cNvPr id="15" name="Text 12"/>
          <p:cNvSpPr/>
          <p:nvPr/>
        </p:nvSpPr>
        <p:spPr>
          <a:xfrm>
            <a:off x="777240" y="3867912"/>
            <a:ext cx="5943600"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Stopping an instance does not remove its billable EBS storage.</a:t>
            </a:r>
            <a:endParaRPr lang="en-US" sz="2400" dirty="0"/>
          </a:p>
        </p:txBody>
      </p:sp>
      <p:sp>
        <p:nvSpPr>
          <p:cNvPr id="16" name="Text 13"/>
          <p:cNvSpPr/>
          <p:nvPr/>
        </p:nvSpPr>
        <p:spPr>
          <a:xfrm>
            <a:off x="731520" y="4754880"/>
            <a:ext cx="6035040" cy="548640"/>
          </a:xfrm>
          <a:prstGeom prst="rect">
            <a:avLst/>
          </a:prstGeom>
          <a:noFill/>
          <a:ln/>
        </p:spPr>
        <p:txBody>
          <a:bodyPr wrap="square" lIns="0" tIns="0" rIns="0" bIns="0" rtlCol="0" anchor="ctr"/>
          <a:lstStyle/>
          <a:p>
            <a:pPr algn="l" indent="0" marL="0">
              <a:lnSpc>
                <a:spcPct val="103000"/>
              </a:lnSpc>
              <a:buNone/>
            </a:pPr>
            <a:r>
              <a:rPr lang="en-US" sz="2700" b="1" dirty="0">
                <a:solidFill>
                  <a:srgbClr val="37325F"/>
                </a:solidFill>
                <a:latin typeface="Arial" pitchFamily="34" charset="0"/>
                <a:ea typeface="Arial" pitchFamily="34" charset="-122"/>
                <a:cs typeface="Arial" pitchFamily="34" charset="-120"/>
              </a:rPr>
              <a:t>Usage adds up</a:t>
            </a:r>
            <a:endParaRPr lang="en-US" sz="2700" dirty="0"/>
          </a:p>
        </p:txBody>
      </p:sp>
      <p:sp>
        <p:nvSpPr>
          <p:cNvPr id="17" name="Text 14"/>
          <p:cNvSpPr/>
          <p:nvPr/>
        </p:nvSpPr>
        <p:spPr>
          <a:xfrm>
            <a:off x="777240" y="5349240"/>
            <a:ext cx="5943600"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S3 storage, requests and data transfers have separate cost components.</a:t>
            </a:r>
            <a:endParaRPr lang="en-US" sz="2400" dirty="0"/>
          </a:p>
        </p:txBody>
      </p:sp>
      <p:pic>
        <p:nvPicPr>
          <p:cNvPr id="18" name="Image 0" descr="D:\MISS\Sem 2\WADe\presentation\assets\aws-bill-meme.jpg">    </p:cNvPr>
          <p:cNvPicPr>
            <a:picLocks noChangeAspect="1"/>
          </p:cNvPicPr>
          <p:nvPr/>
        </p:nvPicPr>
        <p:blipFill>
          <a:blip r:embed="rId1"/>
          <a:stretch>
            <a:fillRect/>
          </a:stretch>
        </p:blipFill>
        <p:spPr>
          <a:xfrm>
            <a:off x="7452360" y="1737360"/>
            <a:ext cx="3675888" cy="4572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What slows down cloud development?</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AWS complications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4</a:t>
            </a:r>
            <a:endParaRPr lang="en-US" sz="1500" dirty="0"/>
          </a:p>
        </p:txBody>
      </p:sp>
      <p:sp>
        <p:nvSpPr>
          <p:cNvPr id="12" name="Shape 9"/>
          <p:cNvSpPr/>
          <p:nvPr/>
        </p:nvSpPr>
        <p:spPr>
          <a:xfrm>
            <a:off x="685800" y="1783080"/>
            <a:ext cx="3017520" cy="932688"/>
          </a:xfrm>
          <a:prstGeom prst="rect">
            <a:avLst/>
          </a:prstGeom>
          <a:solidFill>
            <a:srgbClr val="37325F"/>
          </a:solidFill>
          <a:ln w="12700">
            <a:solidFill>
              <a:srgbClr val="37325F"/>
            </a:solidFill>
            <a:prstDash val="solid"/>
          </a:ln>
        </p:spPr>
      </p:sp>
      <p:sp>
        <p:nvSpPr>
          <p:cNvPr id="13" name="Shape 10"/>
          <p:cNvSpPr/>
          <p:nvPr/>
        </p:nvSpPr>
        <p:spPr>
          <a:xfrm>
            <a:off x="3767328" y="1783080"/>
            <a:ext cx="7708392" cy="932688"/>
          </a:xfrm>
          <a:prstGeom prst="rect">
            <a:avLst/>
          </a:prstGeom>
          <a:solidFill>
            <a:srgbClr val="EAE7F2"/>
          </a:solidFill>
          <a:ln w="12700">
            <a:solidFill>
              <a:srgbClr val="EAE7F2"/>
            </a:solidFill>
            <a:prstDash val="solid"/>
          </a:ln>
        </p:spPr>
      </p:sp>
      <p:sp>
        <p:nvSpPr>
          <p:cNvPr id="14" name="Shape 11"/>
          <p:cNvSpPr/>
          <p:nvPr/>
        </p:nvSpPr>
        <p:spPr>
          <a:xfrm>
            <a:off x="685800" y="1783080"/>
            <a:ext cx="59436" cy="932688"/>
          </a:xfrm>
          <a:prstGeom prst="rect">
            <a:avLst/>
          </a:prstGeom>
          <a:solidFill>
            <a:srgbClr val="FF9810"/>
          </a:solidFill>
          <a:ln w="12700">
            <a:solidFill>
              <a:srgbClr val="FF9810"/>
            </a:solidFill>
            <a:prstDash val="solid"/>
          </a:ln>
        </p:spPr>
      </p:sp>
      <p:sp>
        <p:nvSpPr>
          <p:cNvPr id="15" name="Text 12"/>
          <p:cNvSpPr/>
          <p:nvPr/>
        </p:nvSpPr>
        <p:spPr>
          <a:xfrm>
            <a:off x="896112" y="1828800"/>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Waiting for feedback</a:t>
            </a:r>
            <a:endParaRPr lang="en-US" sz="2500" dirty="0"/>
          </a:p>
        </p:txBody>
      </p:sp>
      <p:sp>
        <p:nvSpPr>
          <p:cNvPr id="16" name="Text 13"/>
          <p:cNvSpPr/>
          <p:nvPr/>
        </p:nvSpPr>
        <p:spPr>
          <a:xfrm>
            <a:off x="3886200" y="1828800"/>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Change a handler, deploy it, trigger it and fetch its logs before trying the next fix.</a:t>
            </a:r>
            <a:endParaRPr lang="en-US" sz="2400" dirty="0"/>
          </a:p>
        </p:txBody>
      </p:sp>
      <p:sp>
        <p:nvSpPr>
          <p:cNvPr id="17" name="Shape 14"/>
          <p:cNvSpPr/>
          <p:nvPr/>
        </p:nvSpPr>
        <p:spPr>
          <a:xfrm>
            <a:off x="685800" y="2862072"/>
            <a:ext cx="3017520" cy="932688"/>
          </a:xfrm>
          <a:prstGeom prst="rect">
            <a:avLst/>
          </a:prstGeom>
          <a:solidFill>
            <a:srgbClr val="37325F"/>
          </a:solidFill>
          <a:ln w="12700">
            <a:solidFill>
              <a:srgbClr val="37325F"/>
            </a:solidFill>
            <a:prstDash val="solid"/>
          </a:ln>
        </p:spPr>
      </p:sp>
      <p:sp>
        <p:nvSpPr>
          <p:cNvPr id="18" name="Shape 15"/>
          <p:cNvSpPr/>
          <p:nvPr/>
        </p:nvSpPr>
        <p:spPr>
          <a:xfrm>
            <a:off x="3767328" y="2862072"/>
            <a:ext cx="7708392" cy="932688"/>
          </a:xfrm>
          <a:prstGeom prst="rect">
            <a:avLst/>
          </a:prstGeom>
          <a:solidFill>
            <a:srgbClr val="EAE7F2"/>
          </a:solidFill>
          <a:ln w="12700">
            <a:solidFill>
              <a:srgbClr val="EAE7F2"/>
            </a:solidFill>
            <a:prstDash val="solid"/>
          </a:ln>
        </p:spPr>
      </p:sp>
      <p:sp>
        <p:nvSpPr>
          <p:cNvPr id="19" name="Shape 16"/>
          <p:cNvSpPr/>
          <p:nvPr/>
        </p:nvSpPr>
        <p:spPr>
          <a:xfrm>
            <a:off x="685800" y="2862072"/>
            <a:ext cx="59436" cy="932688"/>
          </a:xfrm>
          <a:prstGeom prst="rect">
            <a:avLst/>
          </a:prstGeom>
          <a:solidFill>
            <a:srgbClr val="FF9810"/>
          </a:solidFill>
          <a:ln w="12700">
            <a:solidFill>
              <a:srgbClr val="FF9810"/>
            </a:solidFill>
            <a:prstDash val="solid"/>
          </a:ln>
        </p:spPr>
      </p:sp>
      <p:sp>
        <p:nvSpPr>
          <p:cNvPr id="20" name="Text 17"/>
          <p:cNvSpPr/>
          <p:nvPr/>
        </p:nvSpPr>
        <p:spPr>
          <a:xfrm>
            <a:off x="896112" y="2907792"/>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Access failures</a:t>
            </a:r>
            <a:endParaRPr lang="en-US" sz="2500" dirty="0"/>
          </a:p>
        </p:txBody>
      </p:sp>
      <p:sp>
        <p:nvSpPr>
          <p:cNvPr id="21" name="Text 18"/>
          <p:cNvSpPr/>
          <p:nvPr/>
        </p:nvSpPr>
        <p:spPr>
          <a:xfrm>
            <a:off x="3886200" y="2907792"/>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 wrong permission or network rule can block a request even when the code is correct.</a:t>
            </a:r>
            <a:endParaRPr lang="en-US" sz="2400" dirty="0"/>
          </a:p>
        </p:txBody>
      </p:sp>
      <p:sp>
        <p:nvSpPr>
          <p:cNvPr id="22" name="Shape 19"/>
          <p:cNvSpPr/>
          <p:nvPr/>
        </p:nvSpPr>
        <p:spPr>
          <a:xfrm>
            <a:off x="685800" y="3941064"/>
            <a:ext cx="3017520" cy="932688"/>
          </a:xfrm>
          <a:prstGeom prst="rect">
            <a:avLst/>
          </a:prstGeom>
          <a:solidFill>
            <a:srgbClr val="37325F"/>
          </a:solidFill>
          <a:ln w="12700">
            <a:solidFill>
              <a:srgbClr val="37325F"/>
            </a:solidFill>
            <a:prstDash val="solid"/>
          </a:ln>
        </p:spPr>
      </p:sp>
      <p:sp>
        <p:nvSpPr>
          <p:cNvPr id="23" name="Shape 20"/>
          <p:cNvSpPr/>
          <p:nvPr/>
        </p:nvSpPr>
        <p:spPr>
          <a:xfrm>
            <a:off x="3767328" y="3941064"/>
            <a:ext cx="7708392" cy="932688"/>
          </a:xfrm>
          <a:prstGeom prst="rect">
            <a:avLst/>
          </a:prstGeom>
          <a:solidFill>
            <a:srgbClr val="EAE7F2"/>
          </a:solidFill>
          <a:ln w="12700">
            <a:solidFill>
              <a:srgbClr val="EAE7F2"/>
            </a:solidFill>
            <a:prstDash val="solid"/>
          </a:ln>
        </p:spPr>
      </p:sp>
      <p:sp>
        <p:nvSpPr>
          <p:cNvPr id="24" name="Shape 21"/>
          <p:cNvSpPr/>
          <p:nvPr/>
        </p:nvSpPr>
        <p:spPr>
          <a:xfrm>
            <a:off x="685800" y="3941064"/>
            <a:ext cx="59436" cy="932688"/>
          </a:xfrm>
          <a:prstGeom prst="rect">
            <a:avLst/>
          </a:prstGeom>
          <a:solidFill>
            <a:srgbClr val="FF9810"/>
          </a:solidFill>
          <a:ln w="12700">
            <a:solidFill>
              <a:srgbClr val="FF9810"/>
            </a:solidFill>
            <a:prstDash val="solid"/>
          </a:ln>
        </p:spPr>
      </p:sp>
      <p:sp>
        <p:nvSpPr>
          <p:cNvPr id="25" name="Text 22"/>
          <p:cNvSpPr/>
          <p:nvPr/>
        </p:nvSpPr>
        <p:spPr>
          <a:xfrm>
            <a:off x="896112" y="3986784"/>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Shared resources</a:t>
            </a:r>
            <a:endParaRPr lang="en-US" sz="2500" dirty="0"/>
          </a:p>
        </p:txBody>
      </p:sp>
      <p:sp>
        <p:nvSpPr>
          <p:cNvPr id="26" name="Text 23"/>
          <p:cNvSpPr/>
          <p:nvPr/>
        </p:nvSpPr>
        <p:spPr>
          <a:xfrm>
            <a:off x="3886200" y="3986784"/>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 teammate clears the shared queue while you are reproducing a failed job.</a:t>
            </a:r>
            <a:endParaRPr lang="en-US" sz="2400" dirty="0"/>
          </a:p>
        </p:txBody>
      </p:sp>
      <p:sp>
        <p:nvSpPr>
          <p:cNvPr id="27" name="Shape 24"/>
          <p:cNvSpPr/>
          <p:nvPr/>
        </p:nvSpPr>
        <p:spPr>
          <a:xfrm>
            <a:off x="685800" y="5020056"/>
            <a:ext cx="3017520" cy="932688"/>
          </a:xfrm>
          <a:prstGeom prst="rect">
            <a:avLst/>
          </a:prstGeom>
          <a:solidFill>
            <a:srgbClr val="37325F"/>
          </a:solidFill>
          <a:ln w="12700">
            <a:solidFill>
              <a:srgbClr val="37325F"/>
            </a:solidFill>
            <a:prstDash val="solid"/>
          </a:ln>
        </p:spPr>
      </p:sp>
      <p:sp>
        <p:nvSpPr>
          <p:cNvPr id="28" name="Shape 25"/>
          <p:cNvSpPr/>
          <p:nvPr/>
        </p:nvSpPr>
        <p:spPr>
          <a:xfrm>
            <a:off x="3767328" y="5020056"/>
            <a:ext cx="7708392" cy="932688"/>
          </a:xfrm>
          <a:prstGeom prst="rect">
            <a:avLst/>
          </a:prstGeom>
          <a:solidFill>
            <a:srgbClr val="EAE7F2"/>
          </a:solidFill>
          <a:ln w="12700">
            <a:solidFill>
              <a:srgbClr val="EAE7F2"/>
            </a:solidFill>
            <a:prstDash val="solid"/>
          </a:ln>
        </p:spPr>
      </p:sp>
      <p:sp>
        <p:nvSpPr>
          <p:cNvPr id="29" name="Shape 26"/>
          <p:cNvSpPr/>
          <p:nvPr/>
        </p:nvSpPr>
        <p:spPr>
          <a:xfrm>
            <a:off x="685800" y="5020056"/>
            <a:ext cx="59436" cy="932688"/>
          </a:xfrm>
          <a:prstGeom prst="rect">
            <a:avLst/>
          </a:prstGeom>
          <a:solidFill>
            <a:srgbClr val="FF9810"/>
          </a:solidFill>
          <a:ln w="12700">
            <a:solidFill>
              <a:srgbClr val="FF9810"/>
            </a:solidFill>
            <a:prstDash val="solid"/>
          </a:ln>
        </p:spPr>
      </p:sp>
      <p:sp>
        <p:nvSpPr>
          <p:cNvPr id="30" name="Text 27"/>
          <p:cNvSpPr/>
          <p:nvPr/>
        </p:nvSpPr>
        <p:spPr>
          <a:xfrm>
            <a:off x="896112" y="5065776"/>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Leftover data</a:t>
            </a:r>
            <a:endParaRPr lang="en-US" sz="2500" dirty="0"/>
          </a:p>
        </p:txBody>
      </p:sp>
      <p:sp>
        <p:nvSpPr>
          <p:cNvPr id="31" name="Text 28"/>
          <p:cNvSpPr/>
          <p:nvPr/>
        </p:nvSpPr>
        <p:spPr>
          <a:xfrm>
            <a:off x="3886200" y="5065776"/>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Old messages or records change today’s result, even when you repeat the same input.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What can we move onto the laptop?</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Local development</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5</a:t>
            </a:r>
            <a:endParaRPr lang="en-US" sz="1500" dirty="0"/>
          </a:p>
        </p:txBody>
      </p:sp>
      <p:sp>
        <p:nvSpPr>
          <p:cNvPr id="12" name="Shape 9"/>
          <p:cNvSpPr/>
          <p:nvPr/>
        </p:nvSpPr>
        <p:spPr>
          <a:xfrm>
            <a:off x="685800" y="1783080"/>
            <a:ext cx="3017520" cy="932688"/>
          </a:xfrm>
          <a:prstGeom prst="rect">
            <a:avLst/>
          </a:prstGeom>
          <a:solidFill>
            <a:srgbClr val="37325F"/>
          </a:solidFill>
          <a:ln w="12700">
            <a:solidFill>
              <a:srgbClr val="37325F"/>
            </a:solidFill>
            <a:prstDash val="solid"/>
          </a:ln>
        </p:spPr>
      </p:sp>
      <p:sp>
        <p:nvSpPr>
          <p:cNvPr id="13" name="Shape 10"/>
          <p:cNvSpPr/>
          <p:nvPr/>
        </p:nvSpPr>
        <p:spPr>
          <a:xfrm>
            <a:off x="3767328" y="1783080"/>
            <a:ext cx="7708392" cy="932688"/>
          </a:xfrm>
          <a:prstGeom prst="rect">
            <a:avLst/>
          </a:prstGeom>
          <a:solidFill>
            <a:srgbClr val="EAE7F2"/>
          </a:solidFill>
          <a:ln w="12700">
            <a:solidFill>
              <a:srgbClr val="EAE7F2"/>
            </a:solidFill>
            <a:prstDash val="solid"/>
          </a:ln>
        </p:spPr>
      </p:sp>
      <p:sp>
        <p:nvSpPr>
          <p:cNvPr id="14" name="Shape 11"/>
          <p:cNvSpPr/>
          <p:nvPr/>
        </p:nvSpPr>
        <p:spPr>
          <a:xfrm>
            <a:off x="685800" y="1783080"/>
            <a:ext cx="59436" cy="932688"/>
          </a:xfrm>
          <a:prstGeom prst="rect">
            <a:avLst/>
          </a:prstGeom>
          <a:solidFill>
            <a:srgbClr val="FF9810"/>
          </a:solidFill>
          <a:ln w="12700">
            <a:solidFill>
              <a:srgbClr val="FF9810"/>
            </a:solidFill>
            <a:prstDash val="solid"/>
          </a:ln>
        </p:spPr>
      </p:sp>
      <p:sp>
        <p:nvSpPr>
          <p:cNvPr id="15" name="Text 12"/>
          <p:cNvSpPr/>
          <p:nvPr/>
        </p:nvSpPr>
        <p:spPr>
          <a:xfrm>
            <a:off x="896112" y="1828800"/>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Daily development</a:t>
            </a:r>
            <a:endParaRPr lang="en-US" sz="2500" dirty="0"/>
          </a:p>
        </p:txBody>
      </p:sp>
      <p:sp>
        <p:nvSpPr>
          <p:cNvPr id="16" name="Text 13"/>
          <p:cNvSpPr/>
          <p:nvPr/>
        </p:nvSpPr>
        <p:spPr>
          <a:xfrm>
            <a:off x="3886200" y="1828800"/>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Run the changed code against local queues or storage and inspect the result nearby.</a:t>
            </a:r>
            <a:endParaRPr lang="en-US" sz="2400" dirty="0"/>
          </a:p>
        </p:txBody>
      </p:sp>
      <p:sp>
        <p:nvSpPr>
          <p:cNvPr id="17" name="Shape 14"/>
          <p:cNvSpPr/>
          <p:nvPr/>
        </p:nvSpPr>
        <p:spPr>
          <a:xfrm>
            <a:off x="685800" y="2862072"/>
            <a:ext cx="3017520" cy="932688"/>
          </a:xfrm>
          <a:prstGeom prst="rect">
            <a:avLst/>
          </a:prstGeom>
          <a:solidFill>
            <a:srgbClr val="37325F"/>
          </a:solidFill>
          <a:ln w="12700">
            <a:solidFill>
              <a:srgbClr val="37325F"/>
            </a:solidFill>
            <a:prstDash val="solid"/>
          </a:ln>
        </p:spPr>
      </p:sp>
      <p:sp>
        <p:nvSpPr>
          <p:cNvPr id="18" name="Shape 15"/>
          <p:cNvSpPr/>
          <p:nvPr/>
        </p:nvSpPr>
        <p:spPr>
          <a:xfrm>
            <a:off x="3767328" y="2862072"/>
            <a:ext cx="7708392" cy="932688"/>
          </a:xfrm>
          <a:prstGeom prst="rect">
            <a:avLst/>
          </a:prstGeom>
          <a:solidFill>
            <a:srgbClr val="EAE7F2"/>
          </a:solidFill>
          <a:ln w="12700">
            <a:solidFill>
              <a:srgbClr val="EAE7F2"/>
            </a:solidFill>
            <a:prstDash val="solid"/>
          </a:ln>
        </p:spPr>
      </p:sp>
      <p:sp>
        <p:nvSpPr>
          <p:cNvPr id="19" name="Shape 16"/>
          <p:cNvSpPr/>
          <p:nvPr/>
        </p:nvSpPr>
        <p:spPr>
          <a:xfrm>
            <a:off x="685800" y="2862072"/>
            <a:ext cx="59436" cy="932688"/>
          </a:xfrm>
          <a:prstGeom prst="rect">
            <a:avLst/>
          </a:prstGeom>
          <a:solidFill>
            <a:srgbClr val="FF9810"/>
          </a:solidFill>
          <a:ln w="12700">
            <a:solidFill>
              <a:srgbClr val="FF9810"/>
            </a:solidFill>
            <a:prstDash val="solid"/>
          </a:ln>
        </p:spPr>
      </p:sp>
      <p:sp>
        <p:nvSpPr>
          <p:cNvPr id="20" name="Text 17"/>
          <p:cNvSpPr/>
          <p:nvPr/>
        </p:nvSpPr>
        <p:spPr>
          <a:xfrm>
            <a:off x="896112" y="2907792"/>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Debugging</a:t>
            </a:r>
            <a:endParaRPr lang="en-US" sz="2500" dirty="0"/>
          </a:p>
        </p:txBody>
      </p:sp>
      <p:sp>
        <p:nvSpPr>
          <p:cNvPr id="21" name="Text 18"/>
          <p:cNvSpPr/>
          <p:nvPr/>
        </p:nvSpPr>
        <p:spPr>
          <a:xfrm>
            <a:off x="3886200" y="2907792"/>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Recreate the same input and failure in your own environment.</a:t>
            </a:r>
            <a:endParaRPr lang="en-US" sz="2400" dirty="0"/>
          </a:p>
        </p:txBody>
      </p:sp>
      <p:sp>
        <p:nvSpPr>
          <p:cNvPr id="22" name="Shape 19"/>
          <p:cNvSpPr/>
          <p:nvPr/>
        </p:nvSpPr>
        <p:spPr>
          <a:xfrm>
            <a:off x="685800" y="3941064"/>
            <a:ext cx="3017520" cy="932688"/>
          </a:xfrm>
          <a:prstGeom prst="rect">
            <a:avLst/>
          </a:prstGeom>
          <a:solidFill>
            <a:srgbClr val="37325F"/>
          </a:solidFill>
          <a:ln w="12700">
            <a:solidFill>
              <a:srgbClr val="37325F"/>
            </a:solidFill>
            <a:prstDash val="solid"/>
          </a:ln>
        </p:spPr>
      </p:sp>
      <p:sp>
        <p:nvSpPr>
          <p:cNvPr id="23" name="Shape 20"/>
          <p:cNvSpPr/>
          <p:nvPr/>
        </p:nvSpPr>
        <p:spPr>
          <a:xfrm>
            <a:off x="3767328" y="3941064"/>
            <a:ext cx="7708392" cy="932688"/>
          </a:xfrm>
          <a:prstGeom prst="rect">
            <a:avLst/>
          </a:prstGeom>
          <a:solidFill>
            <a:srgbClr val="EAE7F2"/>
          </a:solidFill>
          <a:ln w="12700">
            <a:solidFill>
              <a:srgbClr val="EAE7F2"/>
            </a:solidFill>
            <a:prstDash val="solid"/>
          </a:ln>
        </p:spPr>
      </p:sp>
      <p:sp>
        <p:nvSpPr>
          <p:cNvPr id="24" name="Shape 21"/>
          <p:cNvSpPr/>
          <p:nvPr/>
        </p:nvSpPr>
        <p:spPr>
          <a:xfrm>
            <a:off x="685800" y="3941064"/>
            <a:ext cx="59436" cy="932688"/>
          </a:xfrm>
          <a:prstGeom prst="rect">
            <a:avLst/>
          </a:prstGeom>
          <a:solidFill>
            <a:srgbClr val="FF9810"/>
          </a:solidFill>
          <a:ln w="12700">
            <a:solidFill>
              <a:srgbClr val="FF9810"/>
            </a:solidFill>
            <a:prstDash val="solid"/>
          </a:ln>
        </p:spPr>
      </p:sp>
      <p:sp>
        <p:nvSpPr>
          <p:cNvPr id="25" name="Text 22"/>
          <p:cNvSpPr/>
          <p:nvPr/>
        </p:nvSpPr>
        <p:spPr>
          <a:xfrm>
            <a:off x="896112" y="3986784"/>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Team work</a:t>
            </a:r>
            <a:endParaRPr lang="en-US" sz="2500" dirty="0"/>
          </a:p>
        </p:txBody>
      </p:sp>
      <p:sp>
        <p:nvSpPr>
          <p:cNvPr id="26" name="Text 23"/>
          <p:cNvSpPr/>
          <p:nvPr/>
        </p:nvSpPr>
        <p:spPr>
          <a:xfrm>
            <a:off x="3886200" y="3986784"/>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Use separate resources and data instead of changing a teammate’s experiment.</a:t>
            </a:r>
            <a:endParaRPr lang="en-US" sz="2400" dirty="0"/>
          </a:p>
        </p:txBody>
      </p:sp>
      <p:sp>
        <p:nvSpPr>
          <p:cNvPr id="27" name="Shape 24"/>
          <p:cNvSpPr/>
          <p:nvPr/>
        </p:nvSpPr>
        <p:spPr>
          <a:xfrm>
            <a:off x="685800" y="5020056"/>
            <a:ext cx="3017520" cy="932688"/>
          </a:xfrm>
          <a:prstGeom prst="rect">
            <a:avLst/>
          </a:prstGeom>
          <a:solidFill>
            <a:srgbClr val="37325F"/>
          </a:solidFill>
          <a:ln w="12700">
            <a:solidFill>
              <a:srgbClr val="37325F"/>
            </a:solidFill>
            <a:prstDash val="solid"/>
          </a:ln>
        </p:spPr>
      </p:sp>
      <p:sp>
        <p:nvSpPr>
          <p:cNvPr id="28" name="Shape 25"/>
          <p:cNvSpPr/>
          <p:nvPr/>
        </p:nvSpPr>
        <p:spPr>
          <a:xfrm>
            <a:off x="3767328" y="5020056"/>
            <a:ext cx="7708392" cy="932688"/>
          </a:xfrm>
          <a:prstGeom prst="rect">
            <a:avLst/>
          </a:prstGeom>
          <a:solidFill>
            <a:srgbClr val="EAE7F2"/>
          </a:solidFill>
          <a:ln w="12700">
            <a:solidFill>
              <a:srgbClr val="EAE7F2"/>
            </a:solidFill>
            <a:prstDash val="solid"/>
          </a:ln>
        </p:spPr>
      </p:sp>
      <p:sp>
        <p:nvSpPr>
          <p:cNvPr id="29" name="Shape 26"/>
          <p:cNvSpPr/>
          <p:nvPr/>
        </p:nvSpPr>
        <p:spPr>
          <a:xfrm>
            <a:off x="685800" y="5020056"/>
            <a:ext cx="59436" cy="932688"/>
          </a:xfrm>
          <a:prstGeom prst="rect">
            <a:avLst/>
          </a:prstGeom>
          <a:solidFill>
            <a:srgbClr val="FF9810"/>
          </a:solidFill>
          <a:ln w="12700">
            <a:solidFill>
              <a:srgbClr val="FF9810"/>
            </a:solidFill>
            <a:prstDash val="solid"/>
          </a:ln>
        </p:spPr>
      </p:sp>
      <p:sp>
        <p:nvSpPr>
          <p:cNvPr id="30" name="Text 27"/>
          <p:cNvSpPr/>
          <p:nvPr/>
        </p:nvSpPr>
        <p:spPr>
          <a:xfrm>
            <a:off x="896112" y="5065776"/>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Automated checks</a:t>
            </a:r>
            <a:endParaRPr lang="en-US" sz="2500" dirty="0"/>
          </a:p>
        </p:txBody>
      </p:sp>
      <p:sp>
        <p:nvSpPr>
          <p:cNvPr id="31" name="Text 28"/>
          <p:cNvSpPr/>
          <p:nvPr/>
        </p:nvSpPr>
        <p:spPr>
          <a:xfrm>
            <a:off x="3886200" y="5065776"/>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Start local services, create test data, run checks and remove the temporary environment.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How does a local AWS emulator work?</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Local development</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6</a:t>
            </a:r>
            <a:endParaRPr lang="en-US" sz="1500" dirty="0"/>
          </a:p>
        </p:txBody>
      </p:sp>
      <p:sp>
        <p:nvSpPr>
          <p:cNvPr id="12" name="Shape 9"/>
          <p:cNvSpPr/>
          <p:nvPr/>
        </p:nvSpPr>
        <p:spPr>
          <a:xfrm>
            <a:off x="731520" y="1993392"/>
            <a:ext cx="3749040" cy="3566160"/>
          </a:xfrm>
          <a:prstGeom prst="rect">
            <a:avLst/>
          </a:prstGeom>
          <a:solidFill>
            <a:srgbClr val="EAE7F2"/>
          </a:solidFill>
          <a:ln w="12700">
            <a:solidFill>
              <a:srgbClr val="EAE7F2"/>
            </a:solidFill>
            <a:prstDash val="solid"/>
          </a:ln>
        </p:spPr>
      </p:sp>
      <p:sp>
        <p:nvSpPr>
          <p:cNvPr id="13" name="Shape 10"/>
          <p:cNvSpPr/>
          <p:nvPr/>
        </p:nvSpPr>
        <p:spPr>
          <a:xfrm>
            <a:off x="731520" y="1993392"/>
            <a:ext cx="3749040" cy="795528"/>
          </a:xfrm>
          <a:prstGeom prst="rect">
            <a:avLst/>
          </a:prstGeom>
          <a:solidFill>
            <a:srgbClr val="37325F"/>
          </a:solidFill>
          <a:ln w="12700">
            <a:solidFill>
              <a:srgbClr val="37325F"/>
            </a:solidFill>
            <a:prstDash val="solid"/>
          </a:ln>
        </p:spPr>
      </p:sp>
      <p:sp>
        <p:nvSpPr>
          <p:cNvPr id="14" name="Shape 11"/>
          <p:cNvSpPr/>
          <p:nvPr/>
        </p:nvSpPr>
        <p:spPr>
          <a:xfrm>
            <a:off x="731520" y="2788920"/>
            <a:ext cx="73152" cy="2770632"/>
          </a:xfrm>
          <a:prstGeom prst="rect">
            <a:avLst/>
          </a:prstGeom>
          <a:solidFill>
            <a:srgbClr val="FF9810"/>
          </a:solidFill>
          <a:ln w="12700">
            <a:solidFill>
              <a:srgbClr val="FF9810"/>
            </a:solidFill>
            <a:prstDash val="solid"/>
          </a:ln>
        </p:spPr>
      </p:sp>
      <p:sp>
        <p:nvSpPr>
          <p:cNvPr id="15" name="Text 12"/>
          <p:cNvSpPr/>
          <p:nvPr/>
        </p:nvSpPr>
        <p:spPr>
          <a:xfrm>
            <a:off x="941832" y="2221992"/>
            <a:ext cx="3328416" cy="548640"/>
          </a:xfrm>
          <a:prstGeom prst="rect">
            <a:avLst/>
          </a:prstGeom>
          <a:noFill/>
          <a:ln/>
        </p:spPr>
        <p:txBody>
          <a:bodyPr wrap="square" lIns="0" tIns="0" rIns="0" bIns="0" rtlCol="0" anchor="ctr"/>
          <a:lstStyle/>
          <a:p>
            <a:pPr algn="l" indent="0" marL="0">
              <a:lnSpc>
                <a:spcPct val="103000"/>
              </a:lnSpc>
              <a:buNone/>
            </a:pPr>
            <a:r>
              <a:rPr lang="en-US" sz="2600" b="1" dirty="0">
                <a:solidFill>
                  <a:srgbClr val="FFFFFF"/>
                </a:solidFill>
                <a:latin typeface="Arial" pitchFamily="34" charset="0"/>
                <a:ea typeface="Arial" pitchFamily="34" charset="-122"/>
                <a:cs typeface="Arial" pitchFamily="34" charset="-120"/>
              </a:rPr>
              <a:t>APPLICATION</a:t>
            </a:r>
            <a:endParaRPr lang="en-US" sz="2600" dirty="0"/>
          </a:p>
        </p:txBody>
      </p:sp>
      <p:sp>
        <p:nvSpPr>
          <p:cNvPr id="16" name="Text 13"/>
          <p:cNvSpPr/>
          <p:nvPr/>
        </p:nvSpPr>
        <p:spPr>
          <a:xfrm>
            <a:off x="941832" y="3291840"/>
            <a:ext cx="3328416" cy="109728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Sends requests using an AWS SDK or CLI.</a:t>
            </a:r>
            <a:endParaRPr lang="en-US" sz="2400" dirty="0"/>
          </a:p>
        </p:txBody>
      </p:sp>
      <p:sp>
        <p:nvSpPr>
          <p:cNvPr id="17" name="Text 14"/>
          <p:cNvSpPr/>
          <p:nvPr/>
        </p:nvSpPr>
        <p:spPr>
          <a:xfrm>
            <a:off x="941832" y="4681728"/>
            <a:ext cx="3328416" cy="548640"/>
          </a:xfrm>
          <a:prstGeom prst="rect">
            <a:avLst/>
          </a:prstGeom>
          <a:noFill/>
          <a:ln/>
        </p:spPr>
        <p:txBody>
          <a:bodyPr wrap="square" lIns="0" tIns="0" rIns="0" bIns="0" rtlCol="0" anchor="ctr"/>
          <a:lstStyle/>
          <a:p>
            <a:pPr algn="l" indent="0" marL="0">
              <a:lnSpc>
                <a:spcPct val="103000"/>
              </a:lnSpc>
              <a:buNone/>
            </a:pPr>
            <a:r>
              <a:rPr lang="en-US" sz="2300" dirty="0">
                <a:solidFill>
                  <a:srgbClr val="202338"/>
                </a:solidFill>
                <a:latin typeface="Arial" pitchFamily="34" charset="0"/>
                <a:ea typeface="Arial" pitchFamily="34" charset="-122"/>
                <a:cs typeface="Arial" pitchFamily="34" charset="-120"/>
              </a:rPr>
              <a:t>Example: upload a file</a:t>
            </a:r>
            <a:endParaRPr lang="en-US" sz="2300" dirty="0"/>
          </a:p>
        </p:txBody>
      </p:sp>
      <p:sp>
        <p:nvSpPr>
          <p:cNvPr id="18" name="Text 15"/>
          <p:cNvSpPr/>
          <p:nvPr/>
        </p:nvSpPr>
        <p:spPr>
          <a:xfrm>
            <a:off x="4709160" y="2560320"/>
            <a:ext cx="2560320" cy="594360"/>
          </a:xfrm>
          <a:prstGeom prst="rect">
            <a:avLst/>
          </a:prstGeom>
          <a:noFill/>
          <a:ln/>
        </p:spPr>
        <p:txBody>
          <a:bodyPr wrap="square" lIns="0" tIns="0" rIns="0" bIns="0" rtlCol="0" anchor="ctr"/>
          <a:lstStyle/>
          <a:p>
            <a:pPr algn="ctr" indent="0" marL="0">
              <a:lnSpc>
                <a:spcPct val="103000"/>
              </a:lnSpc>
              <a:buNone/>
            </a:pPr>
            <a:r>
              <a:rPr lang="en-US" sz="2300" dirty="0">
                <a:solidFill>
                  <a:srgbClr val="37325F"/>
                </a:solidFill>
                <a:latin typeface="Arial" pitchFamily="34" charset="0"/>
                <a:ea typeface="Arial" pitchFamily="34" charset="-122"/>
                <a:cs typeface="Arial" pitchFamily="34" charset="-120"/>
              </a:rPr>
              <a:t>AWS request</a:t>
            </a:r>
            <a:endParaRPr lang="en-US" sz="2300" dirty="0"/>
          </a:p>
        </p:txBody>
      </p:sp>
      <p:sp>
        <p:nvSpPr>
          <p:cNvPr id="19" name="Shape 16"/>
          <p:cNvSpPr/>
          <p:nvPr/>
        </p:nvSpPr>
        <p:spPr>
          <a:xfrm>
            <a:off x="4736592" y="3319272"/>
            <a:ext cx="2560320" cy="0"/>
          </a:xfrm>
          <a:prstGeom prst="line">
            <a:avLst/>
          </a:prstGeom>
          <a:noFill/>
          <a:ln w="25400">
            <a:solidFill>
              <a:srgbClr val="37325F"/>
            </a:solidFill>
            <a:prstDash val="solid"/>
          </a:ln>
        </p:spPr>
      </p:sp>
      <p:sp>
        <p:nvSpPr>
          <p:cNvPr id="20" name="Shape 17"/>
          <p:cNvSpPr/>
          <p:nvPr/>
        </p:nvSpPr>
        <p:spPr>
          <a:xfrm>
            <a:off x="7178040" y="3227832"/>
            <a:ext cx="118872" cy="91440"/>
          </a:xfrm>
          <a:prstGeom prst="line">
            <a:avLst/>
          </a:prstGeom>
          <a:noFill/>
          <a:ln w="25400">
            <a:solidFill>
              <a:srgbClr val="37325F"/>
            </a:solidFill>
            <a:prstDash val="solid"/>
          </a:ln>
        </p:spPr>
      </p:sp>
      <p:sp>
        <p:nvSpPr>
          <p:cNvPr id="21" name="Shape 18"/>
          <p:cNvSpPr/>
          <p:nvPr/>
        </p:nvSpPr>
        <p:spPr>
          <a:xfrm>
            <a:off x="7178040" y="3410712"/>
            <a:ext cx="118872" cy="-91440"/>
          </a:xfrm>
          <a:prstGeom prst="line">
            <a:avLst/>
          </a:prstGeom>
          <a:noFill/>
          <a:ln w="25400">
            <a:solidFill>
              <a:srgbClr val="37325F"/>
            </a:solidFill>
            <a:prstDash val="solid"/>
          </a:ln>
        </p:spPr>
      </p:sp>
      <p:sp>
        <p:nvSpPr>
          <p:cNvPr id="22" name="Shape 19"/>
          <p:cNvSpPr/>
          <p:nvPr/>
        </p:nvSpPr>
        <p:spPr>
          <a:xfrm>
            <a:off x="7296912" y="4160520"/>
            <a:ext cx="-2560320" cy="0"/>
          </a:xfrm>
          <a:prstGeom prst="line">
            <a:avLst/>
          </a:prstGeom>
          <a:noFill/>
          <a:ln w="25400">
            <a:solidFill>
              <a:srgbClr val="37325F"/>
            </a:solidFill>
            <a:prstDash val="solid"/>
          </a:ln>
        </p:spPr>
      </p:sp>
      <p:sp>
        <p:nvSpPr>
          <p:cNvPr id="23" name="Shape 20"/>
          <p:cNvSpPr/>
          <p:nvPr/>
        </p:nvSpPr>
        <p:spPr>
          <a:xfrm>
            <a:off x="4855464" y="4069080"/>
            <a:ext cx="-118872" cy="91440"/>
          </a:xfrm>
          <a:prstGeom prst="line">
            <a:avLst/>
          </a:prstGeom>
          <a:noFill/>
          <a:ln w="25400">
            <a:solidFill>
              <a:srgbClr val="37325F"/>
            </a:solidFill>
            <a:prstDash val="solid"/>
          </a:ln>
        </p:spPr>
      </p:sp>
      <p:sp>
        <p:nvSpPr>
          <p:cNvPr id="24" name="Shape 21"/>
          <p:cNvSpPr/>
          <p:nvPr/>
        </p:nvSpPr>
        <p:spPr>
          <a:xfrm>
            <a:off x="4855464" y="4251960"/>
            <a:ext cx="-118872" cy="-91440"/>
          </a:xfrm>
          <a:prstGeom prst="line">
            <a:avLst/>
          </a:prstGeom>
          <a:noFill/>
          <a:ln w="25400">
            <a:solidFill>
              <a:srgbClr val="37325F"/>
            </a:solidFill>
            <a:prstDash val="solid"/>
          </a:ln>
        </p:spPr>
      </p:sp>
      <p:sp>
        <p:nvSpPr>
          <p:cNvPr id="25" name="Text 22"/>
          <p:cNvSpPr/>
          <p:nvPr/>
        </p:nvSpPr>
        <p:spPr>
          <a:xfrm>
            <a:off x="4590288" y="4617720"/>
            <a:ext cx="2779776" cy="594360"/>
          </a:xfrm>
          <a:prstGeom prst="rect">
            <a:avLst/>
          </a:prstGeom>
          <a:noFill/>
          <a:ln/>
        </p:spPr>
        <p:txBody>
          <a:bodyPr wrap="square" lIns="0" tIns="0" rIns="0" bIns="0" rtlCol="0" anchor="ctr"/>
          <a:lstStyle/>
          <a:p>
            <a:pPr algn="ctr" indent="0" marL="0">
              <a:lnSpc>
                <a:spcPct val="103000"/>
              </a:lnSpc>
              <a:buNone/>
            </a:pPr>
            <a:r>
              <a:rPr lang="en-US" sz="2300" dirty="0">
                <a:solidFill>
                  <a:srgbClr val="37325F"/>
                </a:solidFill>
                <a:latin typeface="Arial" pitchFamily="34" charset="0"/>
                <a:ea typeface="Arial" pitchFamily="34" charset="-122"/>
                <a:cs typeface="Arial" pitchFamily="34" charset="-120"/>
              </a:rPr>
              <a:t>Result or error</a:t>
            </a:r>
            <a:endParaRPr lang="en-US" sz="2300" dirty="0"/>
          </a:p>
        </p:txBody>
      </p:sp>
      <p:sp>
        <p:nvSpPr>
          <p:cNvPr id="26" name="Shape 23"/>
          <p:cNvSpPr/>
          <p:nvPr/>
        </p:nvSpPr>
        <p:spPr>
          <a:xfrm>
            <a:off x="7543800" y="1993392"/>
            <a:ext cx="3886200" cy="3566160"/>
          </a:xfrm>
          <a:prstGeom prst="rect">
            <a:avLst/>
          </a:prstGeom>
          <a:solidFill>
            <a:srgbClr val="EAE7F2"/>
          </a:solidFill>
          <a:ln w="12700">
            <a:solidFill>
              <a:srgbClr val="EAE7F2"/>
            </a:solidFill>
            <a:prstDash val="solid"/>
          </a:ln>
        </p:spPr>
      </p:sp>
      <p:sp>
        <p:nvSpPr>
          <p:cNvPr id="27" name="Shape 24"/>
          <p:cNvSpPr/>
          <p:nvPr/>
        </p:nvSpPr>
        <p:spPr>
          <a:xfrm>
            <a:off x="7543800" y="1993392"/>
            <a:ext cx="3886200" cy="795528"/>
          </a:xfrm>
          <a:prstGeom prst="rect">
            <a:avLst/>
          </a:prstGeom>
          <a:solidFill>
            <a:srgbClr val="37325F"/>
          </a:solidFill>
          <a:ln w="12700">
            <a:solidFill>
              <a:srgbClr val="37325F"/>
            </a:solidFill>
            <a:prstDash val="solid"/>
          </a:ln>
        </p:spPr>
      </p:sp>
      <p:sp>
        <p:nvSpPr>
          <p:cNvPr id="28" name="Shape 25"/>
          <p:cNvSpPr/>
          <p:nvPr/>
        </p:nvSpPr>
        <p:spPr>
          <a:xfrm>
            <a:off x="7543800" y="2788920"/>
            <a:ext cx="73152" cy="2770632"/>
          </a:xfrm>
          <a:prstGeom prst="rect">
            <a:avLst/>
          </a:prstGeom>
          <a:solidFill>
            <a:srgbClr val="FF9810"/>
          </a:solidFill>
          <a:ln w="12700">
            <a:solidFill>
              <a:srgbClr val="FF9810"/>
            </a:solidFill>
            <a:prstDash val="solid"/>
          </a:ln>
        </p:spPr>
      </p:sp>
      <p:sp>
        <p:nvSpPr>
          <p:cNvPr id="29" name="Text 26"/>
          <p:cNvSpPr/>
          <p:nvPr/>
        </p:nvSpPr>
        <p:spPr>
          <a:xfrm>
            <a:off x="7754112" y="2221992"/>
            <a:ext cx="3456432" cy="548640"/>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LOCAL EMULATOR</a:t>
            </a:r>
            <a:endParaRPr lang="en-US" sz="2500" dirty="0"/>
          </a:p>
        </p:txBody>
      </p:sp>
      <p:sp>
        <p:nvSpPr>
          <p:cNvPr id="30" name="Text 27"/>
          <p:cNvSpPr/>
          <p:nvPr/>
        </p:nvSpPr>
        <p:spPr>
          <a:xfrm>
            <a:off x="7754112" y="3246120"/>
            <a:ext cx="3456432" cy="128016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Implements operations and stores local state.</a:t>
            </a:r>
            <a:endParaRPr lang="en-US" sz="2400" dirty="0"/>
          </a:p>
        </p:txBody>
      </p:sp>
      <p:sp>
        <p:nvSpPr>
          <p:cNvPr id="31" name="Text 28"/>
          <p:cNvSpPr/>
          <p:nvPr/>
        </p:nvSpPr>
        <p:spPr>
          <a:xfrm>
            <a:off x="7754112" y="4663440"/>
            <a:ext cx="3456432" cy="548640"/>
          </a:xfrm>
          <a:prstGeom prst="rect">
            <a:avLst/>
          </a:prstGeom>
          <a:noFill/>
          <a:ln/>
        </p:spPr>
        <p:txBody>
          <a:bodyPr wrap="square" lIns="0" tIns="0" rIns="0" bIns="0" rtlCol="0" anchor="ctr"/>
          <a:lstStyle/>
          <a:p>
            <a:pPr algn="l" indent="0" marL="0">
              <a:lnSpc>
                <a:spcPct val="103000"/>
              </a:lnSpc>
              <a:buNone/>
            </a:pPr>
            <a:r>
              <a:rPr lang="en-US" sz="2300" b="1" dirty="0">
                <a:solidFill>
                  <a:srgbClr val="37325F"/>
                </a:solidFill>
                <a:latin typeface="Consolas" pitchFamily="34" charset="0"/>
                <a:ea typeface="Consolas" pitchFamily="34" charset="-122"/>
                <a:cs typeface="Consolas" pitchFamily="34" charset="-120"/>
              </a:rPr>
              <a:t>localhost:4566</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LocalStack began with an offline-development need</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LocalStack origins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7</a:t>
            </a:r>
            <a:endParaRPr lang="en-US" sz="1500" dirty="0"/>
          </a:p>
        </p:txBody>
      </p:sp>
      <p:sp>
        <p:nvSpPr>
          <p:cNvPr id="12" name="Shape 9"/>
          <p:cNvSpPr/>
          <p:nvPr/>
        </p:nvSpPr>
        <p:spPr>
          <a:xfrm>
            <a:off x="685800" y="1700784"/>
            <a:ext cx="5285232" cy="3803904"/>
          </a:xfrm>
          <a:prstGeom prst="rect">
            <a:avLst/>
          </a:prstGeom>
          <a:solidFill>
            <a:srgbClr val="EAE7F2"/>
          </a:solidFill>
          <a:ln w="12700">
            <a:solidFill>
              <a:srgbClr val="EAE7F2"/>
            </a:solidFill>
            <a:prstDash val="solid"/>
          </a:ln>
        </p:spPr>
      </p:sp>
      <p:sp>
        <p:nvSpPr>
          <p:cNvPr id="13" name="Shape 10"/>
          <p:cNvSpPr/>
          <p:nvPr/>
        </p:nvSpPr>
        <p:spPr>
          <a:xfrm>
            <a:off x="685800" y="1700784"/>
            <a:ext cx="5285232" cy="932688"/>
          </a:xfrm>
          <a:prstGeom prst="rect">
            <a:avLst/>
          </a:prstGeom>
          <a:solidFill>
            <a:srgbClr val="37325F"/>
          </a:solidFill>
          <a:ln w="12700">
            <a:solidFill>
              <a:srgbClr val="37325F"/>
            </a:solidFill>
            <a:prstDash val="solid"/>
          </a:ln>
        </p:spPr>
      </p:sp>
      <p:sp>
        <p:nvSpPr>
          <p:cNvPr id="14" name="Text 11"/>
          <p:cNvSpPr/>
          <p:nvPr/>
        </p:nvSpPr>
        <p:spPr>
          <a:xfrm>
            <a:off x="82296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ORIGINS</a:t>
            </a:r>
            <a:endParaRPr lang="en-US" sz="2500" dirty="0"/>
          </a:p>
        </p:txBody>
      </p:sp>
      <p:sp>
        <p:nvSpPr>
          <p:cNvPr id="15" name="Shape 12"/>
          <p:cNvSpPr/>
          <p:nvPr/>
        </p:nvSpPr>
        <p:spPr>
          <a:xfrm>
            <a:off x="685800" y="1700784"/>
            <a:ext cx="59436" cy="3803904"/>
          </a:xfrm>
          <a:prstGeom prst="rect">
            <a:avLst/>
          </a:prstGeom>
          <a:solidFill>
            <a:srgbClr val="FF9810"/>
          </a:solidFill>
          <a:ln w="12700">
            <a:solidFill>
              <a:srgbClr val="FF9810"/>
            </a:solidFill>
            <a:prstDash val="solid"/>
          </a:ln>
        </p:spPr>
      </p:sp>
      <p:sp>
        <p:nvSpPr>
          <p:cNvPr id="16" name="Text 13"/>
          <p:cNvSpPr/>
          <p:nvPr/>
        </p:nvSpPr>
        <p:spPr>
          <a:xfrm>
            <a:off x="868680" y="2743200"/>
            <a:ext cx="4873752" cy="43634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Started at Atlassian in 2016.</a:t>
            </a:r>
            <a:endParaRPr lang="en-US" sz="2400" dirty="0"/>
          </a:p>
        </p:txBody>
      </p:sp>
      <p:sp>
        <p:nvSpPr>
          <p:cNvPr id="17" name="Text 14"/>
          <p:cNvSpPr/>
          <p:nvPr/>
        </p:nvSpPr>
        <p:spPr>
          <a:xfrm>
            <a:off x="868680" y="3334990"/>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Initially covered eight AWS services.</a:t>
            </a:r>
            <a:endParaRPr lang="en-US" sz="2400" dirty="0"/>
          </a:p>
        </p:txBody>
      </p:sp>
      <p:sp>
        <p:nvSpPr>
          <p:cNvPr id="18" name="Text 15"/>
          <p:cNvSpPr/>
          <p:nvPr/>
        </p:nvSpPr>
        <p:spPr>
          <a:xfrm>
            <a:off x="868680" y="4289971"/>
            <a:ext cx="4873752" cy="43634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Exposed AWS-style APIs locally.</a:t>
            </a:r>
            <a:endParaRPr lang="en-US" sz="2400" dirty="0"/>
          </a:p>
        </p:txBody>
      </p:sp>
      <p:sp>
        <p:nvSpPr>
          <p:cNvPr id="19" name="Shape 16"/>
          <p:cNvSpPr/>
          <p:nvPr/>
        </p:nvSpPr>
        <p:spPr>
          <a:xfrm>
            <a:off x="6309360" y="1700784"/>
            <a:ext cx="5285232" cy="3803904"/>
          </a:xfrm>
          <a:prstGeom prst="rect">
            <a:avLst/>
          </a:prstGeom>
          <a:solidFill>
            <a:srgbClr val="EAE7F2"/>
          </a:solidFill>
          <a:ln w="12700">
            <a:solidFill>
              <a:srgbClr val="EAE7F2"/>
            </a:solidFill>
            <a:prstDash val="solid"/>
          </a:ln>
        </p:spPr>
      </p:sp>
      <p:sp>
        <p:nvSpPr>
          <p:cNvPr id="20" name="Shape 17"/>
          <p:cNvSpPr/>
          <p:nvPr/>
        </p:nvSpPr>
        <p:spPr>
          <a:xfrm>
            <a:off x="6309360" y="1700784"/>
            <a:ext cx="5285232" cy="932688"/>
          </a:xfrm>
          <a:prstGeom prst="rect">
            <a:avLst/>
          </a:prstGeom>
          <a:solidFill>
            <a:srgbClr val="37325F"/>
          </a:solidFill>
          <a:ln w="12700">
            <a:solidFill>
              <a:srgbClr val="37325F"/>
            </a:solidFill>
            <a:prstDash val="solid"/>
          </a:ln>
        </p:spPr>
      </p:sp>
      <p:sp>
        <p:nvSpPr>
          <p:cNvPr id="21" name="Text 18"/>
          <p:cNvSpPr/>
          <p:nvPr/>
        </p:nvSpPr>
        <p:spPr>
          <a:xfrm>
            <a:off x="644652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ORIGINAL NEED</a:t>
            </a:r>
            <a:endParaRPr lang="en-US" sz="2500" dirty="0"/>
          </a:p>
        </p:txBody>
      </p:sp>
      <p:sp>
        <p:nvSpPr>
          <p:cNvPr id="22" name="Shape 19"/>
          <p:cNvSpPr/>
          <p:nvPr/>
        </p:nvSpPr>
        <p:spPr>
          <a:xfrm>
            <a:off x="6309360" y="1700784"/>
            <a:ext cx="59436" cy="3803904"/>
          </a:xfrm>
          <a:prstGeom prst="rect">
            <a:avLst/>
          </a:prstGeom>
          <a:solidFill>
            <a:srgbClr val="FF9810"/>
          </a:solidFill>
          <a:ln w="12700">
            <a:solidFill>
              <a:srgbClr val="FF9810"/>
            </a:solidFill>
            <a:prstDash val="solid"/>
          </a:ln>
        </p:spPr>
      </p:sp>
      <p:sp>
        <p:nvSpPr>
          <p:cNvPr id="23" name="Text 20"/>
          <p:cNvSpPr/>
          <p:nvPr/>
        </p:nvSpPr>
        <p:spPr>
          <a:xfrm>
            <a:off x="6492240" y="2743200"/>
            <a:ext cx="4873752" cy="1162723"/>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Continue cloud-application development without calling remote AWS.</a:t>
            </a:r>
            <a:endParaRPr lang="en-US" sz="2400" dirty="0"/>
          </a:p>
        </p:txBody>
      </p:sp>
      <p:sp>
        <p:nvSpPr>
          <p:cNvPr id="24" name="Text 21"/>
          <p:cNvSpPr/>
          <p:nvPr/>
        </p:nvSpPr>
        <p:spPr>
          <a:xfrm>
            <a:off x="6492240" y="4061371"/>
            <a:ext cx="4873752" cy="1162723"/>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Use local services for development and testing, including while travelling offline.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From an offline tool to a development platform</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LocalStack growth</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8</a:t>
            </a:r>
            <a:endParaRPr lang="en-US" sz="1500" dirty="0"/>
          </a:p>
        </p:txBody>
      </p:sp>
      <p:sp>
        <p:nvSpPr>
          <p:cNvPr id="12" name="Shape 9"/>
          <p:cNvSpPr/>
          <p:nvPr/>
        </p:nvSpPr>
        <p:spPr>
          <a:xfrm>
            <a:off x="685800" y="1783080"/>
            <a:ext cx="3017520" cy="1088136"/>
          </a:xfrm>
          <a:prstGeom prst="rect">
            <a:avLst/>
          </a:prstGeom>
          <a:solidFill>
            <a:srgbClr val="37325F"/>
          </a:solidFill>
          <a:ln w="12700">
            <a:solidFill>
              <a:srgbClr val="37325F"/>
            </a:solidFill>
            <a:prstDash val="solid"/>
          </a:ln>
        </p:spPr>
      </p:sp>
      <p:sp>
        <p:nvSpPr>
          <p:cNvPr id="13" name="Shape 10"/>
          <p:cNvSpPr/>
          <p:nvPr/>
        </p:nvSpPr>
        <p:spPr>
          <a:xfrm>
            <a:off x="3767328" y="1783080"/>
            <a:ext cx="7708392" cy="1088136"/>
          </a:xfrm>
          <a:prstGeom prst="rect">
            <a:avLst/>
          </a:prstGeom>
          <a:solidFill>
            <a:srgbClr val="EAE7F2"/>
          </a:solidFill>
          <a:ln w="12700">
            <a:solidFill>
              <a:srgbClr val="EAE7F2"/>
            </a:solidFill>
            <a:prstDash val="solid"/>
          </a:ln>
        </p:spPr>
      </p:sp>
      <p:sp>
        <p:nvSpPr>
          <p:cNvPr id="14" name="Shape 11"/>
          <p:cNvSpPr/>
          <p:nvPr/>
        </p:nvSpPr>
        <p:spPr>
          <a:xfrm>
            <a:off x="685800" y="1783080"/>
            <a:ext cx="59436" cy="1088136"/>
          </a:xfrm>
          <a:prstGeom prst="rect">
            <a:avLst/>
          </a:prstGeom>
          <a:solidFill>
            <a:srgbClr val="FF9810"/>
          </a:solidFill>
          <a:ln w="12700">
            <a:solidFill>
              <a:srgbClr val="FF9810"/>
            </a:solidFill>
            <a:prstDash val="solid"/>
          </a:ln>
        </p:spPr>
      </p:sp>
      <p:sp>
        <p:nvSpPr>
          <p:cNvPr id="15" name="Text 12"/>
          <p:cNvSpPr/>
          <p:nvPr/>
        </p:nvSpPr>
        <p:spPr>
          <a:xfrm>
            <a:off x="896112" y="182880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More services</a:t>
            </a:r>
            <a:endParaRPr lang="en-US" sz="2500" dirty="0"/>
          </a:p>
        </p:txBody>
      </p:sp>
      <p:sp>
        <p:nvSpPr>
          <p:cNvPr id="16" name="Text 13"/>
          <p:cNvSpPr/>
          <p:nvPr/>
        </p:nvSpPr>
        <p:spPr>
          <a:xfrm>
            <a:off x="3886200" y="182880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Combine local storage, queues, functions and databases in the same environment.</a:t>
            </a:r>
            <a:endParaRPr lang="en-US" sz="2400" dirty="0"/>
          </a:p>
        </p:txBody>
      </p:sp>
      <p:sp>
        <p:nvSpPr>
          <p:cNvPr id="17" name="Shape 14"/>
          <p:cNvSpPr/>
          <p:nvPr/>
        </p:nvSpPr>
        <p:spPr>
          <a:xfrm>
            <a:off x="685800" y="3017520"/>
            <a:ext cx="3017520" cy="1088136"/>
          </a:xfrm>
          <a:prstGeom prst="rect">
            <a:avLst/>
          </a:prstGeom>
          <a:solidFill>
            <a:srgbClr val="37325F"/>
          </a:solidFill>
          <a:ln w="12700">
            <a:solidFill>
              <a:srgbClr val="37325F"/>
            </a:solidFill>
            <a:prstDash val="solid"/>
          </a:ln>
        </p:spPr>
      </p:sp>
      <p:sp>
        <p:nvSpPr>
          <p:cNvPr id="18" name="Shape 15"/>
          <p:cNvSpPr/>
          <p:nvPr/>
        </p:nvSpPr>
        <p:spPr>
          <a:xfrm>
            <a:off x="3767328" y="3017520"/>
            <a:ext cx="7708392" cy="1088136"/>
          </a:xfrm>
          <a:prstGeom prst="rect">
            <a:avLst/>
          </a:prstGeom>
          <a:solidFill>
            <a:srgbClr val="EAE7F2"/>
          </a:solidFill>
          <a:ln w="12700">
            <a:solidFill>
              <a:srgbClr val="EAE7F2"/>
            </a:solidFill>
            <a:prstDash val="solid"/>
          </a:ln>
        </p:spPr>
      </p:sp>
      <p:sp>
        <p:nvSpPr>
          <p:cNvPr id="19" name="Shape 16"/>
          <p:cNvSpPr/>
          <p:nvPr/>
        </p:nvSpPr>
        <p:spPr>
          <a:xfrm>
            <a:off x="685800" y="3017520"/>
            <a:ext cx="59436" cy="1088136"/>
          </a:xfrm>
          <a:prstGeom prst="rect">
            <a:avLst/>
          </a:prstGeom>
          <a:solidFill>
            <a:srgbClr val="FF9810"/>
          </a:solidFill>
          <a:ln w="12700">
            <a:solidFill>
              <a:srgbClr val="FF9810"/>
            </a:solidFill>
            <a:prstDash val="solid"/>
          </a:ln>
        </p:spPr>
      </p:sp>
      <p:sp>
        <p:nvSpPr>
          <p:cNvPr id="20" name="Text 17"/>
          <p:cNvSpPr/>
          <p:nvPr/>
        </p:nvSpPr>
        <p:spPr>
          <a:xfrm>
            <a:off x="896112" y="306324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Infrastructure as code</a:t>
            </a:r>
            <a:endParaRPr lang="en-US" sz="2500" dirty="0"/>
          </a:p>
        </p:txBody>
      </p:sp>
      <p:sp>
        <p:nvSpPr>
          <p:cNvPr id="21" name="Text 18"/>
          <p:cNvSpPr/>
          <p:nvPr/>
        </p:nvSpPr>
        <p:spPr>
          <a:xfrm>
            <a:off x="3886200" y="306324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Use Terraform or CDK to create the resources defined by your project.</a:t>
            </a:r>
            <a:endParaRPr lang="en-US" sz="2400" dirty="0"/>
          </a:p>
        </p:txBody>
      </p:sp>
      <p:sp>
        <p:nvSpPr>
          <p:cNvPr id="22" name="Shape 19"/>
          <p:cNvSpPr/>
          <p:nvPr/>
        </p:nvSpPr>
        <p:spPr>
          <a:xfrm>
            <a:off x="685800" y="4251960"/>
            <a:ext cx="3017520" cy="1088136"/>
          </a:xfrm>
          <a:prstGeom prst="rect">
            <a:avLst/>
          </a:prstGeom>
          <a:solidFill>
            <a:srgbClr val="37325F"/>
          </a:solidFill>
          <a:ln w="12700">
            <a:solidFill>
              <a:srgbClr val="37325F"/>
            </a:solidFill>
            <a:prstDash val="solid"/>
          </a:ln>
        </p:spPr>
      </p:sp>
      <p:sp>
        <p:nvSpPr>
          <p:cNvPr id="23" name="Shape 20"/>
          <p:cNvSpPr/>
          <p:nvPr/>
        </p:nvSpPr>
        <p:spPr>
          <a:xfrm>
            <a:off x="3767328" y="4251960"/>
            <a:ext cx="7708392" cy="1088136"/>
          </a:xfrm>
          <a:prstGeom prst="rect">
            <a:avLst/>
          </a:prstGeom>
          <a:solidFill>
            <a:srgbClr val="EAE7F2"/>
          </a:solidFill>
          <a:ln w="12700">
            <a:solidFill>
              <a:srgbClr val="EAE7F2"/>
            </a:solidFill>
            <a:prstDash val="solid"/>
          </a:ln>
        </p:spPr>
      </p:sp>
      <p:sp>
        <p:nvSpPr>
          <p:cNvPr id="24" name="Shape 21"/>
          <p:cNvSpPr/>
          <p:nvPr/>
        </p:nvSpPr>
        <p:spPr>
          <a:xfrm>
            <a:off x="685800" y="4251960"/>
            <a:ext cx="59436" cy="1088136"/>
          </a:xfrm>
          <a:prstGeom prst="rect">
            <a:avLst/>
          </a:prstGeom>
          <a:solidFill>
            <a:srgbClr val="FF9810"/>
          </a:solidFill>
          <a:ln w="12700">
            <a:solidFill>
              <a:srgbClr val="FF9810"/>
            </a:solidFill>
            <a:prstDash val="solid"/>
          </a:ln>
        </p:spPr>
      </p:sp>
      <p:sp>
        <p:nvSpPr>
          <p:cNvPr id="25" name="Text 22"/>
          <p:cNvSpPr/>
          <p:nvPr/>
        </p:nvSpPr>
        <p:spPr>
          <a:xfrm>
            <a:off x="896112" y="429768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Daily workflow</a:t>
            </a:r>
            <a:endParaRPr lang="en-US" sz="2500" dirty="0"/>
          </a:p>
        </p:txBody>
      </p:sp>
      <p:sp>
        <p:nvSpPr>
          <p:cNvPr id="26" name="Text 23"/>
          <p:cNvSpPr/>
          <p:nvPr/>
        </p:nvSpPr>
        <p:spPr>
          <a:xfrm>
            <a:off x="3886200" y="429768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Run checks in CI, browse resources and debug functions with familiar tools.</a:t>
            </a:r>
            <a:endParaRPr lang="en-US" sz="2400" dirty="0"/>
          </a:p>
        </p:txBody>
      </p:sp>
      <p:sp>
        <p:nvSpPr>
          <p:cNvPr id="27" name="Shape 24"/>
          <p:cNvSpPr/>
          <p:nvPr/>
        </p:nvSpPr>
        <p:spPr>
          <a:xfrm>
            <a:off x="594360" y="5522976"/>
            <a:ext cx="11000232" cy="841248"/>
          </a:xfrm>
          <a:prstGeom prst="rect">
            <a:avLst/>
          </a:prstGeom>
          <a:solidFill>
            <a:srgbClr val="EAE7F2"/>
          </a:solidFill>
          <a:ln w="12700">
            <a:solidFill>
              <a:srgbClr val="EAE7F2"/>
            </a:solidFill>
            <a:prstDash val="solid"/>
          </a:ln>
        </p:spPr>
      </p:sp>
      <p:sp>
        <p:nvSpPr>
          <p:cNvPr id="28" name="Shape 25"/>
          <p:cNvSpPr/>
          <p:nvPr/>
        </p:nvSpPr>
        <p:spPr>
          <a:xfrm>
            <a:off x="594360" y="5522976"/>
            <a:ext cx="59436" cy="841248"/>
          </a:xfrm>
          <a:prstGeom prst="rect">
            <a:avLst/>
          </a:prstGeom>
          <a:solidFill>
            <a:srgbClr val="FF9810"/>
          </a:solidFill>
          <a:ln w="12700">
            <a:solidFill>
              <a:srgbClr val="FF9810"/>
            </a:solidFill>
            <a:prstDash val="solid"/>
          </a:ln>
        </p:spPr>
      </p:sp>
      <p:sp>
        <p:nvSpPr>
          <p:cNvPr id="29" name="Text 26"/>
          <p:cNvSpPr/>
          <p:nvPr/>
        </p:nvSpPr>
        <p:spPr>
          <a:xfrm>
            <a:off x="777240" y="5614416"/>
            <a:ext cx="10652760" cy="77724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Teams began depending on LocalStack to prepare and run their development environments.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What changed in March 2026?</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March 2026</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9</a:t>
            </a:r>
            <a:endParaRPr lang="en-US" sz="1500" dirty="0"/>
          </a:p>
        </p:txBody>
      </p:sp>
      <p:sp>
        <p:nvSpPr>
          <p:cNvPr id="12" name="Shape 9"/>
          <p:cNvSpPr/>
          <p:nvPr/>
        </p:nvSpPr>
        <p:spPr>
          <a:xfrm>
            <a:off x="914400" y="1865376"/>
            <a:ext cx="10149840" cy="0"/>
          </a:xfrm>
          <a:prstGeom prst="line">
            <a:avLst/>
          </a:prstGeom>
          <a:noFill/>
          <a:ln w="25400">
            <a:solidFill>
              <a:srgbClr val="C6C2D3"/>
            </a:solidFill>
            <a:prstDash val="solid"/>
          </a:ln>
        </p:spPr>
      </p:sp>
      <p:sp>
        <p:nvSpPr>
          <p:cNvPr id="13" name="Shape 10"/>
          <p:cNvSpPr/>
          <p:nvPr/>
        </p:nvSpPr>
        <p:spPr>
          <a:xfrm>
            <a:off x="777240" y="1783080"/>
            <a:ext cx="164592" cy="164592"/>
          </a:xfrm>
          <a:prstGeom prst="rect">
            <a:avLst/>
          </a:prstGeom>
          <a:solidFill>
            <a:srgbClr val="FF9810"/>
          </a:solidFill>
          <a:ln w="12700">
            <a:solidFill>
              <a:srgbClr val="FF9810"/>
            </a:solidFill>
            <a:prstDash val="solid"/>
          </a:ln>
        </p:spPr>
      </p:sp>
      <p:sp>
        <p:nvSpPr>
          <p:cNvPr id="14" name="Shape 11"/>
          <p:cNvSpPr/>
          <p:nvPr/>
        </p:nvSpPr>
        <p:spPr>
          <a:xfrm>
            <a:off x="722376" y="2029968"/>
            <a:ext cx="3364992" cy="676656"/>
          </a:xfrm>
          <a:prstGeom prst="rect">
            <a:avLst/>
          </a:prstGeom>
          <a:solidFill>
            <a:srgbClr val="37325F"/>
          </a:solidFill>
          <a:ln w="12700">
            <a:solidFill>
              <a:srgbClr val="37325F"/>
            </a:solidFill>
            <a:prstDash val="solid"/>
          </a:ln>
        </p:spPr>
      </p:sp>
      <p:sp>
        <p:nvSpPr>
          <p:cNvPr id="15" name="Text 12"/>
          <p:cNvSpPr/>
          <p:nvPr/>
        </p:nvSpPr>
        <p:spPr>
          <a:xfrm>
            <a:off x="868680" y="2176272"/>
            <a:ext cx="3108960" cy="548640"/>
          </a:xfrm>
          <a:prstGeom prst="rect">
            <a:avLst/>
          </a:prstGeom>
          <a:noFill/>
          <a:ln/>
        </p:spPr>
        <p:txBody>
          <a:bodyPr wrap="square" lIns="0" tIns="0" rIns="0" bIns="0" rtlCol="0" anchor="ctr"/>
          <a:lstStyle/>
          <a:p>
            <a:pPr algn="l" indent="0" marL="0">
              <a:lnSpc>
                <a:spcPct val="103000"/>
              </a:lnSpc>
              <a:buNone/>
            </a:pPr>
            <a:r>
              <a:rPr lang="en-US" sz="2200" b="1" dirty="0">
                <a:solidFill>
                  <a:srgbClr val="FFFFFF"/>
                </a:solidFill>
                <a:latin typeface="Arial" pitchFamily="34" charset="0"/>
                <a:ea typeface="Arial" pitchFamily="34" charset="-122"/>
                <a:cs typeface="Arial" pitchFamily="34" charset="-120"/>
              </a:rPr>
              <a:t>BEFORE</a:t>
            </a:r>
            <a:endParaRPr lang="en-US" sz="2200" dirty="0"/>
          </a:p>
        </p:txBody>
      </p:sp>
      <p:sp>
        <p:nvSpPr>
          <p:cNvPr id="16" name="Text 13"/>
          <p:cNvSpPr/>
          <p:nvPr/>
        </p:nvSpPr>
        <p:spPr>
          <a:xfrm>
            <a:off x="777240" y="2880360"/>
            <a:ext cx="3246120" cy="86868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Community image</a:t>
            </a:r>
            <a:endParaRPr lang="en-US" sz="2500" dirty="0"/>
          </a:p>
        </p:txBody>
      </p:sp>
      <p:sp>
        <p:nvSpPr>
          <p:cNvPr id="17" name="Text 14"/>
          <p:cNvSpPr/>
          <p:nvPr/>
        </p:nvSpPr>
        <p:spPr>
          <a:xfrm>
            <a:off x="777240" y="3776472"/>
            <a:ext cx="3246120" cy="107899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Could start without a LocalStack account.</a:t>
            </a:r>
            <a:endParaRPr lang="en-US" sz="2400" dirty="0"/>
          </a:p>
        </p:txBody>
      </p:sp>
      <p:sp>
        <p:nvSpPr>
          <p:cNvPr id="18" name="Shape 15"/>
          <p:cNvSpPr/>
          <p:nvPr/>
        </p:nvSpPr>
        <p:spPr>
          <a:xfrm>
            <a:off x="4553712" y="1783080"/>
            <a:ext cx="164592" cy="164592"/>
          </a:xfrm>
          <a:prstGeom prst="rect">
            <a:avLst/>
          </a:prstGeom>
          <a:solidFill>
            <a:srgbClr val="FF9810"/>
          </a:solidFill>
          <a:ln w="12700">
            <a:solidFill>
              <a:srgbClr val="FF9810"/>
            </a:solidFill>
            <a:prstDash val="solid"/>
          </a:ln>
        </p:spPr>
      </p:sp>
      <p:sp>
        <p:nvSpPr>
          <p:cNvPr id="19" name="Shape 16"/>
          <p:cNvSpPr/>
          <p:nvPr/>
        </p:nvSpPr>
        <p:spPr>
          <a:xfrm>
            <a:off x="4498848" y="2029968"/>
            <a:ext cx="3364992" cy="676656"/>
          </a:xfrm>
          <a:prstGeom prst="rect">
            <a:avLst/>
          </a:prstGeom>
          <a:solidFill>
            <a:srgbClr val="37325F"/>
          </a:solidFill>
          <a:ln w="12700">
            <a:solidFill>
              <a:srgbClr val="37325F"/>
            </a:solidFill>
            <a:prstDash val="solid"/>
          </a:ln>
        </p:spPr>
      </p:sp>
      <p:sp>
        <p:nvSpPr>
          <p:cNvPr id="20" name="Text 17"/>
          <p:cNvSpPr/>
          <p:nvPr/>
        </p:nvSpPr>
        <p:spPr>
          <a:xfrm>
            <a:off x="4645152" y="2176272"/>
            <a:ext cx="3108960" cy="548640"/>
          </a:xfrm>
          <a:prstGeom prst="rect">
            <a:avLst/>
          </a:prstGeom>
          <a:noFill/>
          <a:ln/>
        </p:spPr>
        <p:txBody>
          <a:bodyPr wrap="square" lIns="0" tIns="0" rIns="0" bIns="0" rtlCol="0" anchor="ctr"/>
          <a:lstStyle/>
          <a:p>
            <a:pPr algn="l" indent="0" marL="0">
              <a:lnSpc>
                <a:spcPct val="103000"/>
              </a:lnSpc>
              <a:buNone/>
            </a:pPr>
            <a:r>
              <a:rPr lang="en-US" sz="2200" b="1" dirty="0">
                <a:solidFill>
                  <a:srgbClr val="FFFFFF"/>
                </a:solidFill>
                <a:latin typeface="Arial" pitchFamily="34" charset="0"/>
                <a:ea typeface="Arial" pitchFamily="34" charset="-122"/>
                <a:cs typeface="Arial" pitchFamily="34" charset="-120"/>
              </a:rPr>
              <a:t>23 MARCH 2026</a:t>
            </a:r>
            <a:endParaRPr lang="en-US" sz="2200" dirty="0"/>
          </a:p>
        </p:txBody>
      </p:sp>
      <p:sp>
        <p:nvSpPr>
          <p:cNvPr id="21" name="Text 18"/>
          <p:cNvSpPr/>
          <p:nvPr/>
        </p:nvSpPr>
        <p:spPr>
          <a:xfrm>
            <a:off x="4553712" y="2880360"/>
            <a:ext cx="3246120" cy="86868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One consolidated image</a:t>
            </a:r>
            <a:endParaRPr lang="en-US" sz="2500" dirty="0"/>
          </a:p>
        </p:txBody>
      </p:sp>
      <p:sp>
        <p:nvSpPr>
          <p:cNvPr id="22" name="Text 19"/>
          <p:cNvSpPr/>
          <p:nvPr/>
        </p:nvSpPr>
        <p:spPr>
          <a:xfrm>
            <a:off x="4553712" y="3776472"/>
            <a:ext cx="3246120" cy="107899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Startup now requires a LocalStack activation token.</a:t>
            </a:r>
            <a:endParaRPr lang="en-US" sz="2400" dirty="0"/>
          </a:p>
        </p:txBody>
      </p:sp>
      <p:sp>
        <p:nvSpPr>
          <p:cNvPr id="23" name="Shape 20"/>
          <p:cNvSpPr/>
          <p:nvPr/>
        </p:nvSpPr>
        <p:spPr>
          <a:xfrm>
            <a:off x="8330184" y="1783080"/>
            <a:ext cx="164592" cy="164592"/>
          </a:xfrm>
          <a:prstGeom prst="rect">
            <a:avLst/>
          </a:prstGeom>
          <a:solidFill>
            <a:srgbClr val="FF9810"/>
          </a:solidFill>
          <a:ln w="12700">
            <a:solidFill>
              <a:srgbClr val="FF9810"/>
            </a:solidFill>
            <a:prstDash val="solid"/>
          </a:ln>
        </p:spPr>
      </p:sp>
      <p:sp>
        <p:nvSpPr>
          <p:cNvPr id="24" name="Shape 21"/>
          <p:cNvSpPr/>
          <p:nvPr/>
        </p:nvSpPr>
        <p:spPr>
          <a:xfrm>
            <a:off x="8275320" y="2029968"/>
            <a:ext cx="3364992" cy="676656"/>
          </a:xfrm>
          <a:prstGeom prst="rect">
            <a:avLst/>
          </a:prstGeom>
          <a:solidFill>
            <a:srgbClr val="37325F"/>
          </a:solidFill>
          <a:ln w="12700">
            <a:solidFill>
              <a:srgbClr val="37325F"/>
            </a:solidFill>
            <a:prstDash val="solid"/>
          </a:ln>
        </p:spPr>
      </p:sp>
      <p:sp>
        <p:nvSpPr>
          <p:cNvPr id="25" name="Text 22"/>
          <p:cNvSpPr/>
          <p:nvPr/>
        </p:nvSpPr>
        <p:spPr>
          <a:xfrm>
            <a:off x="8421624" y="2176272"/>
            <a:ext cx="3108960" cy="548640"/>
          </a:xfrm>
          <a:prstGeom prst="rect">
            <a:avLst/>
          </a:prstGeom>
          <a:noFill/>
          <a:ln/>
        </p:spPr>
        <p:txBody>
          <a:bodyPr wrap="square" lIns="0" tIns="0" rIns="0" bIns="0" rtlCol="0" anchor="ctr"/>
          <a:lstStyle/>
          <a:p>
            <a:pPr algn="l" indent="0" marL="0">
              <a:lnSpc>
                <a:spcPct val="103000"/>
              </a:lnSpc>
              <a:buNone/>
            </a:pPr>
            <a:r>
              <a:rPr lang="en-US" sz="2200" b="1" dirty="0">
                <a:solidFill>
                  <a:srgbClr val="FFFFFF"/>
                </a:solidFill>
                <a:latin typeface="Arial" pitchFamily="34" charset="0"/>
                <a:ea typeface="Arial" pitchFamily="34" charset="-122"/>
                <a:cs typeface="Arial" pitchFamily="34" charset="-120"/>
              </a:rPr>
              <a:t>FREE OPTION</a:t>
            </a:r>
            <a:endParaRPr lang="en-US" sz="2200" dirty="0"/>
          </a:p>
        </p:txBody>
      </p:sp>
      <p:sp>
        <p:nvSpPr>
          <p:cNvPr id="26" name="Text 23"/>
          <p:cNvSpPr/>
          <p:nvPr/>
        </p:nvSpPr>
        <p:spPr>
          <a:xfrm>
            <a:off x="8330184" y="2880360"/>
            <a:ext cx="3246120" cy="86868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Hobby plan</a:t>
            </a:r>
            <a:endParaRPr lang="en-US" sz="2500" dirty="0"/>
          </a:p>
        </p:txBody>
      </p:sp>
      <p:sp>
        <p:nvSpPr>
          <p:cNvPr id="27" name="Text 24"/>
          <p:cNvSpPr/>
          <p:nvPr/>
        </p:nvSpPr>
        <p:spPr>
          <a:xfrm>
            <a:off x="8330184" y="3776472"/>
            <a:ext cx="3246120" cy="107899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Still available for eligible non-commercial use.</a:t>
            </a:r>
            <a:endParaRPr lang="en-US" sz="2400" dirty="0"/>
          </a:p>
        </p:txBody>
      </p:sp>
      <p:sp>
        <p:nvSpPr>
          <p:cNvPr id="28" name="Text 25"/>
          <p:cNvSpPr/>
          <p:nvPr/>
        </p:nvSpPr>
        <p:spPr>
          <a:xfrm>
            <a:off x="777240" y="5093208"/>
            <a:ext cx="10607040" cy="73152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Existing CI jobs need a token. Account and plan now determine access.</a:t>
            </a:r>
            <a:endParaRPr lang="en-US" sz="2400" dirty="0"/>
          </a:p>
        </p:txBody>
      </p:sp>
      <p:sp>
        <p:nvSpPr>
          <p:cNvPr id="29" name="Text 26"/>
          <p:cNvSpPr/>
          <p:nvPr/>
        </p:nvSpPr>
        <p:spPr>
          <a:xfrm>
            <a:off x="777240" y="5916168"/>
            <a:ext cx="10607040" cy="365760"/>
          </a:xfrm>
          <a:prstGeom prst="rect">
            <a:avLst/>
          </a:prstGeom>
          <a:noFill/>
          <a:ln/>
        </p:spPr>
        <p:txBody>
          <a:bodyPr wrap="square" lIns="0" tIns="0" rIns="0" bIns="0" rtlCol="0" anchor="ctr"/>
          <a:lstStyle/>
          <a:p>
            <a:pPr algn="l" indent="0" marL="0">
              <a:lnSpc>
                <a:spcPct val="103000"/>
              </a:lnSpc>
              <a:buNone/>
            </a:pPr>
            <a:r>
              <a:rPr lang="en-US" sz="2000" dirty="0">
                <a:solidFill>
                  <a:srgbClr val="202338"/>
                </a:solidFill>
                <a:latin typeface="Arial" pitchFamily="34" charset="0"/>
                <a:ea typeface="Arial" pitchFamily="34" charset="-122"/>
                <a:cs typeface="Arial" pitchFamily="34" charset="-120"/>
              </a:rPr>
              <a:t>Reported example: game-ci pinned an older image after its CI startup failed.</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Why did the account requirement bother developers?</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March 2026</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10</a:t>
            </a:r>
            <a:endParaRPr lang="en-US" sz="1500" dirty="0"/>
          </a:p>
        </p:txBody>
      </p:sp>
      <p:sp>
        <p:nvSpPr>
          <p:cNvPr id="12" name="Shape 9"/>
          <p:cNvSpPr/>
          <p:nvPr/>
        </p:nvSpPr>
        <p:spPr>
          <a:xfrm>
            <a:off x="685800" y="1783080"/>
            <a:ext cx="3017520" cy="932688"/>
          </a:xfrm>
          <a:prstGeom prst="rect">
            <a:avLst/>
          </a:prstGeom>
          <a:solidFill>
            <a:srgbClr val="37325F"/>
          </a:solidFill>
          <a:ln w="12700">
            <a:solidFill>
              <a:srgbClr val="37325F"/>
            </a:solidFill>
            <a:prstDash val="solid"/>
          </a:ln>
        </p:spPr>
      </p:sp>
      <p:sp>
        <p:nvSpPr>
          <p:cNvPr id="13" name="Shape 10"/>
          <p:cNvSpPr/>
          <p:nvPr/>
        </p:nvSpPr>
        <p:spPr>
          <a:xfrm>
            <a:off x="3767328" y="1783080"/>
            <a:ext cx="7708392" cy="932688"/>
          </a:xfrm>
          <a:prstGeom prst="rect">
            <a:avLst/>
          </a:prstGeom>
          <a:solidFill>
            <a:srgbClr val="EAE7F2"/>
          </a:solidFill>
          <a:ln w="12700">
            <a:solidFill>
              <a:srgbClr val="EAE7F2"/>
            </a:solidFill>
            <a:prstDash val="solid"/>
          </a:ln>
        </p:spPr>
      </p:sp>
      <p:sp>
        <p:nvSpPr>
          <p:cNvPr id="14" name="Shape 11"/>
          <p:cNvSpPr/>
          <p:nvPr/>
        </p:nvSpPr>
        <p:spPr>
          <a:xfrm>
            <a:off x="685800" y="1783080"/>
            <a:ext cx="59436" cy="932688"/>
          </a:xfrm>
          <a:prstGeom prst="rect">
            <a:avLst/>
          </a:prstGeom>
          <a:solidFill>
            <a:srgbClr val="FF9810"/>
          </a:solidFill>
          <a:ln w="12700">
            <a:solidFill>
              <a:srgbClr val="FF9810"/>
            </a:solidFill>
            <a:prstDash val="solid"/>
          </a:ln>
        </p:spPr>
      </p:sp>
      <p:sp>
        <p:nvSpPr>
          <p:cNvPr id="15" name="Text 12"/>
          <p:cNvSpPr/>
          <p:nvPr/>
        </p:nvSpPr>
        <p:spPr>
          <a:xfrm>
            <a:off x="896112" y="1828800"/>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Extra setup</a:t>
            </a:r>
            <a:endParaRPr lang="en-US" sz="2500" dirty="0"/>
          </a:p>
        </p:txBody>
      </p:sp>
      <p:sp>
        <p:nvSpPr>
          <p:cNvPr id="16" name="Text 13"/>
          <p:cNvSpPr/>
          <p:nvPr/>
        </p:nvSpPr>
        <p:spPr>
          <a:xfrm>
            <a:off x="3886200" y="1828800"/>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Create an account and provide a product token before starting the current image.</a:t>
            </a:r>
            <a:endParaRPr lang="en-US" sz="2400" dirty="0"/>
          </a:p>
        </p:txBody>
      </p:sp>
      <p:sp>
        <p:nvSpPr>
          <p:cNvPr id="17" name="Shape 14"/>
          <p:cNvSpPr/>
          <p:nvPr/>
        </p:nvSpPr>
        <p:spPr>
          <a:xfrm>
            <a:off x="685800" y="2862072"/>
            <a:ext cx="3017520" cy="932688"/>
          </a:xfrm>
          <a:prstGeom prst="rect">
            <a:avLst/>
          </a:prstGeom>
          <a:solidFill>
            <a:srgbClr val="37325F"/>
          </a:solidFill>
          <a:ln w="12700">
            <a:solidFill>
              <a:srgbClr val="37325F"/>
            </a:solidFill>
            <a:prstDash val="solid"/>
          </a:ln>
        </p:spPr>
      </p:sp>
      <p:sp>
        <p:nvSpPr>
          <p:cNvPr id="18" name="Shape 15"/>
          <p:cNvSpPr/>
          <p:nvPr/>
        </p:nvSpPr>
        <p:spPr>
          <a:xfrm>
            <a:off x="3767328" y="2862072"/>
            <a:ext cx="7708392" cy="932688"/>
          </a:xfrm>
          <a:prstGeom prst="rect">
            <a:avLst/>
          </a:prstGeom>
          <a:solidFill>
            <a:srgbClr val="EAE7F2"/>
          </a:solidFill>
          <a:ln w="12700">
            <a:solidFill>
              <a:srgbClr val="EAE7F2"/>
            </a:solidFill>
            <a:prstDash val="solid"/>
          </a:ln>
        </p:spPr>
      </p:sp>
      <p:sp>
        <p:nvSpPr>
          <p:cNvPr id="19" name="Shape 16"/>
          <p:cNvSpPr/>
          <p:nvPr/>
        </p:nvSpPr>
        <p:spPr>
          <a:xfrm>
            <a:off x="685800" y="2862072"/>
            <a:ext cx="59436" cy="932688"/>
          </a:xfrm>
          <a:prstGeom prst="rect">
            <a:avLst/>
          </a:prstGeom>
          <a:solidFill>
            <a:srgbClr val="FF9810"/>
          </a:solidFill>
          <a:ln w="12700">
            <a:solidFill>
              <a:srgbClr val="FF9810"/>
            </a:solidFill>
            <a:prstDash val="solid"/>
          </a:ln>
        </p:spPr>
      </p:sp>
      <p:sp>
        <p:nvSpPr>
          <p:cNvPr id="20" name="Text 17"/>
          <p:cNvSpPr/>
          <p:nvPr/>
        </p:nvSpPr>
        <p:spPr>
          <a:xfrm>
            <a:off x="896112" y="2907792"/>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CI configuration</a:t>
            </a:r>
            <a:endParaRPr lang="en-US" sz="2500" dirty="0"/>
          </a:p>
        </p:txBody>
      </p:sp>
      <p:sp>
        <p:nvSpPr>
          <p:cNvPr id="21" name="Text 18"/>
          <p:cNvSpPr/>
          <p:nvPr/>
        </p:nvSpPr>
        <p:spPr>
          <a:xfrm>
            <a:off x="3886200" y="2907792"/>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Store and supply an activation secret wherever automated checks start LocalStack.</a:t>
            </a:r>
            <a:endParaRPr lang="en-US" sz="2400" dirty="0"/>
          </a:p>
        </p:txBody>
      </p:sp>
      <p:sp>
        <p:nvSpPr>
          <p:cNvPr id="22" name="Shape 19"/>
          <p:cNvSpPr/>
          <p:nvPr/>
        </p:nvSpPr>
        <p:spPr>
          <a:xfrm>
            <a:off x="685800" y="3941064"/>
            <a:ext cx="3017520" cy="932688"/>
          </a:xfrm>
          <a:prstGeom prst="rect">
            <a:avLst/>
          </a:prstGeom>
          <a:solidFill>
            <a:srgbClr val="37325F"/>
          </a:solidFill>
          <a:ln w="12700">
            <a:solidFill>
              <a:srgbClr val="37325F"/>
            </a:solidFill>
            <a:prstDash val="solid"/>
          </a:ln>
        </p:spPr>
      </p:sp>
      <p:sp>
        <p:nvSpPr>
          <p:cNvPr id="23" name="Shape 20"/>
          <p:cNvSpPr/>
          <p:nvPr/>
        </p:nvSpPr>
        <p:spPr>
          <a:xfrm>
            <a:off x="3767328" y="3941064"/>
            <a:ext cx="7708392" cy="932688"/>
          </a:xfrm>
          <a:prstGeom prst="rect">
            <a:avLst/>
          </a:prstGeom>
          <a:solidFill>
            <a:srgbClr val="EAE7F2"/>
          </a:solidFill>
          <a:ln w="12700">
            <a:solidFill>
              <a:srgbClr val="EAE7F2"/>
            </a:solidFill>
            <a:prstDash val="solid"/>
          </a:ln>
        </p:spPr>
      </p:sp>
      <p:sp>
        <p:nvSpPr>
          <p:cNvPr id="24" name="Shape 21"/>
          <p:cNvSpPr/>
          <p:nvPr/>
        </p:nvSpPr>
        <p:spPr>
          <a:xfrm>
            <a:off x="685800" y="3941064"/>
            <a:ext cx="59436" cy="932688"/>
          </a:xfrm>
          <a:prstGeom prst="rect">
            <a:avLst/>
          </a:prstGeom>
          <a:solidFill>
            <a:srgbClr val="FF9810"/>
          </a:solidFill>
          <a:ln w="12700">
            <a:solidFill>
              <a:srgbClr val="FF9810"/>
            </a:solidFill>
            <a:prstDash val="solid"/>
          </a:ln>
        </p:spPr>
      </p:sp>
      <p:sp>
        <p:nvSpPr>
          <p:cNvPr id="25" name="Text 22"/>
          <p:cNvSpPr/>
          <p:nvPr/>
        </p:nvSpPr>
        <p:spPr>
          <a:xfrm>
            <a:off x="896112" y="3986784"/>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Use restrictions</a:t>
            </a:r>
            <a:endParaRPr lang="en-US" sz="2500" dirty="0"/>
          </a:p>
        </p:txBody>
      </p:sp>
      <p:sp>
        <p:nvSpPr>
          <p:cNvPr id="26" name="Text 23"/>
          <p:cNvSpPr/>
          <p:nvPr/>
        </p:nvSpPr>
        <p:spPr>
          <a:xfrm>
            <a:off x="3886200" y="3986784"/>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Check whether Hobby applies or the project needs a commercial plan.</a:t>
            </a:r>
            <a:endParaRPr lang="en-US" sz="2400" dirty="0"/>
          </a:p>
        </p:txBody>
      </p:sp>
      <p:sp>
        <p:nvSpPr>
          <p:cNvPr id="27" name="Shape 24"/>
          <p:cNvSpPr/>
          <p:nvPr/>
        </p:nvSpPr>
        <p:spPr>
          <a:xfrm>
            <a:off x="685800" y="5020056"/>
            <a:ext cx="3017520" cy="932688"/>
          </a:xfrm>
          <a:prstGeom prst="rect">
            <a:avLst/>
          </a:prstGeom>
          <a:solidFill>
            <a:srgbClr val="37325F"/>
          </a:solidFill>
          <a:ln w="12700">
            <a:solidFill>
              <a:srgbClr val="37325F"/>
            </a:solidFill>
            <a:prstDash val="solid"/>
          </a:ln>
        </p:spPr>
      </p:sp>
      <p:sp>
        <p:nvSpPr>
          <p:cNvPr id="28" name="Shape 25"/>
          <p:cNvSpPr/>
          <p:nvPr/>
        </p:nvSpPr>
        <p:spPr>
          <a:xfrm>
            <a:off x="3767328" y="5020056"/>
            <a:ext cx="7708392" cy="932688"/>
          </a:xfrm>
          <a:prstGeom prst="rect">
            <a:avLst/>
          </a:prstGeom>
          <a:solidFill>
            <a:srgbClr val="EAE7F2"/>
          </a:solidFill>
          <a:ln w="12700">
            <a:solidFill>
              <a:srgbClr val="EAE7F2"/>
            </a:solidFill>
            <a:prstDash val="solid"/>
          </a:ln>
        </p:spPr>
      </p:sp>
      <p:sp>
        <p:nvSpPr>
          <p:cNvPr id="29" name="Shape 26"/>
          <p:cNvSpPr/>
          <p:nvPr/>
        </p:nvSpPr>
        <p:spPr>
          <a:xfrm>
            <a:off x="685800" y="5020056"/>
            <a:ext cx="59436" cy="932688"/>
          </a:xfrm>
          <a:prstGeom prst="rect">
            <a:avLst/>
          </a:prstGeom>
          <a:solidFill>
            <a:srgbClr val="FF9810"/>
          </a:solidFill>
          <a:ln w="12700">
            <a:solidFill>
              <a:srgbClr val="FF9810"/>
            </a:solidFill>
            <a:prstDash val="solid"/>
          </a:ln>
        </p:spPr>
      </p:sp>
      <p:sp>
        <p:nvSpPr>
          <p:cNvPr id="30" name="Text 27"/>
          <p:cNvSpPr/>
          <p:nvPr/>
        </p:nvSpPr>
        <p:spPr>
          <a:xfrm>
            <a:off x="896112" y="5065776"/>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Usage reporting</a:t>
            </a:r>
            <a:endParaRPr lang="en-US" sz="2500" dirty="0"/>
          </a:p>
        </p:txBody>
      </p:sp>
      <p:sp>
        <p:nvSpPr>
          <p:cNvPr id="31" name="Text 28"/>
          <p:cNvSpPr/>
          <p:nvPr/>
        </p:nvSpPr>
        <p:spPr>
          <a:xfrm>
            <a:off x="3886200" y="5065776"/>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Activation is recorded. Optional usage events have a separate opt-out setting.</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Why look beyond LocalStack?</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Alternatives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11</a:t>
            </a:r>
            <a:endParaRPr lang="en-US" sz="1500" dirty="0"/>
          </a:p>
        </p:txBody>
      </p:sp>
      <p:sp>
        <p:nvSpPr>
          <p:cNvPr id="12" name="Shape 9"/>
          <p:cNvSpPr/>
          <p:nvPr/>
        </p:nvSpPr>
        <p:spPr>
          <a:xfrm>
            <a:off x="685800" y="1783080"/>
            <a:ext cx="3017520" cy="932688"/>
          </a:xfrm>
          <a:prstGeom prst="rect">
            <a:avLst/>
          </a:prstGeom>
          <a:solidFill>
            <a:srgbClr val="37325F"/>
          </a:solidFill>
          <a:ln w="12700">
            <a:solidFill>
              <a:srgbClr val="37325F"/>
            </a:solidFill>
            <a:prstDash val="solid"/>
          </a:ln>
        </p:spPr>
      </p:sp>
      <p:sp>
        <p:nvSpPr>
          <p:cNvPr id="13" name="Shape 10"/>
          <p:cNvSpPr/>
          <p:nvPr/>
        </p:nvSpPr>
        <p:spPr>
          <a:xfrm>
            <a:off x="3767328" y="1783080"/>
            <a:ext cx="7708392" cy="932688"/>
          </a:xfrm>
          <a:prstGeom prst="rect">
            <a:avLst/>
          </a:prstGeom>
          <a:solidFill>
            <a:srgbClr val="EAE7F2"/>
          </a:solidFill>
          <a:ln w="12700">
            <a:solidFill>
              <a:srgbClr val="EAE7F2"/>
            </a:solidFill>
            <a:prstDash val="solid"/>
          </a:ln>
        </p:spPr>
      </p:sp>
      <p:sp>
        <p:nvSpPr>
          <p:cNvPr id="14" name="Shape 11"/>
          <p:cNvSpPr/>
          <p:nvPr/>
        </p:nvSpPr>
        <p:spPr>
          <a:xfrm>
            <a:off x="685800" y="1783080"/>
            <a:ext cx="59436" cy="932688"/>
          </a:xfrm>
          <a:prstGeom prst="rect">
            <a:avLst/>
          </a:prstGeom>
          <a:solidFill>
            <a:srgbClr val="FF9810"/>
          </a:solidFill>
          <a:ln w="12700">
            <a:solidFill>
              <a:srgbClr val="FF9810"/>
            </a:solidFill>
            <a:prstDash val="solid"/>
          </a:ln>
        </p:spPr>
      </p:sp>
      <p:sp>
        <p:nvSpPr>
          <p:cNvPr id="15" name="Text 12"/>
          <p:cNvSpPr/>
          <p:nvPr/>
        </p:nvSpPr>
        <p:spPr>
          <a:xfrm>
            <a:off x="896112" y="1828800"/>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One local dependency</a:t>
            </a:r>
            <a:endParaRPr lang="en-US" sz="2500" dirty="0"/>
          </a:p>
        </p:txBody>
      </p:sp>
      <p:sp>
        <p:nvSpPr>
          <p:cNvPr id="16" name="Text 13"/>
          <p:cNvSpPr/>
          <p:nvPr/>
        </p:nvSpPr>
        <p:spPr>
          <a:xfrm>
            <a:off x="3886200" y="1828800"/>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 project using only a database or queue can run that dependency on its own.</a:t>
            </a:r>
            <a:endParaRPr lang="en-US" sz="2400" dirty="0"/>
          </a:p>
        </p:txBody>
      </p:sp>
      <p:sp>
        <p:nvSpPr>
          <p:cNvPr id="17" name="Shape 14"/>
          <p:cNvSpPr/>
          <p:nvPr/>
        </p:nvSpPr>
        <p:spPr>
          <a:xfrm>
            <a:off x="685800" y="2862072"/>
            <a:ext cx="3017520" cy="932688"/>
          </a:xfrm>
          <a:prstGeom prst="rect">
            <a:avLst/>
          </a:prstGeom>
          <a:solidFill>
            <a:srgbClr val="37325F"/>
          </a:solidFill>
          <a:ln w="12700">
            <a:solidFill>
              <a:srgbClr val="37325F"/>
            </a:solidFill>
            <a:prstDash val="solid"/>
          </a:ln>
        </p:spPr>
      </p:sp>
      <p:sp>
        <p:nvSpPr>
          <p:cNvPr id="18" name="Shape 15"/>
          <p:cNvSpPr/>
          <p:nvPr/>
        </p:nvSpPr>
        <p:spPr>
          <a:xfrm>
            <a:off x="3767328" y="2862072"/>
            <a:ext cx="7708392" cy="932688"/>
          </a:xfrm>
          <a:prstGeom prst="rect">
            <a:avLst/>
          </a:prstGeom>
          <a:solidFill>
            <a:srgbClr val="EAE7F2"/>
          </a:solidFill>
          <a:ln w="12700">
            <a:solidFill>
              <a:srgbClr val="EAE7F2"/>
            </a:solidFill>
            <a:prstDash val="solid"/>
          </a:ln>
        </p:spPr>
      </p:sp>
      <p:sp>
        <p:nvSpPr>
          <p:cNvPr id="19" name="Shape 16"/>
          <p:cNvSpPr/>
          <p:nvPr/>
        </p:nvSpPr>
        <p:spPr>
          <a:xfrm>
            <a:off x="685800" y="2862072"/>
            <a:ext cx="59436" cy="932688"/>
          </a:xfrm>
          <a:prstGeom prst="rect">
            <a:avLst/>
          </a:prstGeom>
          <a:solidFill>
            <a:srgbClr val="FF9810"/>
          </a:solidFill>
          <a:ln w="12700">
            <a:solidFill>
              <a:srgbClr val="FF9810"/>
            </a:solidFill>
            <a:prstDash val="solid"/>
          </a:ln>
        </p:spPr>
      </p:sp>
      <p:sp>
        <p:nvSpPr>
          <p:cNvPr id="20" name="Text 17"/>
          <p:cNvSpPr/>
          <p:nvPr/>
        </p:nvSpPr>
        <p:spPr>
          <a:xfrm>
            <a:off x="896112" y="2907792"/>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Test integration</a:t>
            </a:r>
            <a:endParaRPr lang="en-US" sz="2500" dirty="0"/>
          </a:p>
        </p:txBody>
      </p:sp>
      <p:sp>
        <p:nvSpPr>
          <p:cNvPr id="21" name="Text 18"/>
          <p:cNvSpPr/>
          <p:nvPr/>
        </p:nvSpPr>
        <p:spPr>
          <a:xfrm>
            <a:off x="3886200" y="2907792"/>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Replace AWS interactions within tests, or use a local HTTP server.</a:t>
            </a:r>
            <a:endParaRPr lang="en-US" sz="2400" dirty="0"/>
          </a:p>
        </p:txBody>
      </p:sp>
      <p:sp>
        <p:nvSpPr>
          <p:cNvPr id="22" name="Shape 19"/>
          <p:cNvSpPr/>
          <p:nvPr/>
        </p:nvSpPr>
        <p:spPr>
          <a:xfrm>
            <a:off x="685800" y="3941064"/>
            <a:ext cx="3017520" cy="932688"/>
          </a:xfrm>
          <a:prstGeom prst="rect">
            <a:avLst/>
          </a:prstGeom>
          <a:solidFill>
            <a:srgbClr val="37325F"/>
          </a:solidFill>
          <a:ln w="12700">
            <a:solidFill>
              <a:srgbClr val="37325F"/>
            </a:solidFill>
            <a:prstDash val="solid"/>
          </a:ln>
        </p:spPr>
      </p:sp>
      <p:sp>
        <p:nvSpPr>
          <p:cNvPr id="23" name="Shape 20"/>
          <p:cNvSpPr/>
          <p:nvPr/>
        </p:nvSpPr>
        <p:spPr>
          <a:xfrm>
            <a:off x="3767328" y="3941064"/>
            <a:ext cx="7708392" cy="932688"/>
          </a:xfrm>
          <a:prstGeom prst="rect">
            <a:avLst/>
          </a:prstGeom>
          <a:solidFill>
            <a:srgbClr val="EAE7F2"/>
          </a:solidFill>
          <a:ln w="12700">
            <a:solidFill>
              <a:srgbClr val="EAE7F2"/>
            </a:solidFill>
            <a:prstDash val="solid"/>
          </a:ln>
        </p:spPr>
      </p:sp>
      <p:sp>
        <p:nvSpPr>
          <p:cNvPr id="24" name="Shape 21"/>
          <p:cNvSpPr/>
          <p:nvPr/>
        </p:nvSpPr>
        <p:spPr>
          <a:xfrm>
            <a:off x="685800" y="3941064"/>
            <a:ext cx="59436" cy="932688"/>
          </a:xfrm>
          <a:prstGeom prst="rect">
            <a:avLst/>
          </a:prstGeom>
          <a:solidFill>
            <a:srgbClr val="FF9810"/>
          </a:solidFill>
          <a:ln w="12700">
            <a:solidFill>
              <a:srgbClr val="FF9810"/>
            </a:solidFill>
            <a:prstDash val="solid"/>
          </a:ln>
        </p:spPr>
      </p:sp>
      <p:sp>
        <p:nvSpPr>
          <p:cNvPr id="25" name="Text 22"/>
          <p:cNvSpPr/>
          <p:nvPr/>
        </p:nvSpPr>
        <p:spPr>
          <a:xfrm>
            <a:off x="896112" y="3986784"/>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Local Lambda code</a:t>
            </a:r>
            <a:endParaRPr lang="en-US" sz="2500" dirty="0"/>
          </a:p>
        </p:txBody>
      </p:sp>
      <p:sp>
        <p:nvSpPr>
          <p:cNvPr id="26" name="Text 23"/>
          <p:cNvSpPr/>
          <p:nvPr/>
        </p:nvSpPr>
        <p:spPr>
          <a:xfrm>
            <a:off x="3886200" y="3986784"/>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AWS SAM CLI runs functions and local API routes. Other service dependencies need separate setup.</a:t>
            </a:r>
            <a:endParaRPr lang="en-US" sz="2400" dirty="0"/>
          </a:p>
        </p:txBody>
      </p:sp>
      <p:sp>
        <p:nvSpPr>
          <p:cNvPr id="27" name="Shape 24"/>
          <p:cNvSpPr/>
          <p:nvPr/>
        </p:nvSpPr>
        <p:spPr>
          <a:xfrm>
            <a:off x="685800" y="5020056"/>
            <a:ext cx="3017520" cy="932688"/>
          </a:xfrm>
          <a:prstGeom prst="rect">
            <a:avLst/>
          </a:prstGeom>
          <a:solidFill>
            <a:srgbClr val="37325F"/>
          </a:solidFill>
          <a:ln w="12700">
            <a:solidFill>
              <a:srgbClr val="37325F"/>
            </a:solidFill>
            <a:prstDash val="solid"/>
          </a:ln>
        </p:spPr>
      </p:sp>
      <p:sp>
        <p:nvSpPr>
          <p:cNvPr id="28" name="Shape 25"/>
          <p:cNvSpPr/>
          <p:nvPr/>
        </p:nvSpPr>
        <p:spPr>
          <a:xfrm>
            <a:off x="3767328" y="5020056"/>
            <a:ext cx="7708392" cy="932688"/>
          </a:xfrm>
          <a:prstGeom prst="rect">
            <a:avLst/>
          </a:prstGeom>
          <a:solidFill>
            <a:srgbClr val="EAE7F2"/>
          </a:solidFill>
          <a:ln w="12700">
            <a:solidFill>
              <a:srgbClr val="EAE7F2"/>
            </a:solidFill>
            <a:prstDash val="solid"/>
          </a:ln>
        </p:spPr>
      </p:sp>
      <p:sp>
        <p:nvSpPr>
          <p:cNvPr id="29" name="Shape 26"/>
          <p:cNvSpPr/>
          <p:nvPr/>
        </p:nvSpPr>
        <p:spPr>
          <a:xfrm>
            <a:off x="685800" y="5020056"/>
            <a:ext cx="59436" cy="932688"/>
          </a:xfrm>
          <a:prstGeom prst="rect">
            <a:avLst/>
          </a:prstGeom>
          <a:solidFill>
            <a:srgbClr val="FF9810"/>
          </a:solidFill>
          <a:ln w="12700">
            <a:solidFill>
              <a:srgbClr val="FF9810"/>
            </a:solidFill>
            <a:prstDash val="solid"/>
          </a:ln>
        </p:spPr>
      </p:sp>
      <p:sp>
        <p:nvSpPr>
          <p:cNvPr id="30" name="Text 27"/>
          <p:cNvSpPr/>
          <p:nvPr/>
        </p:nvSpPr>
        <p:spPr>
          <a:xfrm>
            <a:off x="896112" y="5065776"/>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Access and licence</a:t>
            </a:r>
            <a:endParaRPr lang="en-US" sz="2500" dirty="0"/>
          </a:p>
        </p:txBody>
      </p:sp>
      <p:sp>
        <p:nvSpPr>
          <p:cNvPr id="31" name="Text 28"/>
          <p:cNvSpPr/>
          <p:nvPr/>
        </p:nvSpPr>
        <p:spPr>
          <a:xfrm>
            <a:off x="3886200" y="5065776"/>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Source access, commercial use and account requirements affect the choice.</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Alternatives to LocalStack</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Alternatives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12</a:t>
            </a:r>
            <a:endParaRPr lang="en-US" sz="1500" dirty="0"/>
          </a:p>
        </p:txBody>
      </p:sp>
      <p:sp>
        <p:nvSpPr>
          <p:cNvPr id="12" name="Shape 9"/>
          <p:cNvSpPr/>
          <p:nvPr/>
        </p:nvSpPr>
        <p:spPr>
          <a:xfrm>
            <a:off x="594360" y="1737360"/>
            <a:ext cx="11109960" cy="566928"/>
          </a:xfrm>
          <a:prstGeom prst="rect">
            <a:avLst/>
          </a:prstGeom>
          <a:solidFill>
            <a:srgbClr val="37325F"/>
          </a:solidFill>
          <a:ln w="12700">
            <a:solidFill>
              <a:srgbClr val="37325F"/>
            </a:solidFill>
            <a:prstDash val="solid"/>
          </a:ln>
        </p:spPr>
      </p:sp>
      <p:sp>
        <p:nvSpPr>
          <p:cNvPr id="13" name="Text 10"/>
          <p:cNvSpPr/>
          <p:nvPr/>
        </p:nvSpPr>
        <p:spPr>
          <a:xfrm>
            <a:off x="722376" y="1874520"/>
            <a:ext cx="212140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TOOL</a:t>
            </a:r>
            <a:endParaRPr lang="en-US" sz="1900" dirty="0"/>
          </a:p>
        </p:txBody>
      </p:sp>
      <p:sp>
        <p:nvSpPr>
          <p:cNvPr id="14" name="Text 11"/>
          <p:cNvSpPr/>
          <p:nvPr/>
        </p:nvSpPr>
        <p:spPr>
          <a:xfrm>
            <a:off x="3099816" y="1874520"/>
            <a:ext cx="399592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WHEN IT HELPS</a:t>
            </a:r>
            <a:endParaRPr lang="en-US" sz="1900" dirty="0"/>
          </a:p>
        </p:txBody>
      </p:sp>
      <p:sp>
        <p:nvSpPr>
          <p:cNvPr id="15" name="Text 12"/>
          <p:cNvSpPr/>
          <p:nvPr/>
        </p:nvSpPr>
        <p:spPr>
          <a:xfrm>
            <a:off x="7351776" y="1874520"/>
            <a:ext cx="422452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MAIN LIMIT</a:t>
            </a:r>
            <a:endParaRPr lang="en-US" sz="1900" dirty="0"/>
          </a:p>
        </p:txBody>
      </p:sp>
      <p:sp>
        <p:nvSpPr>
          <p:cNvPr id="16" name="Shape 13"/>
          <p:cNvSpPr/>
          <p:nvPr/>
        </p:nvSpPr>
        <p:spPr>
          <a:xfrm>
            <a:off x="594360" y="2304288"/>
            <a:ext cx="11109960" cy="960120"/>
          </a:xfrm>
          <a:prstGeom prst="rect">
            <a:avLst/>
          </a:prstGeom>
          <a:solidFill>
            <a:srgbClr val="FFFFFF"/>
          </a:solidFill>
          <a:ln w="12700">
            <a:solidFill>
              <a:srgbClr val="FFFFFF"/>
            </a:solidFill>
            <a:prstDash val="solid"/>
          </a:ln>
        </p:spPr>
      </p:sp>
      <p:sp>
        <p:nvSpPr>
          <p:cNvPr id="17" name="Shape 14"/>
          <p:cNvSpPr/>
          <p:nvPr/>
        </p:nvSpPr>
        <p:spPr>
          <a:xfrm>
            <a:off x="594360" y="2304288"/>
            <a:ext cx="2377440" cy="960120"/>
          </a:xfrm>
          <a:prstGeom prst="rect">
            <a:avLst/>
          </a:prstGeom>
          <a:solidFill>
            <a:srgbClr val="37325F"/>
          </a:solidFill>
          <a:ln w="12700">
            <a:solidFill>
              <a:srgbClr val="37325F"/>
            </a:solidFill>
            <a:prstDash val="solid"/>
          </a:ln>
        </p:spPr>
      </p:sp>
      <p:sp>
        <p:nvSpPr>
          <p:cNvPr id="18" name="Shape 15"/>
          <p:cNvSpPr/>
          <p:nvPr/>
        </p:nvSpPr>
        <p:spPr>
          <a:xfrm>
            <a:off x="594360" y="2304288"/>
            <a:ext cx="50292" cy="960120"/>
          </a:xfrm>
          <a:prstGeom prst="rect">
            <a:avLst/>
          </a:prstGeom>
          <a:solidFill>
            <a:srgbClr val="FF9810"/>
          </a:solidFill>
          <a:ln w="12700">
            <a:solidFill>
              <a:srgbClr val="FF9810"/>
            </a:solidFill>
            <a:prstDash val="solid"/>
          </a:ln>
        </p:spPr>
      </p:sp>
      <p:sp>
        <p:nvSpPr>
          <p:cNvPr id="19" name="Text 16"/>
          <p:cNvSpPr/>
          <p:nvPr/>
        </p:nvSpPr>
        <p:spPr>
          <a:xfrm>
            <a:off x="722376" y="2432304"/>
            <a:ext cx="2112264" cy="740664"/>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Moto</a:t>
            </a:r>
            <a:endParaRPr lang="en-US" sz="2400" dirty="0"/>
          </a:p>
        </p:txBody>
      </p:sp>
      <p:sp>
        <p:nvSpPr>
          <p:cNvPr id="20" name="Text 17"/>
          <p:cNvSpPr/>
          <p:nvPr/>
        </p:nvSpPr>
        <p:spPr>
          <a:xfrm>
            <a:off x="3099816" y="2432304"/>
            <a:ext cx="398678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AWS interactions in Python tests; HTTP server mode</a:t>
            </a:r>
            <a:endParaRPr lang="en-US" sz="2400" dirty="0"/>
          </a:p>
        </p:txBody>
      </p:sp>
      <p:sp>
        <p:nvSpPr>
          <p:cNvPr id="21" name="Text 18"/>
          <p:cNvSpPr/>
          <p:nvPr/>
        </p:nvSpPr>
        <p:spPr>
          <a:xfrm>
            <a:off x="7351776" y="2432304"/>
            <a:ext cx="421538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Coverage depends on the operation.</a:t>
            </a:r>
            <a:endParaRPr lang="en-US" sz="2400" dirty="0"/>
          </a:p>
        </p:txBody>
      </p:sp>
      <p:sp>
        <p:nvSpPr>
          <p:cNvPr id="22" name="Shape 19"/>
          <p:cNvSpPr/>
          <p:nvPr/>
        </p:nvSpPr>
        <p:spPr>
          <a:xfrm>
            <a:off x="594360" y="3264408"/>
            <a:ext cx="11109960" cy="960120"/>
          </a:xfrm>
          <a:prstGeom prst="rect">
            <a:avLst/>
          </a:prstGeom>
          <a:solidFill>
            <a:srgbClr val="EAE7F2"/>
          </a:solidFill>
          <a:ln w="12700">
            <a:solidFill>
              <a:srgbClr val="EAE7F2"/>
            </a:solidFill>
            <a:prstDash val="solid"/>
          </a:ln>
        </p:spPr>
      </p:sp>
      <p:sp>
        <p:nvSpPr>
          <p:cNvPr id="23" name="Shape 20"/>
          <p:cNvSpPr/>
          <p:nvPr/>
        </p:nvSpPr>
        <p:spPr>
          <a:xfrm>
            <a:off x="594360" y="3264408"/>
            <a:ext cx="2377440" cy="960120"/>
          </a:xfrm>
          <a:prstGeom prst="rect">
            <a:avLst/>
          </a:prstGeom>
          <a:solidFill>
            <a:srgbClr val="37325F"/>
          </a:solidFill>
          <a:ln w="12700">
            <a:solidFill>
              <a:srgbClr val="37325F"/>
            </a:solidFill>
            <a:prstDash val="solid"/>
          </a:ln>
        </p:spPr>
      </p:sp>
      <p:sp>
        <p:nvSpPr>
          <p:cNvPr id="24" name="Shape 21"/>
          <p:cNvSpPr/>
          <p:nvPr/>
        </p:nvSpPr>
        <p:spPr>
          <a:xfrm>
            <a:off x="594360" y="3264408"/>
            <a:ext cx="50292" cy="960120"/>
          </a:xfrm>
          <a:prstGeom prst="rect">
            <a:avLst/>
          </a:prstGeom>
          <a:solidFill>
            <a:srgbClr val="FF9810"/>
          </a:solidFill>
          <a:ln w="12700">
            <a:solidFill>
              <a:srgbClr val="FF9810"/>
            </a:solidFill>
            <a:prstDash val="solid"/>
          </a:ln>
        </p:spPr>
      </p:sp>
      <p:sp>
        <p:nvSpPr>
          <p:cNvPr id="25" name="Text 22"/>
          <p:cNvSpPr/>
          <p:nvPr/>
        </p:nvSpPr>
        <p:spPr>
          <a:xfrm>
            <a:off x="722376" y="3392424"/>
            <a:ext cx="2112264" cy="740664"/>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DynamoDB Local</a:t>
            </a:r>
            <a:endParaRPr lang="en-US" sz="2400" dirty="0"/>
          </a:p>
        </p:txBody>
      </p:sp>
      <p:sp>
        <p:nvSpPr>
          <p:cNvPr id="26" name="Text 23"/>
          <p:cNvSpPr/>
          <p:nvPr/>
        </p:nvSpPr>
        <p:spPr>
          <a:xfrm>
            <a:off x="3099816" y="3392424"/>
            <a:ext cx="398678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AWS-provided local DynamoDB database</a:t>
            </a:r>
            <a:endParaRPr lang="en-US" sz="2400" dirty="0"/>
          </a:p>
        </p:txBody>
      </p:sp>
      <p:sp>
        <p:nvSpPr>
          <p:cNvPr id="27" name="Text 24"/>
          <p:cNvSpPr/>
          <p:nvPr/>
        </p:nvSpPr>
        <p:spPr>
          <a:xfrm>
            <a:off x="7351776" y="3392424"/>
            <a:ext cx="421538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DynamoDB only; no queues or functions.</a:t>
            </a:r>
            <a:endParaRPr lang="en-US" sz="2400" dirty="0"/>
          </a:p>
        </p:txBody>
      </p:sp>
      <p:sp>
        <p:nvSpPr>
          <p:cNvPr id="28" name="Shape 25"/>
          <p:cNvSpPr/>
          <p:nvPr/>
        </p:nvSpPr>
        <p:spPr>
          <a:xfrm>
            <a:off x="594360" y="4224528"/>
            <a:ext cx="11109960" cy="960120"/>
          </a:xfrm>
          <a:prstGeom prst="rect">
            <a:avLst/>
          </a:prstGeom>
          <a:solidFill>
            <a:srgbClr val="FFFFFF"/>
          </a:solidFill>
          <a:ln w="12700">
            <a:solidFill>
              <a:srgbClr val="FFFFFF"/>
            </a:solidFill>
            <a:prstDash val="solid"/>
          </a:ln>
        </p:spPr>
      </p:sp>
      <p:sp>
        <p:nvSpPr>
          <p:cNvPr id="29" name="Shape 26"/>
          <p:cNvSpPr/>
          <p:nvPr/>
        </p:nvSpPr>
        <p:spPr>
          <a:xfrm>
            <a:off x="594360" y="4224528"/>
            <a:ext cx="2377440" cy="960120"/>
          </a:xfrm>
          <a:prstGeom prst="rect">
            <a:avLst/>
          </a:prstGeom>
          <a:solidFill>
            <a:srgbClr val="37325F"/>
          </a:solidFill>
          <a:ln w="12700">
            <a:solidFill>
              <a:srgbClr val="37325F"/>
            </a:solidFill>
            <a:prstDash val="solid"/>
          </a:ln>
        </p:spPr>
      </p:sp>
      <p:sp>
        <p:nvSpPr>
          <p:cNvPr id="30" name="Shape 27"/>
          <p:cNvSpPr/>
          <p:nvPr/>
        </p:nvSpPr>
        <p:spPr>
          <a:xfrm>
            <a:off x="594360" y="4224528"/>
            <a:ext cx="50292" cy="960120"/>
          </a:xfrm>
          <a:prstGeom prst="rect">
            <a:avLst/>
          </a:prstGeom>
          <a:solidFill>
            <a:srgbClr val="FF9810"/>
          </a:solidFill>
          <a:ln w="12700">
            <a:solidFill>
              <a:srgbClr val="FF9810"/>
            </a:solidFill>
            <a:prstDash val="solid"/>
          </a:ln>
        </p:spPr>
      </p:sp>
      <p:sp>
        <p:nvSpPr>
          <p:cNvPr id="31" name="Text 28"/>
          <p:cNvSpPr/>
          <p:nvPr/>
        </p:nvSpPr>
        <p:spPr>
          <a:xfrm>
            <a:off x="722376" y="4352544"/>
            <a:ext cx="2112264" cy="740664"/>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ElasticMQ</a:t>
            </a:r>
            <a:endParaRPr lang="en-US" sz="2400" dirty="0"/>
          </a:p>
        </p:txBody>
      </p:sp>
      <p:sp>
        <p:nvSpPr>
          <p:cNvPr id="32" name="Text 29"/>
          <p:cNvSpPr/>
          <p:nvPr/>
        </p:nvSpPr>
        <p:spPr>
          <a:xfrm>
            <a:off x="3099816" y="4352544"/>
            <a:ext cx="398678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Standalone SQS-compatible message queue</a:t>
            </a:r>
            <a:endParaRPr lang="en-US" sz="2400" dirty="0"/>
          </a:p>
        </p:txBody>
      </p:sp>
      <p:sp>
        <p:nvSpPr>
          <p:cNvPr id="33" name="Text 30"/>
          <p:cNvSpPr/>
          <p:nvPr/>
        </p:nvSpPr>
        <p:spPr>
          <a:xfrm>
            <a:off x="7351776" y="4352544"/>
            <a:ext cx="421538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Queues only; no other AWS services.</a:t>
            </a:r>
            <a:endParaRPr lang="en-US" sz="2400" dirty="0"/>
          </a:p>
        </p:txBody>
      </p:sp>
      <p:sp>
        <p:nvSpPr>
          <p:cNvPr id="34" name="Shape 31"/>
          <p:cNvSpPr/>
          <p:nvPr/>
        </p:nvSpPr>
        <p:spPr>
          <a:xfrm>
            <a:off x="594360" y="5184648"/>
            <a:ext cx="11109960" cy="960120"/>
          </a:xfrm>
          <a:prstGeom prst="rect">
            <a:avLst/>
          </a:prstGeom>
          <a:solidFill>
            <a:srgbClr val="EAE7F2"/>
          </a:solidFill>
          <a:ln w="12700">
            <a:solidFill>
              <a:srgbClr val="EAE7F2"/>
            </a:solidFill>
            <a:prstDash val="solid"/>
          </a:ln>
        </p:spPr>
      </p:sp>
      <p:sp>
        <p:nvSpPr>
          <p:cNvPr id="35" name="Shape 32"/>
          <p:cNvSpPr/>
          <p:nvPr/>
        </p:nvSpPr>
        <p:spPr>
          <a:xfrm>
            <a:off x="594360" y="5184648"/>
            <a:ext cx="2377440" cy="960120"/>
          </a:xfrm>
          <a:prstGeom prst="rect">
            <a:avLst/>
          </a:prstGeom>
          <a:solidFill>
            <a:srgbClr val="37325F"/>
          </a:solidFill>
          <a:ln w="12700">
            <a:solidFill>
              <a:srgbClr val="37325F"/>
            </a:solidFill>
            <a:prstDash val="solid"/>
          </a:ln>
        </p:spPr>
      </p:sp>
      <p:sp>
        <p:nvSpPr>
          <p:cNvPr id="36" name="Shape 33"/>
          <p:cNvSpPr/>
          <p:nvPr/>
        </p:nvSpPr>
        <p:spPr>
          <a:xfrm>
            <a:off x="594360" y="5184648"/>
            <a:ext cx="50292" cy="960120"/>
          </a:xfrm>
          <a:prstGeom prst="rect">
            <a:avLst/>
          </a:prstGeom>
          <a:solidFill>
            <a:srgbClr val="FF9810"/>
          </a:solidFill>
          <a:ln w="12700">
            <a:solidFill>
              <a:srgbClr val="FF9810"/>
            </a:solidFill>
            <a:prstDash val="solid"/>
          </a:ln>
        </p:spPr>
      </p:sp>
      <p:sp>
        <p:nvSpPr>
          <p:cNvPr id="37" name="Text 34"/>
          <p:cNvSpPr/>
          <p:nvPr/>
        </p:nvSpPr>
        <p:spPr>
          <a:xfrm>
            <a:off x="722376" y="5312664"/>
            <a:ext cx="2112264" cy="740664"/>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S3Mock</a:t>
            </a:r>
            <a:endParaRPr lang="en-US" sz="2400" dirty="0"/>
          </a:p>
        </p:txBody>
      </p:sp>
      <p:sp>
        <p:nvSpPr>
          <p:cNvPr id="38" name="Text 35"/>
          <p:cNvSpPr/>
          <p:nvPr/>
        </p:nvSpPr>
        <p:spPr>
          <a:xfrm>
            <a:off x="3099816" y="5312664"/>
            <a:ext cx="398678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S3 API with Docker and Java test integrations</a:t>
            </a:r>
            <a:endParaRPr lang="en-US" sz="2400" dirty="0"/>
          </a:p>
        </p:txBody>
      </p:sp>
      <p:sp>
        <p:nvSpPr>
          <p:cNvPr id="39" name="Text 36"/>
          <p:cNvSpPr/>
          <p:nvPr/>
        </p:nvSpPr>
        <p:spPr>
          <a:xfrm>
            <a:off x="7351776" y="5312664"/>
            <a:ext cx="421538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 subset of S3; no wider AWS environment.</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Why was FakeCloud created?</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FakeCloud</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13</a:t>
            </a:r>
            <a:endParaRPr lang="en-US" sz="1500" dirty="0"/>
          </a:p>
        </p:txBody>
      </p:sp>
      <p:sp>
        <p:nvSpPr>
          <p:cNvPr id="12" name="Shape 9"/>
          <p:cNvSpPr/>
          <p:nvPr/>
        </p:nvSpPr>
        <p:spPr>
          <a:xfrm>
            <a:off x="685800" y="1783080"/>
            <a:ext cx="3017520" cy="1088136"/>
          </a:xfrm>
          <a:prstGeom prst="rect">
            <a:avLst/>
          </a:prstGeom>
          <a:solidFill>
            <a:srgbClr val="37325F"/>
          </a:solidFill>
          <a:ln w="12700">
            <a:solidFill>
              <a:srgbClr val="37325F"/>
            </a:solidFill>
            <a:prstDash val="solid"/>
          </a:ln>
        </p:spPr>
      </p:sp>
      <p:sp>
        <p:nvSpPr>
          <p:cNvPr id="13" name="Shape 10"/>
          <p:cNvSpPr/>
          <p:nvPr/>
        </p:nvSpPr>
        <p:spPr>
          <a:xfrm>
            <a:off x="3767328" y="1783080"/>
            <a:ext cx="7708392" cy="1088136"/>
          </a:xfrm>
          <a:prstGeom prst="rect">
            <a:avLst/>
          </a:prstGeom>
          <a:solidFill>
            <a:srgbClr val="EAE7F2"/>
          </a:solidFill>
          <a:ln w="12700">
            <a:solidFill>
              <a:srgbClr val="EAE7F2"/>
            </a:solidFill>
            <a:prstDash val="solid"/>
          </a:ln>
        </p:spPr>
      </p:sp>
      <p:sp>
        <p:nvSpPr>
          <p:cNvPr id="14" name="Shape 11"/>
          <p:cNvSpPr/>
          <p:nvPr/>
        </p:nvSpPr>
        <p:spPr>
          <a:xfrm>
            <a:off x="685800" y="1783080"/>
            <a:ext cx="59436" cy="1088136"/>
          </a:xfrm>
          <a:prstGeom prst="rect">
            <a:avLst/>
          </a:prstGeom>
          <a:solidFill>
            <a:srgbClr val="FF9810"/>
          </a:solidFill>
          <a:ln w="12700">
            <a:solidFill>
              <a:srgbClr val="FF9810"/>
            </a:solidFill>
            <a:prstDash val="solid"/>
          </a:ln>
        </p:spPr>
      </p:sp>
      <p:sp>
        <p:nvSpPr>
          <p:cNvPr id="15" name="Text 12"/>
          <p:cNvSpPr/>
          <p:nvPr/>
        </p:nvSpPr>
        <p:spPr>
          <a:xfrm>
            <a:off x="896112" y="182880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CI failures</a:t>
            </a:r>
            <a:endParaRPr lang="en-US" sz="2500" dirty="0"/>
          </a:p>
        </p:txBody>
      </p:sp>
      <p:sp>
        <p:nvSpPr>
          <p:cNvPr id="16" name="Text 13"/>
          <p:cNvSpPr/>
          <p:nvPr/>
        </p:nvSpPr>
        <p:spPr>
          <a:xfrm>
            <a:off x="3886200" y="182880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Lucas Vieira reports broken builds after LocalStack introduced account activation.</a:t>
            </a:r>
            <a:endParaRPr lang="en-US" sz="2400" dirty="0"/>
          </a:p>
        </p:txBody>
      </p:sp>
      <p:sp>
        <p:nvSpPr>
          <p:cNvPr id="17" name="Shape 14"/>
          <p:cNvSpPr/>
          <p:nvPr/>
        </p:nvSpPr>
        <p:spPr>
          <a:xfrm>
            <a:off x="685800" y="3017520"/>
            <a:ext cx="3017520" cy="1088136"/>
          </a:xfrm>
          <a:prstGeom prst="rect">
            <a:avLst/>
          </a:prstGeom>
          <a:solidFill>
            <a:srgbClr val="37325F"/>
          </a:solidFill>
          <a:ln w="12700">
            <a:solidFill>
              <a:srgbClr val="37325F"/>
            </a:solidFill>
            <a:prstDash val="solid"/>
          </a:ln>
        </p:spPr>
      </p:sp>
      <p:sp>
        <p:nvSpPr>
          <p:cNvPr id="18" name="Shape 15"/>
          <p:cNvSpPr/>
          <p:nvPr/>
        </p:nvSpPr>
        <p:spPr>
          <a:xfrm>
            <a:off x="3767328" y="3017520"/>
            <a:ext cx="7708392" cy="1088136"/>
          </a:xfrm>
          <a:prstGeom prst="rect">
            <a:avLst/>
          </a:prstGeom>
          <a:solidFill>
            <a:srgbClr val="EAE7F2"/>
          </a:solidFill>
          <a:ln w="12700">
            <a:solidFill>
              <a:srgbClr val="EAE7F2"/>
            </a:solidFill>
            <a:prstDash val="solid"/>
          </a:ln>
        </p:spPr>
      </p:sp>
      <p:sp>
        <p:nvSpPr>
          <p:cNvPr id="19" name="Shape 16"/>
          <p:cNvSpPr/>
          <p:nvPr/>
        </p:nvSpPr>
        <p:spPr>
          <a:xfrm>
            <a:off x="685800" y="3017520"/>
            <a:ext cx="59436" cy="1088136"/>
          </a:xfrm>
          <a:prstGeom prst="rect">
            <a:avLst/>
          </a:prstGeom>
          <a:solidFill>
            <a:srgbClr val="FF9810"/>
          </a:solidFill>
          <a:ln w="12700">
            <a:solidFill>
              <a:srgbClr val="FF9810"/>
            </a:solidFill>
            <a:prstDash val="solid"/>
          </a:ln>
        </p:spPr>
      </p:sp>
      <p:sp>
        <p:nvSpPr>
          <p:cNvPr id="20" name="Text 17"/>
          <p:cNvSpPr/>
          <p:nvPr/>
        </p:nvSpPr>
        <p:spPr>
          <a:xfrm>
            <a:off x="896112" y="306324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Temporary workaround</a:t>
            </a:r>
            <a:endParaRPr lang="en-US" sz="2500" dirty="0"/>
          </a:p>
        </p:txBody>
      </p:sp>
      <p:sp>
        <p:nvSpPr>
          <p:cNvPr id="21" name="Text 18"/>
          <p:cNvSpPr/>
          <p:nvPr/>
        </p:nvSpPr>
        <p:spPr>
          <a:xfrm>
            <a:off x="3886200" y="306324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Keep an older LocalStack release. The concern: how long can the project rely on it?</a:t>
            </a:r>
            <a:endParaRPr lang="en-US" sz="2400" dirty="0"/>
          </a:p>
        </p:txBody>
      </p:sp>
      <p:sp>
        <p:nvSpPr>
          <p:cNvPr id="22" name="Shape 19"/>
          <p:cNvSpPr/>
          <p:nvPr/>
        </p:nvSpPr>
        <p:spPr>
          <a:xfrm>
            <a:off x="685800" y="4251960"/>
            <a:ext cx="3017520" cy="1088136"/>
          </a:xfrm>
          <a:prstGeom prst="rect">
            <a:avLst/>
          </a:prstGeom>
          <a:solidFill>
            <a:srgbClr val="37325F"/>
          </a:solidFill>
          <a:ln w="12700">
            <a:solidFill>
              <a:srgbClr val="37325F"/>
            </a:solidFill>
            <a:prstDash val="solid"/>
          </a:ln>
        </p:spPr>
      </p:sp>
      <p:sp>
        <p:nvSpPr>
          <p:cNvPr id="23" name="Shape 20"/>
          <p:cNvSpPr/>
          <p:nvPr/>
        </p:nvSpPr>
        <p:spPr>
          <a:xfrm>
            <a:off x="3767328" y="4251960"/>
            <a:ext cx="7708392" cy="1088136"/>
          </a:xfrm>
          <a:prstGeom prst="rect">
            <a:avLst/>
          </a:prstGeom>
          <a:solidFill>
            <a:srgbClr val="EAE7F2"/>
          </a:solidFill>
          <a:ln w="12700">
            <a:solidFill>
              <a:srgbClr val="EAE7F2"/>
            </a:solidFill>
            <a:prstDash val="solid"/>
          </a:ln>
        </p:spPr>
      </p:sp>
      <p:sp>
        <p:nvSpPr>
          <p:cNvPr id="24" name="Shape 21"/>
          <p:cNvSpPr/>
          <p:nvPr/>
        </p:nvSpPr>
        <p:spPr>
          <a:xfrm>
            <a:off x="685800" y="4251960"/>
            <a:ext cx="59436" cy="1088136"/>
          </a:xfrm>
          <a:prstGeom prst="rect">
            <a:avLst/>
          </a:prstGeom>
          <a:solidFill>
            <a:srgbClr val="FF9810"/>
          </a:solidFill>
          <a:ln w="12700">
            <a:solidFill>
              <a:srgbClr val="FF9810"/>
            </a:solidFill>
            <a:prstDash val="solid"/>
          </a:ln>
        </p:spPr>
      </p:sp>
      <p:sp>
        <p:nvSpPr>
          <p:cNvPr id="25" name="Text 22"/>
          <p:cNvSpPr/>
          <p:nvPr/>
        </p:nvSpPr>
        <p:spPr>
          <a:xfrm>
            <a:off x="896112" y="429768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A new emulator</a:t>
            </a:r>
            <a:endParaRPr lang="en-US" sz="2500" dirty="0"/>
          </a:p>
        </p:txBody>
      </p:sp>
      <p:sp>
        <p:nvSpPr>
          <p:cNvPr id="26" name="Text 23"/>
          <p:cNvSpPr/>
          <p:nvPr/>
        </p:nvSpPr>
        <p:spPr>
          <a:xfrm>
            <a:off x="3886200" y="429768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Started on 4 April 2026 to keep AWS-style integration testing free and open source.</a:t>
            </a:r>
            <a:endParaRPr lang="en-US" sz="2400" dirty="0"/>
          </a:p>
        </p:txBody>
      </p:sp>
      <p:sp>
        <p:nvSpPr>
          <p:cNvPr id="27" name="Shape 24"/>
          <p:cNvSpPr/>
          <p:nvPr/>
        </p:nvSpPr>
        <p:spPr>
          <a:xfrm>
            <a:off x="594360" y="5522976"/>
            <a:ext cx="11000232" cy="841248"/>
          </a:xfrm>
          <a:prstGeom prst="rect">
            <a:avLst/>
          </a:prstGeom>
          <a:solidFill>
            <a:srgbClr val="EAE7F2"/>
          </a:solidFill>
          <a:ln w="12700">
            <a:solidFill>
              <a:srgbClr val="EAE7F2"/>
            </a:solidFill>
            <a:prstDash val="solid"/>
          </a:ln>
        </p:spPr>
      </p:sp>
      <p:sp>
        <p:nvSpPr>
          <p:cNvPr id="28" name="Shape 25"/>
          <p:cNvSpPr/>
          <p:nvPr/>
        </p:nvSpPr>
        <p:spPr>
          <a:xfrm>
            <a:off x="594360" y="5522976"/>
            <a:ext cx="59436" cy="841248"/>
          </a:xfrm>
          <a:prstGeom prst="rect">
            <a:avLst/>
          </a:prstGeom>
          <a:solidFill>
            <a:srgbClr val="FF9810"/>
          </a:solidFill>
          <a:ln w="12700">
            <a:solidFill>
              <a:srgbClr val="FF9810"/>
            </a:solidFill>
            <a:prstDash val="solid"/>
          </a:ln>
        </p:spPr>
      </p:sp>
      <p:sp>
        <p:nvSpPr>
          <p:cNvPr id="29" name="Text 26"/>
          <p:cNvSpPr/>
          <p:nvPr/>
        </p:nvSpPr>
        <p:spPr>
          <a:xfrm>
            <a:off x="777240" y="5614416"/>
            <a:ext cx="10652760" cy="77724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Example: send a queue message and read back the same message.</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What can you use for free?</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capabilities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14</a:t>
            </a:r>
            <a:endParaRPr lang="en-US" sz="1500" dirty="0"/>
          </a:p>
        </p:txBody>
      </p:sp>
      <p:sp>
        <p:nvSpPr>
          <p:cNvPr id="12" name="Shape 9"/>
          <p:cNvSpPr/>
          <p:nvPr/>
        </p:nvSpPr>
        <p:spPr>
          <a:xfrm>
            <a:off x="594360" y="1645920"/>
            <a:ext cx="11109960" cy="566928"/>
          </a:xfrm>
          <a:prstGeom prst="rect">
            <a:avLst/>
          </a:prstGeom>
          <a:solidFill>
            <a:srgbClr val="37325F"/>
          </a:solidFill>
          <a:ln w="12700">
            <a:solidFill>
              <a:srgbClr val="37325F"/>
            </a:solidFill>
            <a:prstDash val="solid"/>
          </a:ln>
        </p:spPr>
      </p:sp>
      <p:sp>
        <p:nvSpPr>
          <p:cNvPr id="13" name="Text 10"/>
          <p:cNvSpPr/>
          <p:nvPr/>
        </p:nvSpPr>
        <p:spPr>
          <a:xfrm>
            <a:off x="722376" y="1783080"/>
            <a:ext cx="239572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FEATURE</a:t>
            </a:r>
            <a:endParaRPr lang="en-US" sz="1900" dirty="0"/>
          </a:p>
        </p:txBody>
      </p:sp>
      <p:sp>
        <p:nvSpPr>
          <p:cNvPr id="14" name="Text 11"/>
          <p:cNvSpPr/>
          <p:nvPr/>
        </p:nvSpPr>
        <p:spPr>
          <a:xfrm>
            <a:off x="3374136" y="1783080"/>
            <a:ext cx="372160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FAKECLOUD</a:t>
            </a:r>
            <a:endParaRPr lang="en-US" sz="1900" dirty="0"/>
          </a:p>
        </p:txBody>
      </p:sp>
      <p:sp>
        <p:nvSpPr>
          <p:cNvPr id="15" name="Text 12"/>
          <p:cNvSpPr/>
          <p:nvPr/>
        </p:nvSpPr>
        <p:spPr>
          <a:xfrm>
            <a:off x="7351776" y="1783080"/>
            <a:ext cx="422452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LOCALSTACK</a:t>
            </a:r>
            <a:endParaRPr lang="en-US" sz="1900" dirty="0"/>
          </a:p>
        </p:txBody>
      </p:sp>
      <p:sp>
        <p:nvSpPr>
          <p:cNvPr id="16" name="Shape 13"/>
          <p:cNvSpPr/>
          <p:nvPr/>
        </p:nvSpPr>
        <p:spPr>
          <a:xfrm>
            <a:off x="594360" y="2212848"/>
            <a:ext cx="11109960" cy="804672"/>
          </a:xfrm>
          <a:prstGeom prst="rect">
            <a:avLst/>
          </a:prstGeom>
          <a:solidFill>
            <a:srgbClr val="FFFFFF"/>
          </a:solidFill>
          <a:ln w="12700">
            <a:solidFill>
              <a:srgbClr val="FFFFFF"/>
            </a:solidFill>
            <a:prstDash val="solid"/>
          </a:ln>
        </p:spPr>
      </p:sp>
      <p:sp>
        <p:nvSpPr>
          <p:cNvPr id="17" name="Shape 14"/>
          <p:cNvSpPr/>
          <p:nvPr/>
        </p:nvSpPr>
        <p:spPr>
          <a:xfrm>
            <a:off x="594360" y="2212848"/>
            <a:ext cx="2651760" cy="804672"/>
          </a:xfrm>
          <a:prstGeom prst="rect">
            <a:avLst/>
          </a:prstGeom>
          <a:solidFill>
            <a:srgbClr val="37325F"/>
          </a:solidFill>
          <a:ln w="12700">
            <a:solidFill>
              <a:srgbClr val="37325F"/>
            </a:solidFill>
            <a:prstDash val="solid"/>
          </a:ln>
        </p:spPr>
      </p:sp>
      <p:sp>
        <p:nvSpPr>
          <p:cNvPr id="18" name="Shape 15"/>
          <p:cNvSpPr/>
          <p:nvPr/>
        </p:nvSpPr>
        <p:spPr>
          <a:xfrm>
            <a:off x="594360" y="2212848"/>
            <a:ext cx="50292" cy="804672"/>
          </a:xfrm>
          <a:prstGeom prst="rect">
            <a:avLst/>
          </a:prstGeom>
          <a:solidFill>
            <a:srgbClr val="FF9810"/>
          </a:solidFill>
          <a:ln w="12700">
            <a:solidFill>
              <a:srgbClr val="FF9810"/>
            </a:solidFill>
            <a:prstDash val="solid"/>
          </a:ln>
        </p:spPr>
      </p:sp>
      <p:sp>
        <p:nvSpPr>
          <p:cNvPr id="19" name="Text 16"/>
          <p:cNvSpPr/>
          <p:nvPr/>
        </p:nvSpPr>
        <p:spPr>
          <a:xfrm>
            <a:off x="722376" y="2249424"/>
            <a:ext cx="2386584" cy="731520"/>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Free use</a:t>
            </a:r>
            <a:endParaRPr lang="en-US" sz="2400" dirty="0"/>
          </a:p>
        </p:txBody>
      </p:sp>
      <p:sp>
        <p:nvSpPr>
          <p:cNvPr id="20" name="Text 17"/>
          <p:cNvSpPr/>
          <p:nvPr/>
        </p:nvSpPr>
        <p:spPr>
          <a:xfrm>
            <a:off x="3374136" y="2249424"/>
            <a:ext cx="3712464"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AGPL-3.0; no paid tier</a:t>
            </a:r>
            <a:endParaRPr lang="en-US" sz="2400" dirty="0"/>
          </a:p>
        </p:txBody>
      </p:sp>
      <p:sp>
        <p:nvSpPr>
          <p:cNvPr id="21" name="Text 18"/>
          <p:cNvSpPr/>
          <p:nvPr/>
        </p:nvSpPr>
        <p:spPr>
          <a:xfrm>
            <a:off x="7351776" y="2249424"/>
            <a:ext cx="4215384"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Hobby: non-commercial use</a:t>
            </a:r>
            <a:endParaRPr lang="en-US" sz="2400" dirty="0"/>
          </a:p>
        </p:txBody>
      </p:sp>
      <p:sp>
        <p:nvSpPr>
          <p:cNvPr id="22" name="Shape 19"/>
          <p:cNvSpPr/>
          <p:nvPr/>
        </p:nvSpPr>
        <p:spPr>
          <a:xfrm>
            <a:off x="594360" y="3017520"/>
            <a:ext cx="11109960" cy="804672"/>
          </a:xfrm>
          <a:prstGeom prst="rect">
            <a:avLst/>
          </a:prstGeom>
          <a:solidFill>
            <a:srgbClr val="EAE7F2"/>
          </a:solidFill>
          <a:ln w="12700">
            <a:solidFill>
              <a:srgbClr val="EAE7F2"/>
            </a:solidFill>
            <a:prstDash val="solid"/>
          </a:ln>
        </p:spPr>
      </p:sp>
      <p:sp>
        <p:nvSpPr>
          <p:cNvPr id="23" name="Shape 20"/>
          <p:cNvSpPr/>
          <p:nvPr/>
        </p:nvSpPr>
        <p:spPr>
          <a:xfrm>
            <a:off x="594360" y="3017520"/>
            <a:ext cx="2651760" cy="804672"/>
          </a:xfrm>
          <a:prstGeom prst="rect">
            <a:avLst/>
          </a:prstGeom>
          <a:solidFill>
            <a:srgbClr val="37325F"/>
          </a:solidFill>
          <a:ln w="12700">
            <a:solidFill>
              <a:srgbClr val="37325F"/>
            </a:solidFill>
            <a:prstDash val="solid"/>
          </a:ln>
        </p:spPr>
      </p:sp>
      <p:sp>
        <p:nvSpPr>
          <p:cNvPr id="24" name="Shape 21"/>
          <p:cNvSpPr/>
          <p:nvPr/>
        </p:nvSpPr>
        <p:spPr>
          <a:xfrm>
            <a:off x="594360" y="3017520"/>
            <a:ext cx="50292" cy="804672"/>
          </a:xfrm>
          <a:prstGeom prst="rect">
            <a:avLst/>
          </a:prstGeom>
          <a:solidFill>
            <a:srgbClr val="FF9810"/>
          </a:solidFill>
          <a:ln w="12700">
            <a:solidFill>
              <a:srgbClr val="FF9810"/>
            </a:solidFill>
            <a:prstDash val="solid"/>
          </a:ln>
        </p:spPr>
      </p:sp>
      <p:sp>
        <p:nvSpPr>
          <p:cNvPr id="25" name="Text 22"/>
          <p:cNvSpPr/>
          <p:nvPr/>
        </p:nvSpPr>
        <p:spPr>
          <a:xfrm>
            <a:off x="722376" y="3054096"/>
            <a:ext cx="2386584" cy="731520"/>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Service catalogue</a:t>
            </a:r>
            <a:endParaRPr lang="en-US" sz="2400" dirty="0"/>
          </a:p>
        </p:txBody>
      </p:sp>
      <p:sp>
        <p:nvSpPr>
          <p:cNvPr id="26" name="Text 23"/>
          <p:cNvSpPr/>
          <p:nvPr/>
        </p:nvSpPr>
        <p:spPr>
          <a:xfrm>
            <a:off x="3374136" y="3054096"/>
            <a:ext cx="3712464"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100+ services advertised</a:t>
            </a:r>
            <a:endParaRPr lang="en-US" sz="2400" dirty="0"/>
          </a:p>
        </p:txBody>
      </p:sp>
      <p:sp>
        <p:nvSpPr>
          <p:cNvPr id="27" name="Text 24"/>
          <p:cNvSpPr/>
          <p:nvPr/>
        </p:nvSpPr>
        <p:spPr>
          <a:xfrm>
            <a:off x="7351776" y="3054096"/>
            <a:ext cx="4215384"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Hobby: 30+; Base: 55+; Ultimate: 110+</a:t>
            </a:r>
            <a:endParaRPr lang="en-US" sz="2400" dirty="0"/>
          </a:p>
        </p:txBody>
      </p:sp>
      <p:sp>
        <p:nvSpPr>
          <p:cNvPr id="28" name="Shape 25"/>
          <p:cNvSpPr/>
          <p:nvPr/>
        </p:nvSpPr>
        <p:spPr>
          <a:xfrm>
            <a:off x="594360" y="3822192"/>
            <a:ext cx="11109960" cy="804672"/>
          </a:xfrm>
          <a:prstGeom prst="rect">
            <a:avLst/>
          </a:prstGeom>
          <a:solidFill>
            <a:srgbClr val="FFFFFF"/>
          </a:solidFill>
          <a:ln w="12700">
            <a:solidFill>
              <a:srgbClr val="FFFFFF"/>
            </a:solidFill>
            <a:prstDash val="solid"/>
          </a:ln>
        </p:spPr>
      </p:sp>
      <p:sp>
        <p:nvSpPr>
          <p:cNvPr id="29" name="Shape 26"/>
          <p:cNvSpPr/>
          <p:nvPr/>
        </p:nvSpPr>
        <p:spPr>
          <a:xfrm>
            <a:off x="594360" y="3822192"/>
            <a:ext cx="2651760" cy="804672"/>
          </a:xfrm>
          <a:prstGeom prst="rect">
            <a:avLst/>
          </a:prstGeom>
          <a:solidFill>
            <a:srgbClr val="37325F"/>
          </a:solidFill>
          <a:ln w="12700">
            <a:solidFill>
              <a:srgbClr val="37325F"/>
            </a:solidFill>
            <a:prstDash val="solid"/>
          </a:ln>
        </p:spPr>
      </p:sp>
      <p:sp>
        <p:nvSpPr>
          <p:cNvPr id="30" name="Shape 27"/>
          <p:cNvSpPr/>
          <p:nvPr/>
        </p:nvSpPr>
        <p:spPr>
          <a:xfrm>
            <a:off x="594360" y="3822192"/>
            <a:ext cx="50292" cy="804672"/>
          </a:xfrm>
          <a:prstGeom prst="rect">
            <a:avLst/>
          </a:prstGeom>
          <a:solidFill>
            <a:srgbClr val="FF9810"/>
          </a:solidFill>
          <a:ln w="12700">
            <a:solidFill>
              <a:srgbClr val="FF9810"/>
            </a:solidFill>
            <a:prstDash val="solid"/>
          </a:ln>
        </p:spPr>
      </p:sp>
      <p:sp>
        <p:nvSpPr>
          <p:cNvPr id="31" name="Text 28"/>
          <p:cNvSpPr/>
          <p:nvPr/>
        </p:nvSpPr>
        <p:spPr>
          <a:xfrm>
            <a:off x="722376" y="3858768"/>
            <a:ext cx="2386584" cy="731520"/>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Common AWS services</a:t>
            </a:r>
            <a:endParaRPr lang="en-US" sz="2400" dirty="0"/>
          </a:p>
        </p:txBody>
      </p:sp>
      <p:sp>
        <p:nvSpPr>
          <p:cNvPr id="32" name="Text 29"/>
          <p:cNvSpPr/>
          <p:nvPr/>
        </p:nvSpPr>
        <p:spPr>
          <a:xfrm>
            <a:off x="3374136" y="3858768"/>
            <a:ext cx="3712464"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S3, SQS, Lambda, DynamoDB</a:t>
            </a:r>
            <a:endParaRPr lang="en-US" sz="2400" dirty="0"/>
          </a:p>
        </p:txBody>
      </p:sp>
      <p:sp>
        <p:nvSpPr>
          <p:cNvPr id="33" name="Text 30"/>
          <p:cNvSpPr/>
          <p:nvPr/>
        </p:nvSpPr>
        <p:spPr>
          <a:xfrm>
            <a:off x="7351776" y="3858768"/>
            <a:ext cx="4215384"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Available in Hobby</a:t>
            </a:r>
            <a:endParaRPr lang="en-US" sz="2400" dirty="0"/>
          </a:p>
        </p:txBody>
      </p:sp>
      <p:sp>
        <p:nvSpPr>
          <p:cNvPr id="34" name="Shape 31"/>
          <p:cNvSpPr/>
          <p:nvPr/>
        </p:nvSpPr>
        <p:spPr>
          <a:xfrm>
            <a:off x="594360" y="4626864"/>
            <a:ext cx="11109960" cy="804672"/>
          </a:xfrm>
          <a:prstGeom prst="rect">
            <a:avLst/>
          </a:prstGeom>
          <a:solidFill>
            <a:srgbClr val="EAE7F2"/>
          </a:solidFill>
          <a:ln w="12700">
            <a:solidFill>
              <a:srgbClr val="EAE7F2"/>
            </a:solidFill>
            <a:prstDash val="solid"/>
          </a:ln>
        </p:spPr>
      </p:sp>
      <p:sp>
        <p:nvSpPr>
          <p:cNvPr id="35" name="Shape 32"/>
          <p:cNvSpPr/>
          <p:nvPr/>
        </p:nvSpPr>
        <p:spPr>
          <a:xfrm>
            <a:off x="594360" y="4626864"/>
            <a:ext cx="2651760" cy="804672"/>
          </a:xfrm>
          <a:prstGeom prst="rect">
            <a:avLst/>
          </a:prstGeom>
          <a:solidFill>
            <a:srgbClr val="37325F"/>
          </a:solidFill>
          <a:ln w="12700">
            <a:solidFill>
              <a:srgbClr val="37325F"/>
            </a:solidFill>
            <a:prstDash val="solid"/>
          </a:ln>
        </p:spPr>
      </p:sp>
      <p:sp>
        <p:nvSpPr>
          <p:cNvPr id="36" name="Shape 33"/>
          <p:cNvSpPr/>
          <p:nvPr/>
        </p:nvSpPr>
        <p:spPr>
          <a:xfrm>
            <a:off x="594360" y="4626864"/>
            <a:ext cx="50292" cy="804672"/>
          </a:xfrm>
          <a:prstGeom prst="rect">
            <a:avLst/>
          </a:prstGeom>
          <a:solidFill>
            <a:srgbClr val="FF9810"/>
          </a:solidFill>
          <a:ln w="12700">
            <a:solidFill>
              <a:srgbClr val="FF9810"/>
            </a:solidFill>
            <a:prstDash val="solid"/>
          </a:ln>
        </p:spPr>
      </p:sp>
      <p:sp>
        <p:nvSpPr>
          <p:cNvPr id="37" name="Text 34"/>
          <p:cNvSpPr/>
          <p:nvPr/>
        </p:nvSpPr>
        <p:spPr>
          <a:xfrm>
            <a:off x="722376" y="4663440"/>
            <a:ext cx="2386584" cy="731520"/>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User login</a:t>
            </a:r>
            <a:endParaRPr lang="en-US" sz="2400" dirty="0"/>
          </a:p>
        </p:txBody>
      </p:sp>
      <p:sp>
        <p:nvSpPr>
          <p:cNvPr id="38" name="Text 35"/>
          <p:cNvSpPr/>
          <p:nvPr/>
        </p:nvSpPr>
        <p:spPr>
          <a:xfrm>
            <a:off x="3374136" y="4663440"/>
            <a:ext cx="3712464"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Cognito signup/login APIs</a:t>
            </a:r>
            <a:endParaRPr lang="en-US" sz="2400" dirty="0"/>
          </a:p>
        </p:txBody>
      </p:sp>
      <p:sp>
        <p:nvSpPr>
          <p:cNvPr id="39" name="Text 36"/>
          <p:cNvSpPr/>
          <p:nvPr/>
        </p:nvSpPr>
        <p:spPr>
          <a:xfrm>
            <a:off x="7351776" y="4663440"/>
            <a:ext cx="4215384"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Base or Ultimate</a:t>
            </a:r>
            <a:endParaRPr lang="en-US" sz="2400" dirty="0"/>
          </a:p>
        </p:txBody>
      </p:sp>
      <p:sp>
        <p:nvSpPr>
          <p:cNvPr id="40" name="Shape 37"/>
          <p:cNvSpPr/>
          <p:nvPr/>
        </p:nvSpPr>
        <p:spPr>
          <a:xfrm>
            <a:off x="594360" y="5431536"/>
            <a:ext cx="11109960" cy="804672"/>
          </a:xfrm>
          <a:prstGeom prst="rect">
            <a:avLst/>
          </a:prstGeom>
          <a:solidFill>
            <a:srgbClr val="FFFFFF"/>
          </a:solidFill>
          <a:ln w="12700">
            <a:solidFill>
              <a:srgbClr val="FFFFFF"/>
            </a:solidFill>
            <a:prstDash val="solid"/>
          </a:ln>
        </p:spPr>
      </p:sp>
      <p:sp>
        <p:nvSpPr>
          <p:cNvPr id="41" name="Shape 38"/>
          <p:cNvSpPr/>
          <p:nvPr/>
        </p:nvSpPr>
        <p:spPr>
          <a:xfrm>
            <a:off x="594360" y="5431536"/>
            <a:ext cx="2651760" cy="804672"/>
          </a:xfrm>
          <a:prstGeom prst="rect">
            <a:avLst/>
          </a:prstGeom>
          <a:solidFill>
            <a:srgbClr val="37325F"/>
          </a:solidFill>
          <a:ln w="12700">
            <a:solidFill>
              <a:srgbClr val="37325F"/>
            </a:solidFill>
            <a:prstDash val="solid"/>
          </a:ln>
        </p:spPr>
      </p:sp>
      <p:sp>
        <p:nvSpPr>
          <p:cNvPr id="42" name="Shape 39"/>
          <p:cNvSpPr/>
          <p:nvPr/>
        </p:nvSpPr>
        <p:spPr>
          <a:xfrm>
            <a:off x="594360" y="5431536"/>
            <a:ext cx="50292" cy="804672"/>
          </a:xfrm>
          <a:prstGeom prst="rect">
            <a:avLst/>
          </a:prstGeom>
          <a:solidFill>
            <a:srgbClr val="FF9810"/>
          </a:solidFill>
          <a:ln w="12700">
            <a:solidFill>
              <a:srgbClr val="FF9810"/>
            </a:solidFill>
            <a:prstDash val="solid"/>
          </a:ln>
        </p:spPr>
      </p:sp>
      <p:sp>
        <p:nvSpPr>
          <p:cNvPr id="43" name="Text 40"/>
          <p:cNvSpPr/>
          <p:nvPr/>
        </p:nvSpPr>
        <p:spPr>
          <a:xfrm>
            <a:off x="722376" y="5468112"/>
            <a:ext cx="2386584" cy="731520"/>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Keep data on restart</a:t>
            </a:r>
            <a:endParaRPr lang="en-US" sz="2400" dirty="0"/>
          </a:p>
        </p:txBody>
      </p:sp>
      <p:sp>
        <p:nvSpPr>
          <p:cNvPr id="44" name="Text 41"/>
          <p:cNvSpPr/>
          <p:nvPr/>
        </p:nvSpPr>
        <p:spPr>
          <a:xfrm>
            <a:off x="3374136" y="5468112"/>
            <a:ext cx="3712464"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Save local data to disk</a:t>
            </a:r>
            <a:endParaRPr lang="en-US" sz="2400" dirty="0"/>
          </a:p>
        </p:txBody>
      </p:sp>
      <p:sp>
        <p:nvSpPr>
          <p:cNvPr id="45" name="Text 42"/>
          <p:cNvSpPr/>
          <p:nvPr/>
        </p:nvSpPr>
        <p:spPr>
          <a:xfrm>
            <a:off x="7351776" y="5468112"/>
            <a:ext cx="4215384" cy="7315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Base or Ultimate</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Breadth, depth and integration</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capabilities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15</a:t>
            </a:r>
            <a:endParaRPr lang="en-US" sz="1500" dirty="0"/>
          </a:p>
        </p:txBody>
      </p:sp>
      <p:sp>
        <p:nvSpPr>
          <p:cNvPr id="12" name="Shape 9"/>
          <p:cNvSpPr/>
          <p:nvPr/>
        </p:nvSpPr>
        <p:spPr>
          <a:xfrm>
            <a:off x="685800" y="1783080"/>
            <a:ext cx="3017520" cy="1088136"/>
          </a:xfrm>
          <a:prstGeom prst="rect">
            <a:avLst/>
          </a:prstGeom>
          <a:solidFill>
            <a:srgbClr val="37325F"/>
          </a:solidFill>
          <a:ln w="12700">
            <a:solidFill>
              <a:srgbClr val="37325F"/>
            </a:solidFill>
            <a:prstDash val="solid"/>
          </a:ln>
        </p:spPr>
      </p:sp>
      <p:sp>
        <p:nvSpPr>
          <p:cNvPr id="13" name="Shape 10"/>
          <p:cNvSpPr/>
          <p:nvPr/>
        </p:nvSpPr>
        <p:spPr>
          <a:xfrm>
            <a:off x="3767328" y="1783080"/>
            <a:ext cx="7708392" cy="1088136"/>
          </a:xfrm>
          <a:prstGeom prst="rect">
            <a:avLst/>
          </a:prstGeom>
          <a:solidFill>
            <a:srgbClr val="EAE7F2"/>
          </a:solidFill>
          <a:ln w="12700">
            <a:solidFill>
              <a:srgbClr val="EAE7F2"/>
            </a:solidFill>
            <a:prstDash val="solid"/>
          </a:ln>
        </p:spPr>
      </p:sp>
      <p:sp>
        <p:nvSpPr>
          <p:cNvPr id="14" name="Shape 11"/>
          <p:cNvSpPr/>
          <p:nvPr/>
        </p:nvSpPr>
        <p:spPr>
          <a:xfrm>
            <a:off x="685800" y="1783080"/>
            <a:ext cx="59436" cy="1088136"/>
          </a:xfrm>
          <a:prstGeom prst="rect">
            <a:avLst/>
          </a:prstGeom>
          <a:solidFill>
            <a:srgbClr val="FF9810"/>
          </a:solidFill>
          <a:ln w="12700">
            <a:solidFill>
              <a:srgbClr val="FF9810"/>
            </a:solidFill>
            <a:prstDash val="solid"/>
          </a:ln>
        </p:spPr>
      </p:sp>
      <p:sp>
        <p:nvSpPr>
          <p:cNvPr id="15" name="Text 12"/>
          <p:cNvSpPr/>
          <p:nvPr/>
        </p:nvSpPr>
        <p:spPr>
          <a:xfrm>
            <a:off x="896112" y="182880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Breadth</a:t>
            </a:r>
            <a:endParaRPr lang="en-US" sz="2500" dirty="0"/>
          </a:p>
        </p:txBody>
      </p:sp>
      <p:sp>
        <p:nvSpPr>
          <p:cNvPr id="16" name="Text 13"/>
          <p:cNvSpPr/>
          <p:nvPr/>
        </p:nvSpPr>
        <p:spPr>
          <a:xfrm>
            <a:off x="3886200" y="182880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How many services are covered? Storage, queues, functions, databases and more.</a:t>
            </a:r>
            <a:endParaRPr lang="en-US" sz="2400" dirty="0"/>
          </a:p>
        </p:txBody>
      </p:sp>
      <p:sp>
        <p:nvSpPr>
          <p:cNvPr id="17" name="Shape 14"/>
          <p:cNvSpPr/>
          <p:nvPr/>
        </p:nvSpPr>
        <p:spPr>
          <a:xfrm>
            <a:off x="685800" y="3017520"/>
            <a:ext cx="3017520" cy="1088136"/>
          </a:xfrm>
          <a:prstGeom prst="rect">
            <a:avLst/>
          </a:prstGeom>
          <a:solidFill>
            <a:srgbClr val="37325F"/>
          </a:solidFill>
          <a:ln w="12700">
            <a:solidFill>
              <a:srgbClr val="37325F"/>
            </a:solidFill>
            <a:prstDash val="solid"/>
          </a:ln>
        </p:spPr>
      </p:sp>
      <p:sp>
        <p:nvSpPr>
          <p:cNvPr id="18" name="Shape 15"/>
          <p:cNvSpPr/>
          <p:nvPr/>
        </p:nvSpPr>
        <p:spPr>
          <a:xfrm>
            <a:off x="3767328" y="3017520"/>
            <a:ext cx="7708392" cy="1088136"/>
          </a:xfrm>
          <a:prstGeom prst="rect">
            <a:avLst/>
          </a:prstGeom>
          <a:solidFill>
            <a:srgbClr val="EAE7F2"/>
          </a:solidFill>
          <a:ln w="12700">
            <a:solidFill>
              <a:srgbClr val="EAE7F2"/>
            </a:solidFill>
            <a:prstDash val="solid"/>
          </a:ln>
        </p:spPr>
      </p:sp>
      <p:sp>
        <p:nvSpPr>
          <p:cNvPr id="19" name="Shape 16"/>
          <p:cNvSpPr/>
          <p:nvPr/>
        </p:nvSpPr>
        <p:spPr>
          <a:xfrm>
            <a:off x="685800" y="3017520"/>
            <a:ext cx="59436" cy="1088136"/>
          </a:xfrm>
          <a:prstGeom prst="rect">
            <a:avLst/>
          </a:prstGeom>
          <a:solidFill>
            <a:srgbClr val="FF9810"/>
          </a:solidFill>
          <a:ln w="12700">
            <a:solidFill>
              <a:srgbClr val="FF9810"/>
            </a:solidFill>
            <a:prstDash val="solid"/>
          </a:ln>
        </p:spPr>
      </p:sp>
      <p:sp>
        <p:nvSpPr>
          <p:cNvPr id="20" name="Text 17"/>
          <p:cNvSpPr/>
          <p:nvPr/>
        </p:nvSpPr>
        <p:spPr>
          <a:xfrm>
            <a:off x="896112" y="306324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Depth</a:t>
            </a:r>
            <a:endParaRPr lang="en-US" sz="2500" dirty="0"/>
          </a:p>
        </p:txBody>
      </p:sp>
      <p:sp>
        <p:nvSpPr>
          <p:cNvPr id="21" name="Text 18"/>
          <p:cNvSpPr/>
          <p:nvPr/>
        </p:nvSpPr>
        <p:spPr>
          <a:xfrm>
            <a:off x="3886200" y="306324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How fully does each service behave like AWS? Older file versions and error handling are examples.</a:t>
            </a:r>
            <a:endParaRPr lang="en-US" sz="2400" dirty="0"/>
          </a:p>
        </p:txBody>
      </p:sp>
      <p:sp>
        <p:nvSpPr>
          <p:cNvPr id="22" name="Shape 19"/>
          <p:cNvSpPr/>
          <p:nvPr/>
        </p:nvSpPr>
        <p:spPr>
          <a:xfrm>
            <a:off x="685800" y="4251960"/>
            <a:ext cx="3017520" cy="1088136"/>
          </a:xfrm>
          <a:prstGeom prst="rect">
            <a:avLst/>
          </a:prstGeom>
          <a:solidFill>
            <a:srgbClr val="37325F"/>
          </a:solidFill>
          <a:ln w="12700">
            <a:solidFill>
              <a:srgbClr val="37325F"/>
            </a:solidFill>
            <a:prstDash val="solid"/>
          </a:ln>
        </p:spPr>
      </p:sp>
      <p:sp>
        <p:nvSpPr>
          <p:cNvPr id="23" name="Shape 20"/>
          <p:cNvSpPr/>
          <p:nvPr/>
        </p:nvSpPr>
        <p:spPr>
          <a:xfrm>
            <a:off x="3767328" y="4251960"/>
            <a:ext cx="7708392" cy="1088136"/>
          </a:xfrm>
          <a:prstGeom prst="rect">
            <a:avLst/>
          </a:prstGeom>
          <a:solidFill>
            <a:srgbClr val="EAE7F2"/>
          </a:solidFill>
          <a:ln w="12700">
            <a:solidFill>
              <a:srgbClr val="EAE7F2"/>
            </a:solidFill>
            <a:prstDash val="solid"/>
          </a:ln>
        </p:spPr>
      </p:sp>
      <p:sp>
        <p:nvSpPr>
          <p:cNvPr id="24" name="Shape 21"/>
          <p:cNvSpPr/>
          <p:nvPr/>
        </p:nvSpPr>
        <p:spPr>
          <a:xfrm>
            <a:off x="685800" y="4251960"/>
            <a:ext cx="59436" cy="1088136"/>
          </a:xfrm>
          <a:prstGeom prst="rect">
            <a:avLst/>
          </a:prstGeom>
          <a:solidFill>
            <a:srgbClr val="FF9810"/>
          </a:solidFill>
          <a:ln w="12700">
            <a:solidFill>
              <a:srgbClr val="FF9810"/>
            </a:solidFill>
            <a:prstDash val="solid"/>
          </a:ln>
        </p:spPr>
      </p:sp>
      <p:sp>
        <p:nvSpPr>
          <p:cNvPr id="25" name="Text 22"/>
          <p:cNvSpPr/>
          <p:nvPr/>
        </p:nvSpPr>
        <p:spPr>
          <a:xfrm>
            <a:off x="896112" y="429768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Integration</a:t>
            </a:r>
            <a:endParaRPr lang="en-US" sz="2500" dirty="0"/>
          </a:p>
        </p:txBody>
      </p:sp>
      <p:sp>
        <p:nvSpPr>
          <p:cNvPr id="26" name="Text 23"/>
          <p:cNvSpPr/>
          <p:nvPr/>
        </p:nvSpPr>
        <p:spPr>
          <a:xfrm>
            <a:off x="3886200" y="429768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Do services work together? An S3 upload can notify a queue or trigger a Lambda function.</a:t>
            </a:r>
            <a:endParaRPr lang="en-US" sz="2400" dirty="0"/>
          </a:p>
        </p:txBody>
      </p:sp>
      <p:sp>
        <p:nvSpPr>
          <p:cNvPr id="27" name="Shape 24"/>
          <p:cNvSpPr/>
          <p:nvPr/>
        </p:nvSpPr>
        <p:spPr>
          <a:xfrm>
            <a:off x="594360" y="5522976"/>
            <a:ext cx="11000232" cy="841248"/>
          </a:xfrm>
          <a:prstGeom prst="rect">
            <a:avLst/>
          </a:prstGeom>
          <a:solidFill>
            <a:srgbClr val="EAE7F2"/>
          </a:solidFill>
          <a:ln w="12700">
            <a:solidFill>
              <a:srgbClr val="EAE7F2"/>
            </a:solidFill>
            <a:prstDash val="solid"/>
          </a:ln>
        </p:spPr>
      </p:sp>
      <p:sp>
        <p:nvSpPr>
          <p:cNvPr id="28" name="Shape 25"/>
          <p:cNvSpPr/>
          <p:nvPr/>
        </p:nvSpPr>
        <p:spPr>
          <a:xfrm>
            <a:off x="594360" y="5522976"/>
            <a:ext cx="59436" cy="841248"/>
          </a:xfrm>
          <a:prstGeom prst="rect">
            <a:avLst/>
          </a:prstGeom>
          <a:solidFill>
            <a:srgbClr val="FF9810"/>
          </a:solidFill>
          <a:ln w="12700">
            <a:solidFill>
              <a:srgbClr val="FF9810"/>
            </a:solidFill>
            <a:prstDash val="solid"/>
          </a:ln>
        </p:spPr>
      </p:sp>
      <p:sp>
        <p:nvSpPr>
          <p:cNvPr id="29" name="Text 26"/>
          <p:cNvSpPr/>
          <p:nvPr/>
        </p:nvSpPr>
        <p:spPr>
          <a:xfrm>
            <a:off x="777240" y="5614416"/>
            <a:ext cx="10652760" cy="77724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FakeCloud calls itself depth-first and LocalStack breadth-first.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What runs on your machine?</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architecture</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16</a:t>
            </a:r>
            <a:endParaRPr lang="en-US" sz="1500" dirty="0"/>
          </a:p>
        </p:txBody>
      </p:sp>
      <p:sp>
        <p:nvSpPr>
          <p:cNvPr id="12" name="Shape 9"/>
          <p:cNvSpPr/>
          <p:nvPr/>
        </p:nvSpPr>
        <p:spPr>
          <a:xfrm>
            <a:off x="685800" y="1700784"/>
            <a:ext cx="5285232" cy="3803904"/>
          </a:xfrm>
          <a:prstGeom prst="rect">
            <a:avLst/>
          </a:prstGeom>
          <a:solidFill>
            <a:srgbClr val="EAE7F2"/>
          </a:solidFill>
          <a:ln w="12700">
            <a:solidFill>
              <a:srgbClr val="EAE7F2"/>
            </a:solidFill>
            <a:prstDash val="solid"/>
          </a:ln>
        </p:spPr>
      </p:sp>
      <p:sp>
        <p:nvSpPr>
          <p:cNvPr id="13" name="Shape 10"/>
          <p:cNvSpPr/>
          <p:nvPr/>
        </p:nvSpPr>
        <p:spPr>
          <a:xfrm>
            <a:off x="685800" y="1700784"/>
            <a:ext cx="5285232" cy="932688"/>
          </a:xfrm>
          <a:prstGeom prst="rect">
            <a:avLst/>
          </a:prstGeom>
          <a:solidFill>
            <a:srgbClr val="37325F"/>
          </a:solidFill>
          <a:ln w="12700">
            <a:solidFill>
              <a:srgbClr val="37325F"/>
            </a:solidFill>
            <a:prstDash val="solid"/>
          </a:ln>
        </p:spPr>
      </p:sp>
      <p:sp>
        <p:nvSpPr>
          <p:cNvPr id="14" name="Text 11"/>
          <p:cNvSpPr/>
          <p:nvPr/>
        </p:nvSpPr>
        <p:spPr>
          <a:xfrm>
            <a:off x="82296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FAKECLOUD</a:t>
            </a:r>
            <a:endParaRPr lang="en-US" sz="2500" dirty="0"/>
          </a:p>
        </p:txBody>
      </p:sp>
      <p:sp>
        <p:nvSpPr>
          <p:cNvPr id="15" name="Shape 12"/>
          <p:cNvSpPr/>
          <p:nvPr/>
        </p:nvSpPr>
        <p:spPr>
          <a:xfrm>
            <a:off x="685800" y="1700784"/>
            <a:ext cx="59436" cy="3803904"/>
          </a:xfrm>
          <a:prstGeom prst="rect">
            <a:avLst/>
          </a:prstGeom>
          <a:solidFill>
            <a:srgbClr val="FF9810"/>
          </a:solidFill>
          <a:ln w="12700">
            <a:solidFill>
              <a:srgbClr val="FF9810"/>
            </a:solidFill>
            <a:prstDash val="solid"/>
          </a:ln>
        </p:spPr>
      </p:sp>
      <p:sp>
        <p:nvSpPr>
          <p:cNvPr id="16" name="Text 13"/>
          <p:cNvSpPr/>
          <p:nvPr/>
        </p:nvSpPr>
        <p:spPr>
          <a:xfrm>
            <a:off x="868680" y="2743200"/>
            <a:ext cx="4873752" cy="43634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One compiled Rust program.</a:t>
            </a:r>
            <a:endParaRPr lang="en-US" sz="2400" dirty="0"/>
          </a:p>
        </p:txBody>
      </p:sp>
      <p:sp>
        <p:nvSpPr>
          <p:cNvPr id="17" name="Text 14"/>
          <p:cNvSpPr/>
          <p:nvPr/>
        </p:nvSpPr>
        <p:spPr>
          <a:xfrm>
            <a:off x="868680" y="3334990"/>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Can run directly or inside a Docker container.</a:t>
            </a:r>
            <a:endParaRPr lang="en-US" sz="2400" dirty="0"/>
          </a:p>
        </p:txBody>
      </p:sp>
      <p:sp>
        <p:nvSpPr>
          <p:cNvPr id="18" name="Text 15"/>
          <p:cNvSpPr/>
          <p:nvPr/>
        </p:nvSpPr>
        <p:spPr>
          <a:xfrm>
            <a:off x="868680" y="4289971"/>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Service modules handle the AWS operations.</a:t>
            </a:r>
            <a:endParaRPr lang="en-US" sz="2400" dirty="0"/>
          </a:p>
        </p:txBody>
      </p:sp>
      <p:sp>
        <p:nvSpPr>
          <p:cNvPr id="19" name="Shape 16"/>
          <p:cNvSpPr/>
          <p:nvPr/>
        </p:nvSpPr>
        <p:spPr>
          <a:xfrm>
            <a:off x="6309360" y="1700784"/>
            <a:ext cx="5285232" cy="3803904"/>
          </a:xfrm>
          <a:prstGeom prst="rect">
            <a:avLst/>
          </a:prstGeom>
          <a:solidFill>
            <a:srgbClr val="EAE7F2"/>
          </a:solidFill>
          <a:ln w="12700">
            <a:solidFill>
              <a:srgbClr val="EAE7F2"/>
            </a:solidFill>
            <a:prstDash val="solid"/>
          </a:ln>
        </p:spPr>
      </p:sp>
      <p:sp>
        <p:nvSpPr>
          <p:cNvPr id="20" name="Shape 17"/>
          <p:cNvSpPr/>
          <p:nvPr/>
        </p:nvSpPr>
        <p:spPr>
          <a:xfrm>
            <a:off x="6309360" y="1700784"/>
            <a:ext cx="5285232" cy="932688"/>
          </a:xfrm>
          <a:prstGeom prst="rect">
            <a:avLst/>
          </a:prstGeom>
          <a:solidFill>
            <a:srgbClr val="37325F"/>
          </a:solidFill>
          <a:ln w="12700">
            <a:solidFill>
              <a:srgbClr val="37325F"/>
            </a:solidFill>
            <a:prstDash val="solid"/>
          </a:ln>
        </p:spPr>
      </p:sp>
      <p:sp>
        <p:nvSpPr>
          <p:cNvPr id="21" name="Text 18"/>
          <p:cNvSpPr/>
          <p:nvPr/>
        </p:nvSpPr>
        <p:spPr>
          <a:xfrm>
            <a:off x="644652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LOCALSTACK</a:t>
            </a:r>
            <a:endParaRPr lang="en-US" sz="2500" dirty="0"/>
          </a:p>
        </p:txBody>
      </p:sp>
      <p:sp>
        <p:nvSpPr>
          <p:cNvPr id="22" name="Shape 19"/>
          <p:cNvSpPr/>
          <p:nvPr/>
        </p:nvSpPr>
        <p:spPr>
          <a:xfrm>
            <a:off x="6309360" y="1700784"/>
            <a:ext cx="59436" cy="3803904"/>
          </a:xfrm>
          <a:prstGeom prst="rect">
            <a:avLst/>
          </a:prstGeom>
          <a:solidFill>
            <a:srgbClr val="FF9810"/>
          </a:solidFill>
          <a:ln w="12700">
            <a:solidFill>
              <a:srgbClr val="FF9810"/>
            </a:solidFill>
            <a:prstDash val="solid"/>
          </a:ln>
        </p:spPr>
      </p:sp>
      <p:sp>
        <p:nvSpPr>
          <p:cNvPr id="23" name="Text 20"/>
          <p:cNvSpPr/>
          <p:nvPr/>
        </p:nvSpPr>
        <p:spPr>
          <a:xfrm>
            <a:off x="6492240" y="2743200"/>
            <a:ext cx="4873752" cy="43634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 Python-based main runtime.</a:t>
            </a:r>
            <a:endParaRPr lang="en-US" sz="2400" dirty="0"/>
          </a:p>
        </p:txBody>
      </p:sp>
      <p:sp>
        <p:nvSpPr>
          <p:cNvPr id="24" name="Text 21"/>
          <p:cNvSpPr/>
          <p:nvPr/>
        </p:nvSpPr>
        <p:spPr>
          <a:xfrm>
            <a:off x="6492240" y="3334990"/>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Runs inside the main LocalStack container.</a:t>
            </a:r>
            <a:endParaRPr lang="en-US" sz="2400" dirty="0"/>
          </a:p>
        </p:txBody>
      </p:sp>
      <p:sp>
        <p:nvSpPr>
          <p:cNvPr id="25" name="Text 22"/>
          <p:cNvSpPr/>
          <p:nvPr/>
        </p:nvSpPr>
        <p:spPr>
          <a:xfrm>
            <a:off x="6492240" y="4289971"/>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Requests go to service implementations.</a:t>
            </a:r>
            <a:endParaRPr lang="en-US" sz="2400" dirty="0"/>
          </a:p>
        </p:txBody>
      </p:sp>
      <p:sp>
        <p:nvSpPr>
          <p:cNvPr id="26" name="Shape 23"/>
          <p:cNvSpPr/>
          <p:nvPr/>
        </p:nvSpPr>
        <p:spPr>
          <a:xfrm>
            <a:off x="594360" y="5522976"/>
            <a:ext cx="11000232" cy="841248"/>
          </a:xfrm>
          <a:prstGeom prst="rect">
            <a:avLst/>
          </a:prstGeom>
          <a:solidFill>
            <a:srgbClr val="EAE7F2"/>
          </a:solidFill>
          <a:ln w="12700">
            <a:solidFill>
              <a:srgbClr val="EAE7F2"/>
            </a:solidFill>
            <a:prstDash val="solid"/>
          </a:ln>
        </p:spPr>
      </p:sp>
      <p:sp>
        <p:nvSpPr>
          <p:cNvPr id="27" name="Shape 24"/>
          <p:cNvSpPr/>
          <p:nvPr/>
        </p:nvSpPr>
        <p:spPr>
          <a:xfrm>
            <a:off x="594360" y="5522976"/>
            <a:ext cx="59436" cy="841248"/>
          </a:xfrm>
          <a:prstGeom prst="rect">
            <a:avLst/>
          </a:prstGeom>
          <a:solidFill>
            <a:srgbClr val="FF9810"/>
          </a:solidFill>
          <a:ln w="12700">
            <a:solidFill>
              <a:srgbClr val="FF9810"/>
            </a:solidFill>
            <a:prstDash val="solid"/>
          </a:ln>
        </p:spPr>
      </p:sp>
      <p:sp>
        <p:nvSpPr>
          <p:cNvPr id="28" name="Text 25"/>
          <p:cNvSpPr/>
          <p:nvPr/>
        </p:nvSpPr>
        <p:spPr>
          <a:xfrm>
            <a:off x="777240" y="5614416"/>
            <a:ext cx="10652760" cy="77724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Running Lambda code adds Docker runtime containers in both tools.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Starting the emulators</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setup</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17</a:t>
            </a:r>
            <a:endParaRPr lang="en-US" sz="1500" dirty="0"/>
          </a:p>
        </p:txBody>
      </p:sp>
      <p:sp>
        <p:nvSpPr>
          <p:cNvPr id="12" name="Shape 9"/>
          <p:cNvSpPr/>
          <p:nvPr/>
        </p:nvSpPr>
        <p:spPr>
          <a:xfrm>
            <a:off x="685800" y="1700784"/>
            <a:ext cx="5285232" cy="3803904"/>
          </a:xfrm>
          <a:prstGeom prst="rect">
            <a:avLst/>
          </a:prstGeom>
          <a:solidFill>
            <a:srgbClr val="EAE7F2"/>
          </a:solidFill>
          <a:ln w="12700">
            <a:solidFill>
              <a:srgbClr val="EAE7F2"/>
            </a:solidFill>
            <a:prstDash val="solid"/>
          </a:ln>
        </p:spPr>
      </p:sp>
      <p:sp>
        <p:nvSpPr>
          <p:cNvPr id="13" name="Shape 10"/>
          <p:cNvSpPr/>
          <p:nvPr/>
        </p:nvSpPr>
        <p:spPr>
          <a:xfrm>
            <a:off x="685800" y="1700784"/>
            <a:ext cx="5285232" cy="932688"/>
          </a:xfrm>
          <a:prstGeom prst="rect">
            <a:avLst/>
          </a:prstGeom>
          <a:solidFill>
            <a:srgbClr val="37325F"/>
          </a:solidFill>
          <a:ln w="12700">
            <a:solidFill>
              <a:srgbClr val="37325F"/>
            </a:solidFill>
            <a:prstDash val="solid"/>
          </a:ln>
        </p:spPr>
      </p:sp>
      <p:sp>
        <p:nvSpPr>
          <p:cNvPr id="14" name="Text 11"/>
          <p:cNvSpPr/>
          <p:nvPr/>
        </p:nvSpPr>
        <p:spPr>
          <a:xfrm>
            <a:off x="82296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FAKECLOUD</a:t>
            </a:r>
            <a:endParaRPr lang="en-US" sz="2500" dirty="0"/>
          </a:p>
        </p:txBody>
      </p:sp>
      <p:sp>
        <p:nvSpPr>
          <p:cNvPr id="15" name="Shape 12"/>
          <p:cNvSpPr/>
          <p:nvPr/>
        </p:nvSpPr>
        <p:spPr>
          <a:xfrm>
            <a:off x="685800" y="1700784"/>
            <a:ext cx="59436" cy="3803904"/>
          </a:xfrm>
          <a:prstGeom prst="rect">
            <a:avLst/>
          </a:prstGeom>
          <a:solidFill>
            <a:srgbClr val="FF9810"/>
          </a:solidFill>
          <a:ln w="12700">
            <a:solidFill>
              <a:srgbClr val="FF9810"/>
            </a:solidFill>
            <a:prstDash val="solid"/>
          </a:ln>
        </p:spPr>
      </p:sp>
      <p:sp>
        <p:nvSpPr>
          <p:cNvPr id="16" name="Shape 13"/>
          <p:cNvSpPr/>
          <p:nvPr/>
        </p:nvSpPr>
        <p:spPr>
          <a:xfrm>
            <a:off x="822960" y="2651760"/>
            <a:ext cx="5010912" cy="1232077"/>
          </a:xfrm>
          <a:prstGeom prst="rect">
            <a:avLst/>
          </a:prstGeom>
          <a:solidFill>
            <a:srgbClr val="FFFFFF"/>
          </a:solidFill>
          <a:ln w="12700">
            <a:solidFill>
              <a:srgbClr val="C6C2D3"/>
            </a:solidFill>
            <a:prstDash val="solid"/>
          </a:ln>
        </p:spPr>
      </p:sp>
      <p:sp>
        <p:nvSpPr>
          <p:cNvPr id="17" name="Text 14"/>
          <p:cNvSpPr/>
          <p:nvPr/>
        </p:nvSpPr>
        <p:spPr>
          <a:xfrm>
            <a:off x="941832" y="2743200"/>
            <a:ext cx="4773168" cy="1049197"/>
          </a:xfrm>
          <a:prstGeom prst="rect">
            <a:avLst/>
          </a:prstGeom>
          <a:noFill/>
          <a:ln/>
        </p:spPr>
        <p:txBody>
          <a:bodyPr wrap="square" lIns="0" tIns="0" rIns="0" bIns="0" rtlCol="0" anchor="ctr"/>
          <a:lstStyle/>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docker run --rm -it \</a:t>
            </a:r>
            <a:endParaRPr lang="en-US" sz="2000" dirty="0"/>
          </a:p>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  -p 127.0.0.1:4566:4566 \</a:t>
            </a:r>
            <a:endParaRPr lang="en-US" sz="2000" dirty="0"/>
          </a:p>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  ghcr.io/faiscadev/fakecloud</a:t>
            </a:r>
            <a:endParaRPr lang="en-US" sz="2000" dirty="0"/>
          </a:p>
        </p:txBody>
      </p:sp>
      <p:sp>
        <p:nvSpPr>
          <p:cNvPr id="18" name="Text 15"/>
          <p:cNvSpPr/>
          <p:nvPr/>
        </p:nvSpPr>
        <p:spPr>
          <a:xfrm>
            <a:off x="868680" y="3975277"/>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Docker running; no product account or token needed.</a:t>
            </a:r>
            <a:endParaRPr lang="en-US" sz="2400" dirty="0"/>
          </a:p>
        </p:txBody>
      </p:sp>
      <p:sp>
        <p:nvSpPr>
          <p:cNvPr id="19" name="Shape 16"/>
          <p:cNvSpPr/>
          <p:nvPr/>
        </p:nvSpPr>
        <p:spPr>
          <a:xfrm>
            <a:off x="6309360" y="1700784"/>
            <a:ext cx="5285232" cy="3803904"/>
          </a:xfrm>
          <a:prstGeom prst="rect">
            <a:avLst/>
          </a:prstGeom>
          <a:solidFill>
            <a:srgbClr val="EAE7F2"/>
          </a:solidFill>
          <a:ln w="12700">
            <a:solidFill>
              <a:srgbClr val="EAE7F2"/>
            </a:solidFill>
            <a:prstDash val="solid"/>
          </a:ln>
        </p:spPr>
      </p:sp>
      <p:sp>
        <p:nvSpPr>
          <p:cNvPr id="20" name="Shape 17"/>
          <p:cNvSpPr/>
          <p:nvPr/>
        </p:nvSpPr>
        <p:spPr>
          <a:xfrm>
            <a:off x="6309360" y="1700784"/>
            <a:ext cx="5285232" cy="932688"/>
          </a:xfrm>
          <a:prstGeom prst="rect">
            <a:avLst/>
          </a:prstGeom>
          <a:solidFill>
            <a:srgbClr val="37325F"/>
          </a:solidFill>
          <a:ln w="12700">
            <a:solidFill>
              <a:srgbClr val="37325F"/>
            </a:solidFill>
            <a:prstDash val="solid"/>
          </a:ln>
        </p:spPr>
      </p:sp>
      <p:sp>
        <p:nvSpPr>
          <p:cNvPr id="21" name="Text 18"/>
          <p:cNvSpPr/>
          <p:nvPr/>
        </p:nvSpPr>
        <p:spPr>
          <a:xfrm>
            <a:off x="644652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LOCALSTACK</a:t>
            </a:r>
            <a:endParaRPr lang="en-US" sz="2500" dirty="0"/>
          </a:p>
        </p:txBody>
      </p:sp>
      <p:sp>
        <p:nvSpPr>
          <p:cNvPr id="22" name="Shape 19"/>
          <p:cNvSpPr/>
          <p:nvPr/>
        </p:nvSpPr>
        <p:spPr>
          <a:xfrm>
            <a:off x="6309360" y="1700784"/>
            <a:ext cx="59436" cy="3803904"/>
          </a:xfrm>
          <a:prstGeom prst="rect">
            <a:avLst/>
          </a:prstGeom>
          <a:solidFill>
            <a:srgbClr val="FF9810"/>
          </a:solidFill>
          <a:ln w="12700">
            <a:solidFill>
              <a:srgbClr val="FF9810"/>
            </a:solidFill>
            <a:prstDash val="solid"/>
          </a:ln>
        </p:spPr>
      </p:sp>
      <p:sp>
        <p:nvSpPr>
          <p:cNvPr id="23" name="Shape 20"/>
          <p:cNvSpPr/>
          <p:nvPr/>
        </p:nvSpPr>
        <p:spPr>
          <a:xfrm>
            <a:off x="6446520" y="2651760"/>
            <a:ext cx="5010912" cy="1542185"/>
          </a:xfrm>
          <a:prstGeom prst="rect">
            <a:avLst/>
          </a:prstGeom>
          <a:solidFill>
            <a:srgbClr val="FFFFFF"/>
          </a:solidFill>
          <a:ln w="12700">
            <a:solidFill>
              <a:srgbClr val="C6C2D3"/>
            </a:solidFill>
            <a:prstDash val="solid"/>
          </a:ln>
        </p:spPr>
      </p:sp>
      <p:sp>
        <p:nvSpPr>
          <p:cNvPr id="24" name="Text 21"/>
          <p:cNvSpPr/>
          <p:nvPr/>
        </p:nvSpPr>
        <p:spPr>
          <a:xfrm>
            <a:off x="6565392" y="2743200"/>
            <a:ext cx="4773168" cy="1359305"/>
          </a:xfrm>
          <a:prstGeom prst="rect">
            <a:avLst/>
          </a:prstGeom>
          <a:noFill/>
          <a:ln/>
        </p:spPr>
        <p:txBody>
          <a:bodyPr wrap="square" lIns="0" tIns="0" rIns="0" bIns="0" rtlCol="0" anchor="ctr"/>
          <a:lstStyle/>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docker run --rm -it \</a:t>
            </a:r>
            <a:endParaRPr lang="en-US" sz="2000" dirty="0"/>
          </a:p>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  -p 127.0.0.1:4566:4566 \</a:t>
            </a:r>
            <a:endParaRPr lang="en-US" sz="2000" dirty="0"/>
          </a:p>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  -e LOCALSTACK_AUTH_TOKEN \</a:t>
            </a:r>
            <a:endParaRPr lang="en-US" sz="2000" dirty="0"/>
          </a:p>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  localstack/localstack</a:t>
            </a:r>
            <a:endParaRPr lang="en-US" sz="2000" dirty="0"/>
          </a:p>
        </p:txBody>
      </p:sp>
      <p:sp>
        <p:nvSpPr>
          <p:cNvPr id="25" name="Text 22"/>
          <p:cNvSpPr/>
          <p:nvPr/>
        </p:nvSpPr>
        <p:spPr>
          <a:xfrm>
            <a:off x="6492240" y="4285385"/>
            <a:ext cx="4873752" cy="1162723"/>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Set LOCALSTACK_AUTH_TOKEN in the shell before running this command.</a:t>
            </a:r>
            <a:endParaRPr lang="en-US" sz="2400" dirty="0"/>
          </a:p>
        </p:txBody>
      </p:sp>
      <p:sp>
        <p:nvSpPr>
          <p:cNvPr id="26" name="Shape 23"/>
          <p:cNvSpPr/>
          <p:nvPr/>
        </p:nvSpPr>
        <p:spPr>
          <a:xfrm>
            <a:off x="594360" y="5522976"/>
            <a:ext cx="11000232" cy="841248"/>
          </a:xfrm>
          <a:prstGeom prst="rect">
            <a:avLst/>
          </a:prstGeom>
          <a:solidFill>
            <a:srgbClr val="EAE7F2"/>
          </a:solidFill>
          <a:ln w="12700">
            <a:solidFill>
              <a:srgbClr val="EAE7F2"/>
            </a:solidFill>
            <a:prstDash val="solid"/>
          </a:ln>
        </p:spPr>
      </p:sp>
      <p:sp>
        <p:nvSpPr>
          <p:cNvPr id="27" name="Shape 24"/>
          <p:cNvSpPr/>
          <p:nvPr/>
        </p:nvSpPr>
        <p:spPr>
          <a:xfrm>
            <a:off x="594360" y="5522976"/>
            <a:ext cx="59436" cy="841248"/>
          </a:xfrm>
          <a:prstGeom prst="rect">
            <a:avLst/>
          </a:prstGeom>
          <a:solidFill>
            <a:srgbClr val="FF9810"/>
          </a:solidFill>
          <a:ln w="12700">
            <a:solidFill>
              <a:srgbClr val="FF9810"/>
            </a:solidFill>
            <a:prstDash val="solid"/>
          </a:ln>
        </p:spPr>
      </p:sp>
      <p:sp>
        <p:nvSpPr>
          <p:cNvPr id="28" name="Text 25"/>
          <p:cNvSpPr/>
          <p:nvPr/>
        </p:nvSpPr>
        <p:spPr>
          <a:xfrm>
            <a:off x="777240" y="5614416"/>
            <a:ext cx="10652760" cy="77724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Bash example for SQS. Start one emulator at a time on port 4566.</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Create a queue with the AWS CLI</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first request</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18</a:t>
            </a:r>
            <a:endParaRPr lang="en-US" sz="1500" dirty="0"/>
          </a:p>
        </p:txBody>
      </p:sp>
      <p:sp>
        <p:nvSpPr>
          <p:cNvPr id="12" name="Shape 9"/>
          <p:cNvSpPr/>
          <p:nvPr/>
        </p:nvSpPr>
        <p:spPr>
          <a:xfrm>
            <a:off x="7818120" y="1700784"/>
            <a:ext cx="3749040" cy="4526280"/>
          </a:xfrm>
          <a:prstGeom prst="rect">
            <a:avLst/>
          </a:prstGeom>
          <a:solidFill>
            <a:srgbClr val="EAE7F2"/>
          </a:solidFill>
          <a:ln w="12700">
            <a:solidFill>
              <a:srgbClr val="EAE7F2"/>
            </a:solidFill>
            <a:prstDash val="solid"/>
          </a:ln>
        </p:spPr>
      </p:sp>
      <p:sp>
        <p:nvSpPr>
          <p:cNvPr id="13" name="Shape 10"/>
          <p:cNvSpPr/>
          <p:nvPr/>
        </p:nvSpPr>
        <p:spPr>
          <a:xfrm>
            <a:off x="685800" y="1828800"/>
            <a:ext cx="6858000" cy="4005072"/>
          </a:xfrm>
          <a:prstGeom prst="rect">
            <a:avLst/>
          </a:prstGeom>
          <a:solidFill>
            <a:srgbClr val="FFFFFF"/>
          </a:solidFill>
          <a:ln w="12700">
            <a:solidFill>
              <a:srgbClr val="C6C2D3"/>
            </a:solidFill>
            <a:prstDash val="solid"/>
          </a:ln>
        </p:spPr>
      </p:sp>
      <p:sp>
        <p:nvSpPr>
          <p:cNvPr id="14" name="Text 11"/>
          <p:cNvSpPr/>
          <p:nvPr/>
        </p:nvSpPr>
        <p:spPr>
          <a:xfrm>
            <a:off x="896112" y="2130552"/>
            <a:ext cx="6428232" cy="3639312"/>
          </a:xfrm>
          <a:prstGeom prst="rect">
            <a:avLst/>
          </a:prstGeom>
          <a:noFill/>
          <a:ln/>
        </p:spPr>
        <p:txBody>
          <a:bodyPr wrap="square" lIns="0" tIns="0" rIns="0" bIns="0" rtlCol="0" anchor="ctr"/>
          <a:lstStyle/>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export AWS_ACCESS_KEY_ID=test</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export AWS_SECRET_ACCESS_KEY=test</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export AWS_DEFAULT_REGION=us-east-1</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unset AWS_SESSION_TOKEN</a:t>
            </a:r>
            <a:endParaRPr lang="en-US" sz="2200" dirty="0"/>
          </a:p>
          <a:p>
            <a:pPr algn="l" indent="0" marL="0">
              <a:lnSpc>
                <a:spcPct val="103000"/>
              </a:lnSpc>
              <a:buNone/>
            </a:pP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endpoint=http://localhost:4566</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aws --endpoint-url "$endpoint" sqs \</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  create-queue --queue-name wade-jobs</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aws --endpoint-url "$endpoint" sqs \</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  list-queues</a:t>
            </a:r>
            <a:endParaRPr lang="en-US" sz="2200" dirty="0"/>
          </a:p>
        </p:txBody>
      </p:sp>
      <p:sp>
        <p:nvSpPr>
          <p:cNvPr id="15" name="Text 12"/>
          <p:cNvSpPr/>
          <p:nvPr/>
        </p:nvSpPr>
        <p:spPr>
          <a:xfrm>
            <a:off x="804672" y="6007608"/>
            <a:ext cx="6629400" cy="320040"/>
          </a:xfrm>
          <a:prstGeom prst="rect">
            <a:avLst/>
          </a:prstGeom>
          <a:noFill/>
          <a:ln/>
        </p:spPr>
        <p:txBody>
          <a:bodyPr wrap="square" lIns="0" tIns="0" rIns="0" bIns="0" rtlCol="0" anchor="ctr"/>
          <a:lstStyle/>
          <a:p>
            <a:pPr algn="l" indent="0" marL="0">
              <a:lnSpc>
                <a:spcPct val="103000"/>
              </a:lnSpc>
              <a:buNone/>
            </a:pPr>
            <a:r>
              <a:rPr lang="en-US" sz="1800" dirty="0">
                <a:solidFill>
                  <a:srgbClr val="51536A"/>
                </a:solidFill>
                <a:latin typeface="Arial" pitchFamily="34" charset="0"/>
                <a:ea typeface="Arial" pitchFamily="34" charset="-122"/>
                <a:cs typeface="Arial" pitchFamily="34" charset="-120"/>
              </a:rPr>
              <a:t>Bash / AWS CLI · same commands for either emulator</a:t>
            </a:r>
            <a:endParaRPr lang="en-US" sz="1800" dirty="0"/>
          </a:p>
        </p:txBody>
      </p:sp>
      <p:sp>
        <p:nvSpPr>
          <p:cNvPr id="16" name="Text 13"/>
          <p:cNvSpPr/>
          <p:nvPr/>
        </p:nvSpPr>
        <p:spPr>
          <a:xfrm>
            <a:off x="8001000" y="1828800"/>
            <a:ext cx="3474720" cy="50292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Local settings</a:t>
            </a:r>
            <a:endParaRPr lang="en-US" sz="2500" dirty="0"/>
          </a:p>
        </p:txBody>
      </p:sp>
      <p:sp>
        <p:nvSpPr>
          <p:cNvPr id="17" name="Text 14"/>
          <p:cNvSpPr/>
          <p:nvPr/>
        </p:nvSpPr>
        <p:spPr>
          <a:xfrm>
            <a:off x="8001000" y="2432304"/>
            <a:ext cx="3474720" cy="9601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Dummy credentials and a region.</a:t>
            </a:r>
            <a:endParaRPr lang="en-US" sz="2400" dirty="0"/>
          </a:p>
        </p:txBody>
      </p:sp>
      <p:sp>
        <p:nvSpPr>
          <p:cNvPr id="18" name="Text 15"/>
          <p:cNvSpPr/>
          <p:nvPr/>
        </p:nvSpPr>
        <p:spPr>
          <a:xfrm>
            <a:off x="8001000" y="3337560"/>
            <a:ext cx="3474720" cy="50292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Create</a:t>
            </a:r>
            <a:endParaRPr lang="en-US" sz="2500" dirty="0"/>
          </a:p>
        </p:txBody>
      </p:sp>
      <p:sp>
        <p:nvSpPr>
          <p:cNvPr id="19" name="Text 16"/>
          <p:cNvSpPr/>
          <p:nvPr/>
        </p:nvSpPr>
        <p:spPr>
          <a:xfrm>
            <a:off x="8001000" y="3941064"/>
            <a:ext cx="3474720" cy="9601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Create the queue named wade-jobs.</a:t>
            </a:r>
            <a:endParaRPr lang="en-US" sz="2400" dirty="0"/>
          </a:p>
        </p:txBody>
      </p:sp>
      <p:sp>
        <p:nvSpPr>
          <p:cNvPr id="20" name="Text 17"/>
          <p:cNvSpPr/>
          <p:nvPr/>
        </p:nvSpPr>
        <p:spPr>
          <a:xfrm>
            <a:off x="8001000" y="4846320"/>
            <a:ext cx="3474720" cy="50292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Read back</a:t>
            </a:r>
            <a:endParaRPr lang="en-US" sz="2500" dirty="0"/>
          </a:p>
        </p:txBody>
      </p:sp>
      <p:sp>
        <p:nvSpPr>
          <p:cNvPr id="21" name="Text 18"/>
          <p:cNvSpPr/>
          <p:nvPr/>
        </p:nvSpPr>
        <p:spPr>
          <a:xfrm>
            <a:off x="8001000" y="5449824"/>
            <a:ext cx="3474720" cy="9601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List queues and look for wade-jobs.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Send and receive a message in Python</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API access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19</a:t>
            </a:r>
            <a:endParaRPr lang="en-US" sz="1500" dirty="0"/>
          </a:p>
        </p:txBody>
      </p:sp>
      <p:sp>
        <p:nvSpPr>
          <p:cNvPr id="12" name="Shape 9"/>
          <p:cNvSpPr/>
          <p:nvPr/>
        </p:nvSpPr>
        <p:spPr>
          <a:xfrm>
            <a:off x="7818120" y="1700784"/>
            <a:ext cx="3749040" cy="4526280"/>
          </a:xfrm>
          <a:prstGeom prst="rect">
            <a:avLst/>
          </a:prstGeom>
          <a:solidFill>
            <a:srgbClr val="EAE7F2"/>
          </a:solidFill>
          <a:ln w="12700">
            <a:solidFill>
              <a:srgbClr val="EAE7F2"/>
            </a:solidFill>
            <a:prstDash val="solid"/>
          </a:ln>
        </p:spPr>
      </p:sp>
      <p:sp>
        <p:nvSpPr>
          <p:cNvPr id="13" name="Shape 10"/>
          <p:cNvSpPr/>
          <p:nvPr/>
        </p:nvSpPr>
        <p:spPr>
          <a:xfrm>
            <a:off x="685800" y="1737360"/>
            <a:ext cx="6858000" cy="4251960"/>
          </a:xfrm>
          <a:prstGeom prst="rect">
            <a:avLst/>
          </a:prstGeom>
          <a:solidFill>
            <a:srgbClr val="FFFFFF"/>
          </a:solidFill>
          <a:ln w="12700">
            <a:solidFill>
              <a:srgbClr val="C6C2D3"/>
            </a:solidFill>
            <a:prstDash val="solid"/>
          </a:ln>
        </p:spPr>
      </p:sp>
      <p:sp>
        <p:nvSpPr>
          <p:cNvPr id="14" name="Text 11"/>
          <p:cNvSpPr/>
          <p:nvPr/>
        </p:nvSpPr>
        <p:spPr>
          <a:xfrm>
            <a:off x="896112" y="1856232"/>
            <a:ext cx="6428232" cy="4178808"/>
          </a:xfrm>
          <a:prstGeom prst="rect">
            <a:avLst/>
          </a:prstGeom>
          <a:noFill/>
          <a:ln/>
        </p:spPr>
        <p:txBody>
          <a:bodyPr wrap="square" lIns="0" tIns="0" rIns="0" bIns="0" rtlCol="0" anchor="ctr"/>
          <a:lstStyle/>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import boto3</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endpoint = "http://localhost:4566"</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sqs = boto3.client("sqs",</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    endpoint_url=endpoint)</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url = sqs.get_queue_url(</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    QueueName="wade-jobs")["QueueUrl"]</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sqs.send_message(QueueUrl=url,</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    MessageBody="hello")</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reply = sqs.receive_message(</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    QueueUrl=url, WaitTimeSeconds=2)</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for msg in reply.get("Messages", []):</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    print(msg["Body"])</a:t>
            </a:r>
            <a:endParaRPr lang="en-US" sz="2200" dirty="0"/>
          </a:p>
        </p:txBody>
      </p:sp>
      <p:sp>
        <p:nvSpPr>
          <p:cNvPr id="15" name="Text 12"/>
          <p:cNvSpPr/>
          <p:nvPr/>
        </p:nvSpPr>
        <p:spPr>
          <a:xfrm>
            <a:off x="804672" y="6062472"/>
            <a:ext cx="6629400" cy="320040"/>
          </a:xfrm>
          <a:prstGeom prst="rect">
            <a:avLst/>
          </a:prstGeom>
          <a:noFill/>
          <a:ln/>
        </p:spPr>
        <p:txBody>
          <a:bodyPr wrap="square" lIns="0" tIns="0" rIns="0" bIns="0" rtlCol="0" anchor="ctr"/>
          <a:lstStyle/>
          <a:p>
            <a:pPr algn="l" indent="0" marL="0">
              <a:lnSpc>
                <a:spcPct val="103000"/>
              </a:lnSpc>
              <a:buNone/>
            </a:pPr>
            <a:r>
              <a:rPr lang="en-US" sz="1800" dirty="0">
                <a:solidFill>
                  <a:srgbClr val="51536A"/>
                </a:solidFill>
                <a:latin typeface="Arial" pitchFamily="34" charset="0"/>
                <a:ea typeface="Arial" pitchFamily="34" charset="-122"/>
                <a:cs typeface="Arial" pitchFamily="34" charset="-120"/>
              </a:rPr>
              <a:t>Python / Boto3 · either emulator</a:t>
            </a:r>
            <a:endParaRPr lang="en-US" sz="1800" dirty="0"/>
          </a:p>
        </p:txBody>
      </p:sp>
      <p:sp>
        <p:nvSpPr>
          <p:cNvPr id="16" name="Text 13"/>
          <p:cNvSpPr/>
          <p:nvPr/>
        </p:nvSpPr>
        <p:spPr>
          <a:xfrm>
            <a:off x="8001000" y="1828800"/>
            <a:ext cx="3474720" cy="50292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Connect</a:t>
            </a:r>
            <a:endParaRPr lang="en-US" sz="2500" dirty="0"/>
          </a:p>
        </p:txBody>
      </p:sp>
      <p:sp>
        <p:nvSpPr>
          <p:cNvPr id="17" name="Text 14"/>
          <p:cNvSpPr/>
          <p:nvPr/>
        </p:nvSpPr>
        <p:spPr>
          <a:xfrm>
            <a:off x="8001000" y="2432304"/>
            <a:ext cx="3474720" cy="9601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Either emulator at localhost:4566.</a:t>
            </a:r>
            <a:endParaRPr lang="en-US" sz="2400" dirty="0"/>
          </a:p>
        </p:txBody>
      </p:sp>
      <p:sp>
        <p:nvSpPr>
          <p:cNvPr id="18" name="Text 15"/>
          <p:cNvSpPr/>
          <p:nvPr/>
        </p:nvSpPr>
        <p:spPr>
          <a:xfrm>
            <a:off x="8001000" y="3337560"/>
            <a:ext cx="3474720" cy="50292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Send</a:t>
            </a:r>
            <a:endParaRPr lang="en-US" sz="2500" dirty="0"/>
          </a:p>
        </p:txBody>
      </p:sp>
      <p:sp>
        <p:nvSpPr>
          <p:cNvPr id="19" name="Text 16"/>
          <p:cNvSpPr/>
          <p:nvPr/>
        </p:nvSpPr>
        <p:spPr>
          <a:xfrm>
            <a:off x="8001000" y="3941064"/>
            <a:ext cx="3474720" cy="9601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Place the message hello in wade-jobs.</a:t>
            </a:r>
            <a:endParaRPr lang="en-US" sz="2400" dirty="0"/>
          </a:p>
        </p:txBody>
      </p:sp>
      <p:sp>
        <p:nvSpPr>
          <p:cNvPr id="20" name="Text 17"/>
          <p:cNvSpPr/>
          <p:nvPr/>
        </p:nvSpPr>
        <p:spPr>
          <a:xfrm>
            <a:off x="8001000" y="4846320"/>
            <a:ext cx="3474720" cy="50292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Receive</a:t>
            </a:r>
            <a:endParaRPr lang="en-US" sz="2500" dirty="0"/>
          </a:p>
        </p:txBody>
      </p:sp>
      <p:sp>
        <p:nvSpPr>
          <p:cNvPr id="21" name="Text 18"/>
          <p:cNvSpPr/>
          <p:nvPr/>
        </p:nvSpPr>
        <p:spPr>
          <a:xfrm>
            <a:off x="8001000" y="5449824"/>
            <a:ext cx="3474720" cy="9601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Read messages and print their contents.</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Do errors behave like AWS?</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wire protocol</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20</a:t>
            </a:r>
            <a:endParaRPr lang="en-US" sz="1500" dirty="0"/>
          </a:p>
        </p:txBody>
      </p:sp>
      <p:sp>
        <p:nvSpPr>
          <p:cNvPr id="12" name="Shape 9"/>
          <p:cNvSpPr/>
          <p:nvPr/>
        </p:nvSpPr>
        <p:spPr>
          <a:xfrm>
            <a:off x="7818120" y="1700784"/>
            <a:ext cx="3749040" cy="4526280"/>
          </a:xfrm>
          <a:prstGeom prst="rect">
            <a:avLst/>
          </a:prstGeom>
          <a:solidFill>
            <a:srgbClr val="EAE7F2"/>
          </a:solidFill>
          <a:ln w="12700">
            <a:solidFill>
              <a:srgbClr val="EAE7F2"/>
            </a:solidFill>
            <a:prstDash val="solid"/>
          </a:ln>
        </p:spPr>
      </p:sp>
      <p:sp>
        <p:nvSpPr>
          <p:cNvPr id="13" name="Shape 10"/>
          <p:cNvSpPr/>
          <p:nvPr/>
        </p:nvSpPr>
        <p:spPr>
          <a:xfrm>
            <a:off x="685800" y="1828800"/>
            <a:ext cx="6858000" cy="4005072"/>
          </a:xfrm>
          <a:prstGeom prst="rect">
            <a:avLst/>
          </a:prstGeom>
          <a:solidFill>
            <a:srgbClr val="FFFFFF"/>
          </a:solidFill>
          <a:ln w="12700">
            <a:solidFill>
              <a:srgbClr val="C6C2D3"/>
            </a:solidFill>
            <a:prstDash val="solid"/>
          </a:ln>
        </p:spPr>
      </p:sp>
      <p:sp>
        <p:nvSpPr>
          <p:cNvPr id="14" name="Text 11"/>
          <p:cNvSpPr/>
          <p:nvPr/>
        </p:nvSpPr>
        <p:spPr>
          <a:xfrm>
            <a:off x="896112" y="2130552"/>
            <a:ext cx="6428232" cy="3639312"/>
          </a:xfrm>
          <a:prstGeom prst="rect">
            <a:avLst/>
          </a:prstGeom>
          <a:noFill/>
          <a:ln/>
        </p:spPr>
        <p:txBody>
          <a:bodyPr wrap="square" lIns="0" tIns="0" rIns="0" bIns="0" rtlCol="0" anchor="ctr"/>
          <a:lstStyle/>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HTTP/1.1 404 Not Found</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Content-Type: application/xml</a:t>
            </a:r>
            <a:endParaRPr lang="en-US" sz="2200" dirty="0"/>
          </a:p>
          <a:p>
            <a:pPr algn="l" indent="0" marL="0">
              <a:lnSpc>
                <a:spcPct val="103000"/>
              </a:lnSpc>
              <a:buNone/>
            </a:pP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&lt;Error&gt;</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  &lt;Code&gt;NoSuchKey&lt;/Code&gt;</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  &lt;Message&gt;</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    The specified key does not exist.</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  &lt;/Message&gt;</a:t>
            </a:r>
            <a:endParaRPr lang="en-US" sz="2200" dirty="0"/>
          </a:p>
          <a:p>
            <a:pPr algn="l" indent="0" marL="0">
              <a:lnSpc>
                <a:spcPct val="103000"/>
              </a:lnSpc>
              <a:buNone/>
            </a:pPr>
            <a:r>
              <a:rPr lang="en-US" sz="2200" dirty="0">
                <a:solidFill>
                  <a:srgbClr val="202338"/>
                </a:solidFill>
                <a:latin typeface="Consolas" pitchFamily="34" charset="0"/>
                <a:ea typeface="Consolas" pitchFamily="34" charset="-122"/>
                <a:cs typeface="Consolas" pitchFamily="34" charset="-120"/>
              </a:rPr>
              <a:t>&lt;/Error&gt;</a:t>
            </a:r>
            <a:endParaRPr lang="en-US" sz="2200" dirty="0"/>
          </a:p>
        </p:txBody>
      </p:sp>
      <p:sp>
        <p:nvSpPr>
          <p:cNvPr id="15" name="Text 12"/>
          <p:cNvSpPr/>
          <p:nvPr/>
        </p:nvSpPr>
        <p:spPr>
          <a:xfrm>
            <a:off x="804672" y="6007608"/>
            <a:ext cx="6629400" cy="320040"/>
          </a:xfrm>
          <a:prstGeom prst="rect">
            <a:avLst/>
          </a:prstGeom>
          <a:noFill/>
          <a:ln/>
        </p:spPr>
        <p:txBody>
          <a:bodyPr wrap="square" lIns="0" tIns="0" rIns="0" bIns="0" rtlCol="0" anchor="ctr"/>
          <a:lstStyle/>
          <a:p>
            <a:pPr algn="l" indent="0" marL="0">
              <a:lnSpc>
                <a:spcPct val="103000"/>
              </a:lnSpc>
              <a:buNone/>
            </a:pPr>
            <a:r>
              <a:rPr lang="en-US" sz="1800" dirty="0">
                <a:solidFill>
                  <a:srgbClr val="51536A"/>
                </a:solidFill>
                <a:latin typeface="Arial" pitchFamily="34" charset="0"/>
                <a:ea typeface="Arial" pitchFamily="34" charset="-122"/>
                <a:cs typeface="Arial" pitchFamily="34" charset="-120"/>
              </a:rPr>
              <a:t>Expected S3 error · illustrative response</a:t>
            </a:r>
            <a:endParaRPr lang="en-US" sz="1800" dirty="0"/>
          </a:p>
        </p:txBody>
      </p:sp>
      <p:sp>
        <p:nvSpPr>
          <p:cNvPr id="16" name="Text 13"/>
          <p:cNvSpPr/>
          <p:nvPr/>
        </p:nvSpPr>
        <p:spPr>
          <a:xfrm>
            <a:off x="8001000" y="1828800"/>
            <a:ext cx="3474720" cy="50292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Request</a:t>
            </a:r>
            <a:endParaRPr lang="en-US" sz="2500" dirty="0"/>
          </a:p>
        </p:txBody>
      </p:sp>
      <p:sp>
        <p:nvSpPr>
          <p:cNvPr id="17" name="Text 14"/>
          <p:cNvSpPr/>
          <p:nvPr/>
        </p:nvSpPr>
        <p:spPr>
          <a:xfrm>
            <a:off x="8001000" y="2432304"/>
            <a:ext cx="3474720" cy="9601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Read a file that is not in an existing S3 bucket.</a:t>
            </a:r>
            <a:endParaRPr lang="en-US" sz="2400" dirty="0"/>
          </a:p>
        </p:txBody>
      </p:sp>
      <p:sp>
        <p:nvSpPr>
          <p:cNvPr id="18" name="Text 15"/>
          <p:cNvSpPr/>
          <p:nvPr/>
        </p:nvSpPr>
        <p:spPr>
          <a:xfrm>
            <a:off x="8001000" y="3337560"/>
            <a:ext cx="3474720" cy="50292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SDK error</a:t>
            </a:r>
            <a:endParaRPr lang="en-US" sz="2500" dirty="0"/>
          </a:p>
        </p:txBody>
      </p:sp>
      <p:sp>
        <p:nvSpPr>
          <p:cNvPr id="19" name="Text 16"/>
          <p:cNvSpPr/>
          <p:nvPr/>
        </p:nvSpPr>
        <p:spPr>
          <a:xfrm>
            <a:off x="8001000" y="3941064"/>
            <a:ext cx="3474720" cy="9601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The SDK recognises the code NoSuchKey.</a:t>
            </a:r>
            <a:endParaRPr lang="en-US" sz="2400" dirty="0"/>
          </a:p>
        </p:txBody>
      </p:sp>
      <p:sp>
        <p:nvSpPr>
          <p:cNvPr id="20" name="Text 17"/>
          <p:cNvSpPr/>
          <p:nvPr/>
        </p:nvSpPr>
        <p:spPr>
          <a:xfrm>
            <a:off x="8001000" y="4846320"/>
            <a:ext cx="3474720" cy="502920"/>
          </a:xfrm>
          <a:prstGeom prst="rect">
            <a:avLst/>
          </a:prstGeom>
          <a:noFill/>
          <a:ln/>
        </p:spPr>
        <p:txBody>
          <a:bodyPr wrap="square" lIns="0" tIns="0" rIns="0" bIns="0" rtlCol="0" anchor="ctr"/>
          <a:lstStyle/>
          <a:p>
            <a:pPr algn="l" indent="0" marL="0">
              <a:lnSpc>
                <a:spcPct val="103000"/>
              </a:lnSpc>
              <a:buNone/>
            </a:pPr>
            <a:r>
              <a:rPr lang="en-US" sz="2500" b="1" dirty="0">
                <a:solidFill>
                  <a:srgbClr val="37325F"/>
                </a:solidFill>
                <a:latin typeface="Arial" pitchFamily="34" charset="0"/>
                <a:ea typeface="Arial" pitchFamily="34" charset="-122"/>
                <a:cs typeface="Arial" pitchFamily="34" charset="-120"/>
              </a:rPr>
              <a:t>App behaviour</a:t>
            </a:r>
            <a:endParaRPr lang="en-US" sz="2500" dirty="0"/>
          </a:p>
        </p:txBody>
      </p:sp>
      <p:sp>
        <p:nvSpPr>
          <p:cNvPr id="21" name="Text 18"/>
          <p:cNvSpPr/>
          <p:nvPr/>
        </p:nvSpPr>
        <p:spPr>
          <a:xfrm>
            <a:off x="8001000" y="5449824"/>
            <a:ext cx="3474720" cy="96012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Show “file not found” to the user.</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Did the Lambda function run?</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developer tools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21</a:t>
            </a:r>
            <a:endParaRPr lang="en-US" sz="1500" dirty="0"/>
          </a:p>
        </p:txBody>
      </p:sp>
      <p:sp>
        <p:nvSpPr>
          <p:cNvPr id="12" name="Shape 9"/>
          <p:cNvSpPr/>
          <p:nvPr/>
        </p:nvSpPr>
        <p:spPr>
          <a:xfrm>
            <a:off x="685800" y="1700784"/>
            <a:ext cx="5285232" cy="3803904"/>
          </a:xfrm>
          <a:prstGeom prst="rect">
            <a:avLst/>
          </a:prstGeom>
          <a:solidFill>
            <a:srgbClr val="EAE7F2"/>
          </a:solidFill>
          <a:ln w="12700">
            <a:solidFill>
              <a:srgbClr val="EAE7F2"/>
            </a:solidFill>
            <a:prstDash val="solid"/>
          </a:ln>
        </p:spPr>
      </p:sp>
      <p:sp>
        <p:nvSpPr>
          <p:cNvPr id="13" name="Shape 10"/>
          <p:cNvSpPr/>
          <p:nvPr/>
        </p:nvSpPr>
        <p:spPr>
          <a:xfrm>
            <a:off x="685800" y="1700784"/>
            <a:ext cx="5285232" cy="932688"/>
          </a:xfrm>
          <a:prstGeom prst="rect">
            <a:avLst/>
          </a:prstGeom>
          <a:solidFill>
            <a:srgbClr val="37325F"/>
          </a:solidFill>
          <a:ln w="12700">
            <a:solidFill>
              <a:srgbClr val="37325F"/>
            </a:solidFill>
            <a:prstDash val="solid"/>
          </a:ln>
        </p:spPr>
      </p:sp>
      <p:sp>
        <p:nvSpPr>
          <p:cNvPr id="14" name="Text 11"/>
          <p:cNvSpPr/>
          <p:nvPr/>
        </p:nvSpPr>
        <p:spPr>
          <a:xfrm>
            <a:off x="82296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FAKECLOUD</a:t>
            </a:r>
            <a:endParaRPr lang="en-US" sz="2500" dirty="0"/>
          </a:p>
        </p:txBody>
      </p:sp>
      <p:sp>
        <p:nvSpPr>
          <p:cNvPr id="15" name="Shape 12"/>
          <p:cNvSpPr/>
          <p:nvPr/>
        </p:nvSpPr>
        <p:spPr>
          <a:xfrm>
            <a:off x="685800" y="1700784"/>
            <a:ext cx="59436" cy="3803904"/>
          </a:xfrm>
          <a:prstGeom prst="rect">
            <a:avLst/>
          </a:prstGeom>
          <a:solidFill>
            <a:srgbClr val="FF9810"/>
          </a:solidFill>
          <a:ln w="12700">
            <a:solidFill>
              <a:srgbClr val="FF9810"/>
            </a:solidFill>
            <a:prstDash val="solid"/>
          </a:ln>
        </p:spPr>
      </p:sp>
      <p:sp>
        <p:nvSpPr>
          <p:cNvPr id="16" name="Shape 13"/>
          <p:cNvSpPr/>
          <p:nvPr/>
        </p:nvSpPr>
        <p:spPr>
          <a:xfrm>
            <a:off x="822960" y="2651760"/>
            <a:ext cx="5010912" cy="921968"/>
          </a:xfrm>
          <a:prstGeom prst="rect">
            <a:avLst/>
          </a:prstGeom>
          <a:solidFill>
            <a:srgbClr val="FFFFFF"/>
          </a:solidFill>
          <a:ln w="12700">
            <a:solidFill>
              <a:srgbClr val="C6C2D3"/>
            </a:solidFill>
            <a:prstDash val="solid"/>
          </a:ln>
        </p:spPr>
      </p:sp>
      <p:sp>
        <p:nvSpPr>
          <p:cNvPr id="17" name="Text 14"/>
          <p:cNvSpPr/>
          <p:nvPr/>
        </p:nvSpPr>
        <p:spPr>
          <a:xfrm>
            <a:off x="941832" y="2743200"/>
            <a:ext cx="4773168" cy="739088"/>
          </a:xfrm>
          <a:prstGeom prst="rect">
            <a:avLst/>
          </a:prstGeom>
          <a:noFill/>
          <a:ln/>
        </p:spPr>
        <p:txBody>
          <a:bodyPr wrap="square" lIns="0" tIns="0" rIns="0" bIns="0" rtlCol="0" anchor="ctr"/>
          <a:lstStyle/>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GET</a:t>
            </a:r>
            <a:endParaRPr lang="en-US" sz="2000" dirty="0"/>
          </a:p>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/_fakecloud/lambda/invocations</a:t>
            </a:r>
            <a:endParaRPr lang="en-US" sz="2000" dirty="0"/>
          </a:p>
        </p:txBody>
      </p:sp>
      <p:sp>
        <p:nvSpPr>
          <p:cNvPr id="18" name="Text 15"/>
          <p:cNvSpPr/>
          <p:nvPr/>
        </p:nvSpPr>
        <p:spPr>
          <a:xfrm>
            <a:off x="868680" y="3665168"/>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Recorded function calls with input and output.</a:t>
            </a:r>
            <a:endParaRPr lang="en-US" sz="2400" dirty="0"/>
          </a:p>
        </p:txBody>
      </p:sp>
      <p:sp>
        <p:nvSpPr>
          <p:cNvPr id="19" name="Text 16"/>
          <p:cNvSpPr/>
          <p:nvPr/>
        </p:nvSpPr>
        <p:spPr>
          <a:xfrm>
            <a:off x="868680" y="4620149"/>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Inspect the result and errors of an invocation.</a:t>
            </a:r>
            <a:endParaRPr lang="en-US" sz="2400" dirty="0"/>
          </a:p>
        </p:txBody>
      </p:sp>
      <p:sp>
        <p:nvSpPr>
          <p:cNvPr id="20" name="Shape 17"/>
          <p:cNvSpPr/>
          <p:nvPr/>
        </p:nvSpPr>
        <p:spPr>
          <a:xfrm>
            <a:off x="6309360" y="1700784"/>
            <a:ext cx="5285232" cy="3803904"/>
          </a:xfrm>
          <a:prstGeom prst="rect">
            <a:avLst/>
          </a:prstGeom>
          <a:solidFill>
            <a:srgbClr val="EAE7F2"/>
          </a:solidFill>
          <a:ln w="12700">
            <a:solidFill>
              <a:srgbClr val="EAE7F2"/>
            </a:solidFill>
            <a:prstDash val="solid"/>
          </a:ln>
        </p:spPr>
      </p:sp>
      <p:sp>
        <p:nvSpPr>
          <p:cNvPr id="21" name="Shape 18"/>
          <p:cNvSpPr/>
          <p:nvPr/>
        </p:nvSpPr>
        <p:spPr>
          <a:xfrm>
            <a:off x="6309360" y="1700784"/>
            <a:ext cx="5285232" cy="932688"/>
          </a:xfrm>
          <a:prstGeom prst="rect">
            <a:avLst/>
          </a:prstGeom>
          <a:solidFill>
            <a:srgbClr val="37325F"/>
          </a:solidFill>
          <a:ln w="12700">
            <a:solidFill>
              <a:srgbClr val="37325F"/>
            </a:solidFill>
            <a:prstDash val="solid"/>
          </a:ln>
        </p:spPr>
      </p:sp>
      <p:sp>
        <p:nvSpPr>
          <p:cNvPr id="22" name="Text 19"/>
          <p:cNvSpPr/>
          <p:nvPr/>
        </p:nvSpPr>
        <p:spPr>
          <a:xfrm>
            <a:off x="644652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LOCALSTACK</a:t>
            </a:r>
            <a:endParaRPr lang="en-US" sz="2500" dirty="0"/>
          </a:p>
        </p:txBody>
      </p:sp>
      <p:sp>
        <p:nvSpPr>
          <p:cNvPr id="23" name="Shape 20"/>
          <p:cNvSpPr/>
          <p:nvPr/>
        </p:nvSpPr>
        <p:spPr>
          <a:xfrm>
            <a:off x="6309360" y="1700784"/>
            <a:ext cx="59436" cy="3803904"/>
          </a:xfrm>
          <a:prstGeom prst="rect">
            <a:avLst/>
          </a:prstGeom>
          <a:solidFill>
            <a:srgbClr val="FF9810"/>
          </a:solidFill>
          <a:ln w="12700">
            <a:solidFill>
              <a:srgbClr val="FF9810"/>
            </a:solidFill>
            <a:prstDash val="solid"/>
          </a:ln>
        </p:spPr>
      </p:sp>
      <p:sp>
        <p:nvSpPr>
          <p:cNvPr id="24" name="Shape 21"/>
          <p:cNvSpPr/>
          <p:nvPr/>
        </p:nvSpPr>
        <p:spPr>
          <a:xfrm>
            <a:off x="6446520" y="2651760"/>
            <a:ext cx="5010912" cy="921968"/>
          </a:xfrm>
          <a:prstGeom prst="rect">
            <a:avLst/>
          </a:prstGeom>
          <a:solidFill>
            <a:srgbClr val="FFFFFF"/>
          </a:solidFill>
          <a:ln w="12700">
            <a:solidFill>
              <a:srgbClr val="C6C2D3"/>
            </a:solidFill>
            <a:prstDash val="solid"/>
          </a:ln>
        </p:spPr>
      </p:sp>
      <p:sp>
        <p:nvSpPr>
          <p:cNvPr id="25" name="Text 22"/>
          <p:cNvSpPr/>
          <p:nvPr/>
        </p:nvSpPr>
        <p:spPr>
          <a:xfrm>
            <a:off x="6565392" y="2743200"/>
            <a:ext cx="4773168" cy="739088"/>
          </a:xfrm>
          <a:prstGeom prst="rect">
            <a:avLst/>
          </a:prstGeom>
          <a:noFill/>
          <a:ln/>
        </p:spPr>
        <p:txBody>
          <a:bodyPr wrap="square" lIns="0" tIns="0" rIns="0" bIns="0" rtlCol="0" anchor="ctr"/>
          <a:lstStyle/>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Log group:</a:t>
            </a:r>
            <a:endParaRPr lang="en-US" sz="2000" dirty="0"/>
          </a:p>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/aws/lambda/&lt;name&gt;</a:t>
            </a:r>
            <a:endParaRPr lang="en-US" sz="2000" dirty="0"/>
          </a:p>
        </p:txBody>
      </p:sp>
      <p:sp>
        <p:nvSpPr>
          <p:cNvPr id="26" name="Text 23"/>
          <p:cNvSpPr/>
          <p:nvPr/>
        </p:nvSpPr>
        <p:spPr>
          <a:xfrm>
            <a:off x="6492240" y="3665168"/>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Read function logs through CloudWatch Logs.</a:t>
            </a:r>
            <a:endParaRPr lang="en-US" sz="2400" dirty="0"/>
          </a:p>
        </p:txBody>
      </p:sp>
      <p:sp>
        <p:nvSpPr>
          <p:cNvPr id="27" name="Text 24"/>
          <p:cNvSpPr/>
          <p:nvPr/>
        </p:nvSpPr>
        <p:spPr>
          <a:xfrm>
            <a:off x="6492240" y="4620149"/>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Look for invocation entries, console output and exceptions.</a:t>
            </a:r>
            <a:endParaRPr lang="en-US" sz="2400" dirty="0"/>
          </a:p>
        </p:txBody>
      </p:sp>
      <p:sp>
        <p:nvSpPr>
          <p:cNvPr id="28" name="Shape 25"/>
          <p:cNvSpPr/>
          <p:nvPr/>
        </p:nvSpPr>
        <p:spPr>
          <a:xfrm>
            <a:off x="594360" y="5522976"/>
            <a:ext cx="11000232" cy="841248"/>
          </a:xfrm>
          <a:prstGeom prst="rect">
            <a:avLst/>
          </a:prstGeom>
          <a:solidFill>
            <a:srgbClr val="EAE7F2"/>
          </a:solidFill>
          <a:ln w="12700">
            <a:solidFill>
              <a:srgbClr val="EAE7F2"/>
            </a:solidFill>
            <a:prstDash val="solid"/>
          </a:ln>
        </p:spPr>
      </p:sp>
      <p:sp>
        <p:nvSpPr>
          <p:cNvPr id="29" name="Shape 26"/>
          <p:cNvSpPr/>
          <p:nvPr/>
        </p:nvSpPr>
        <p:spPr>
          <a:xfrm>
            <a:off x="594360" y="5522976"/>
            <a:ext cx="59436" cy="841248"/>
          </a:xfrm>
          <a:prstGeom prst="rect">
            <a:avLst/>
          </a:prstGeom>
          <a:solidFill>
            <a:srgbClr val="FF9810"/>
          </a:solidFill>
          <a:ln w="12700">
            <a:solidFill>
              <a:srgbClr val="FF9810"/>
            </a:solidFill>
            <a:prstDash val="solid"/>
          </a:ln>
        </p:spPr>
      </p:sp>
      <p:sp>
        <p:nvSpPr>
          <p:cNvPr id="30" name="Text 27"/>
          <p:cNvSpPr/>
          <p:nvPr/>
        </p:nvSpPr>
        <p:spPr>
          <a:xfrm>
            <a:off x="777240" y="5614416"/>
            <a:ext cx="10652760" cy="77724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Check whether the function was invoked before debugging its code.</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How do you start with an empty queue?</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developer tools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22</a:t>
            </a:r>
            <a:endParaRPr lang="en-US" sz="1500" dirty="0"/>
          </a:p>
        </p:txBody>
      </p:sp>
      <p:sp>
        <p:nvSpPr>
          <p:cNvPr id="12" name="Shape 9"/>
          <p:cNvSpPr/>
          <p:nvPr/>
        </p:nvSpPr>
        <p:spPr>
          <a:xfrm>
            <a:off x="685800" y="1783080"/>
            <a:ext cx="3017520" cy="1088136"/>
          </a:xfrm>
          <a:prstGeom prst="rect">
            <a:avLst/>
          </a:prstGeom>
          <a:solidFill>
            <a:srgbClr val="37325F"/>
          </a:solidFill>
          <a:ln w="12700">
            <a:solidFill>
              <a:srgbClr val="37325F"/>
            </a:solidFill>
            <a:prstDash val="solid"/>
          </a:ln>
        </p:spPr>
      </p:sp>
      <p:sp>
        <p:nvSpPr>
          <p:cNvPr id="13" name="Shape 10"/>
          <p:cNvSpPr/>
          <p:nvPr/>
        </p:nvSpPr>
        <p:spPr>
          <a:xfrm>
            <a:off x="3767328" y="1783080"/>
            <a:ext cx="7708392" cy="1088136"/>
          </a:xfrm>
          <a:prstGeom prst="rect">
            <a:avLst/>
          </a:prstGeom>
          <a:solidFill>
            <a:srgbClr val="EAE7F2"/>
          </a:solidFill>
          <a:ln w="12700">
            <a:solidFill>
              <a:srgbClr val="EAE7F2"/>
            </a:solidFill>
            <a:prstDash val="solid"/>
          </a:ln>
        </p:spPr>
      </p:sp>
      <p:sp>
        <p:nvSpPr>
          <p:cNvPr id="14" name="Shape 11"/>
          <p:cNvSpPr/>
          <p:nvPr/>
        </p:nvSpPr>
        <p:spPr>
          <a:xfrm>
            <a:off x="685800" y="1783080"/>
            <a:ext cx="59436" cy="1088136"/>
          </a:xfrm>
          <a:prstGeom prst="rect">
            <a:avLst/>
          </a:prstGeom>
          <a:solidFill>
            <a:srgbClr val="FF9810"/>
          </a:solidFill>
          <a:ln w="12700">
            <a:solidFill>
              <a:srgbClr val="FF9810"/>
            </a:solidFill>
            <a:prstDash val="solid"/>
          </a:ln>
        </p:spPr>
      </p:sp>
      <p:sp>
        <p:nvSpPr>
          <p:cNvPr id="15" name="Text 12"/>
          <p:cNvSpPr/>
          <p:nvPr/>
        </p:nvSpPr>
        <p:spPr>
          <a:xfrm>
            <a:off x="896112" y="182880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Empty one queue</a:t>
            </a:r>
            <a:endParaRPr lang="en-US" sz="2500" dirty="0"/>
          </a:p>
        </p:txBody>
      </p:sp>
      <p:sp>
        <p:nvSpPr>
          <p:cNvPr id="16" name="Text 13"/>
          <p:cNvSpPr/>
          <p:nvPr/>
        </p:nvSpPr>
        <p:spPr>
          <a:xfrm>
            <a:off x="3886200" y="182880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PurgeQueue removes the messages while keeping the queue and its configuration.</a:t>
            </a:r>
            <a:endParaRPr lang="en-US" sz="2400" dirty="0"/>
          </a:p>
        </p:txBody>
      </p:sp>
      <p:sp>
        <p:nvSpPr>
          <p:cNvPr id="17" name="Shape 14"/>
          <p:cNvSpPr/>
          <p:nvPr/>
        </p:nvSpPr>
        <p:spPr>
          <a:xfrm>
            <a:off x="685800" y="3017520"/>
            <a:ext cx="3017520" cy="1088136"/>
          </a:xfrm>
          <a:prstGeom prst="rect">
            <a:avLst/>
          </a:prstGeom>
          <a:solidFill>
            <a:srgbClr val="37325F"/>
          </a:solidFill>
          <a:ln w="12700">
            <a:solidFill>
              <a:srgbClr val="37325F"/>
            </a:solidFill>
            <a:prstDash val="solid"/>
          </a:ln>
        </p:spPr>
      </p:sp>
      <p:sp>
        <p:nvSpPr>
          <p:cNvPr id="18" name="Shape 15"/>
          <p:cNvSpPr/>
          <p:nvPr/>
        </p:nvSpPr>
        <p:spPr>
          <a:xfrm>
            <a:off x="3767328" y="3017520"/>
            <a:ext cx="7708392" cy="1088136"/>
          </a:xfrm>
          <a:prstGeom prst="rect">
            <a:avLst/>
          </a:prstGeom>
          <a:solidFill>
            <a:srgbClr val="EAE7F2"/>
          </a:solidFill>
          <a:ln w="12700">
            <a:solidFill>
              <a:srgbClr val="EAE7F2"/>
            </a:solidFill>
            <a:prstDash val="solid"/>
          </a:ln>
        </p:spPr>
      </p:sp>
      <p:sp>
        <p:nvSpPr>
          <p:cNvPr id="19" name="Shape 16"/>
          <p:cNvSpPr/>
          <p:nvPr/>
        </p:nvSpPr>
        <p:spPr>
          <a:xfrm>
            <a:off x="685800" y="3017520"/>
            <a:ext cx="59436" cy="1088136"/>
          </a:xfrm>
          <a:prstGeom prst="rect">
            <a:avLst/>
          </a:prstGeom>
          <a:solidFill>
            <a:srgbClr val="FF9810"/>
          </a:solidFill>
          <a:ln w="12700">
            <a:solidFill>
              <a:srgbClr val="FF9810"/>
            </a:solidFill>
            <a:prstDash val="solid"/>
          </a:ln>
        </p:spPr>
      </p:sp>
      <p:sp>
        <p:nvSpPr>
          <p:cNvPr id="20" name="Text 17"/>
          <p:cNvSpPr/>
          <p:nvPr/>
        </p:nvSpPr>
        <p:spPr>
          <a:xfrm>
            <a:off x="896112" y="306324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Recreate a queue</a:t>
            </a:r>
            <a:endParaRPr lang="en-US" sz="2500" dirty="0"/>
          </a:p>
        </p:txBody>
      </p:sp>
      <p:sp>
        <p:nvSpPr>
          <p:cNvPr id="21" name="Text 18"/>
          <p:cNvSpPr/>
          <p:nvPr/>
        </p:nvSpPr>
        <p:spPr>
          <a:xfrm>
            <a:off x="3886200" y="306324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DeleteQueue removes the queue. Create it again with the settings needed for the next run.</a:t>
            </a:r>
            <a:endParaRPr lang="en-US" sz="2400" dirty="0"/>
          </a:p>
        </p:txBody>
      </p:sp>
      <p:sp>
        <p:nvSpPr>
          <p:cNvPr id="22" name="Shape 19"/>
          <p:cNvSpPr/>
          <p:nvPr/>
        </p:nvSpPr>
        <p:spPr>
          <a:xfrm>
            <a:off x="685800" y="4251960"/>
            <a:ext cx="3017520" cy="1088136"/>
          </a:xfrm>
          <a:prstGeom prst="rect">
            <a:avLst/>
          </a:prstGeom>
          <a:solidFill>
            <a:srgbClr val="37325F"/>
          </a:solidFill>
          <a:ln w="12700">
            <a:solidFill>
              <a:srgbClr val="37325F"/>
            </a:solidFill>
            <a:prstDash val="solid"/>
          </a:ln>
        </p:spPr>
      </p:sp>
      <p:sp>
        <p:nvSpPr>
          <p:cNvPr id="23" name="Shape 20"/>
          <p:cNvSpPr/>
          <p:nvPr/>
        </p:nvSpPr>
        <p:spPr>
          <a:xfrm>
            <a:off x="3767328" y="4251960"/>
            <a:ext cx="7708392" cy="1088136"/>
          </a:xfrm>
          <a:prstGeom prst="rect">
            <a:avLst/>
          </a:prstGeom>
          <a:solidFill>
            <a:srgbClr val="EAE7F2"/>
          </a:solidFill>
          <a:ln w="12700">
            <a:solidFill>
              <a:srgbClr val="EAE7F2"/>
            </a:solidFill>
            <a:prstDash val="solid"/>
          </a:ln>
        </p:spPr>
      </p:sp>
      <p:sp>
        <p:nvSpPr>
          <p:cNvPr id="24" name="Shape 21"/>
          <p:cNvSpPr/>
          <p:nvPr/>
        </p:nvSpPr>
        <p:spPr>
          <a:xfrm>
            <a:off x="685800" y="4251960"/>
            <a:ext cx="59436" cy="1088136"/>
          </a:xfrm>
          <a:prstGeom prst="rect">
            <a:avLst/>
          </a:prstGeom>
          <a:solidFill>
            <a:srgbClr val="FF9810"/>
          </a:solidFill>
          <a:ln w="12700">
            <a:solidFill>
              <a:srgbClr val="FF9810"/>
            </a:solidFill>
            <a:prstDash val="solid"/>
          </a:ln>
        </p:spPr>
      </p:sp>
      <p:sp>
        <p:nvSpPr>
          <p:cNvPr id="25" name="Text 22"/>
          <p:cNvSpPr/>
          <p:nvPr/>
        </p:nvSpPr>
        <p:spPr>
          <a:xfrm>
            <a:off x="896112" y="4297680"/>
            <a:ext cx="2743200" cy="1124712"/>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FakeCloud reset</a:t>
            </a:r>
            <a:endParaRPr lang="en-US" sz="2500" dirty="0"/>
          </a:p>
        </p:txBody>
      </p:sp>
      <p:sp>
        <p:nvSpPr>
          <p:cNvPr id="26" name="Text 23"/>
          <p:cNvSpPr/>
          <p:nvPr/>
        </p:nvSpPr>
        <p:spPr>
          <a:xfrm>
            <a:off x="3886200" y="4297680"/>
            <a:ext cx="7452360" cy="112471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POST /_fakecloud/reset/sqs clears all local SQS state, including queues and messages.</a:t>
            </a:r>
            <a:endParaRPr lang="en-US" sz="2400" dirty="0"/>
          </a:p>
        </p:txBody>
      </p:sp>
      <p:sp>
        <p:nvSpPr>
          <p:cNvPr id="27" name="Shape 24"/>
          <p:cNvSpPr/>
          <p:nvPr/>
        </p:nvSpPr>
        <p:spPr>
          <a:xfrm>
            <a:off x="594360" y="5522976"/>
            <a:ext cx="11000232" cy="841248"/>
          </a:xfrm>
          <a:prstGeom prst="rect">
            <a:avLst/>
          </a:prstGeom>
          <a:solidFill>
            <a:srgbClr val="EAE7F2"/>
          </a:solidFill>
          <a:ln w="12700">
            <a:solidFill>
              <a:srgbClr val="EAE7F2"/>
            </a:solidFill>
            <a:prstDash val="solid"/>
          </a:ln>
        </p:spPr>
      </p:sp>
      <p:sp>
        <p:nvSpPr>
          <p:cNvPr id="28" name="Shape 25"/>
          <p:cNvSpPr/>
          <p:nvPr/>
        </p:nvSpPr>
        <p:spPr>
          <a:xfrm>
            <a:off x="594360" y="5522976"/>
            <a:ext cx="59436" cy="841248"/>
          </a:xfrm>
          <a:prstGeom prst="rect">
            <a:avLst/>
          </a:prstGeom>
          <a:solidFill>
            <a:srgbClr val="FF9810"/>
          </a:solidFill>
          <a:ln w="12700">
            <a:solidFill>
              <a:srgbClr val="FF9810"/>
            </a:solidFill>
            <a:prstDash val="solid"/>
          </a:ln>
        </p:spPr>
      </p:sp>
      <p:sp>
        <p:nvSpPr>
          <p:cNvPr id="29" name="Text 26"/>
          <p:cNvSpPr/>
          <p:nvPr/>
        </p:nvSpPr>
        <p:spPr>
          <a:xfrm>
            <a:off x="777240" y="5614416"/>
            <a:ext cx="10652760" cy="77724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PurgeQueue and DeleteQueue work with both emulators.</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Keeping data after a restart</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developer tools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23</a:t>
            </a:r>
            <a:endParaRPr lang="en-US" sz="1500" dirty="0"/>
          </a:p>
        </p:txBody>
      </p:sp>
      <p:sp>
        <p:nvSpPr>
          <p:cNvPr id="12" name="Shape 9"/>
          <p:cNvSpPr/>
          <p:nvPr/>
        </p:nvSpPr>
        <p:spPr>
          <a:xfrm>
            <a:off x="685800" y="1700784"/>
            <a:ext cx="5285232" cy="3803904"/>
          </a:xfrm>
          <a:prstGeom prst="rect">
            <a:avLst/>
          </a:prstGeom>
          <a:solidFill>
            <a:srgbClr val="EAE7F2"/>
          </a:solidFill>
          <a:ln w="12700">
            <a:solidFill>
              <a:srgbClr val="EAE7F2"/>
            </a:solidFill>
            <a:prstDash val="solid"/>
          </a:ln>
        </p:spPr>
      </p:sp>
      <p:sp>
        <p:nvSpPr>
          <p:cNvPr id="13" name="Shape 10"/>
          <p:cNvSpPr/>
          <p:nvPr/>
        </p:nvSpPr>
        <p:spPr>
          <a:xfrm>
            <a:off x="685800" y="1700784"/>
            <a:ext cx="5285232" cy="932688"/>
          </a:xfrm>
          <a:prstGeom prst="rect">
            <a:avLst/>
          </a:prstGeom>
          <a:solidFill>
            <a:srgbClr val="37325F"/>
          </a:solidFill>
          <a:ln w="12700">
            <a:solidFill>
              <a:srgbClr val="37325F"/>
            </a:solidFill>
            <a:prstDash val="solid"/>
          </a:ln>
        </p:spPr>
      </p:sp>
      <p:sp>
        <p:nvSpPr>
          <p:cNvPr id="14" name="Text 11"/>
          <p:cNvSpPr/>
          <p:nvPr/>
        </p:nvSpPr>
        <p:spPr>
          <a:xfrm>
            <a:off x="82296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FAKECLOUD · COMMAND</a:t>
            </a:r>
            <a:endParaRPr lang="en-US" sz="2500" dirty="0"/>
          </a:p>
        </p:txBody>
      </p:sp>
      <p:sp>
        <p:nvSpPr>
          <p:cNvPr id="15" name="Shape 12"/>
          <p:cNvSpPr/>
          <p:nvPr/>
        </p:nvSpPr>
        <p:spPr>
          <a:xfrm>
            <a:off x="685800" y="1700784"/>
            <a:ext cx="59436" cy="3803904"/>
          </a:xfrm>
          <a:prstGeom prst="rect">
            <a:avLst/>
          </a:prstGeom>
          <a:solidFill>
            <a:srgbClr val="FF9810"/>
          </a:solidFill>
          <a:ln w="12700">
            <a:solidFill>
              <a:srgbClr val="FF9810"/>
            </a:solidFill>
            <a:prstDash val="solid"/>
          </a:ln>
        </p:spPr>
      </p:sp>
      <p:sp>
        <p:nvSpPr>
          <p:cNvPr id="16" name="Shape 13"/>
          <p:cNvSpPr/>
          <p:nvPr/>
        </p:nvSpPr>
        <p:spPr>
          <a:xfrm>
            <a:off x="822960" y="2651760"/>
            <a:ext cx="5010912" cy="1232077"/>
          </a:xfrm>
          <a:prstGeom prst="rect">
            <a:avLst/>
          </a:prstGeom>
          <a:solidFill>
            <a:srgbClr val="FFFFFF"/>
          </a:solidFill>
          <a:ln w="12700">
            <a:solidFill>
              <a:srgbClr val="C6C2D3"/>
            </a:solidFill>
            <a:prstDash val="solid"/>
          </a:ln>
        </p:spPr>
      </p:sp>
      <p:sp>
        <p:nvSpPr>
          <p:cNvPr id="17" name="Text 14"/>
          <p:cNvSpPr/>
          <p:nvPr/>
        </p:nvSpPr>
        <p:spPr>
          <a:xfrm>
            <a:off x="941832" y="2743200"/>
            <a:ext cx="4773168" cy="1049197"/>
          </a:xfrm>
          <a:prstGeom prst="rect">
            <a:avLst/>
          </a:prstGeom>
          <a:noFill/>
          <a:ln/>
        </p:spPr>
        <p:txBody>
          <a:bodyPr wrap="square" lIns="0" tIns="0" rIns="0" bIns="0" rtlCol="0" anchor="ctr"/>
          <a:lstStyle/>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fakecloud \</a:t>
            </a:r>
            <a:endParaRPr lang="en-US" sz="2000" dirty="0"/>
          </a:p>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  --storage-mode persistent \</a:t>
            </a:r>
            <a:endParaRPr lang="en-US" sz="2000" dirty="0"/>
          </a:p>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  --data-path ./local-data</a:t>
            </a:r>
            <a:endParaRPr lang="en-US" sz="2000" dirty="0"/>
          </a:p>
        </p:txBody>
      </p:sp>
      <p:sp>
        <p:nvSpPr>
          <p:cNvPr id="18" name="Text 15"/>
          <p:cNvSpPr/>
          <p:nvPr/>
        </p:nvSpPr>
        <p:spPr>
          <a:xfrm>
            <a:off x="868680" y="3975277"/>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Save to ./local-data and reuse that directory after a restart.</a:t>
            </a:r>
            <a:endParaRPr lang="en-US" sz="2400" dirty="0"/>
          </a:p>
        </p:txBody>
      </p:sp>
      <p:sp>
        <p:nvSpPr>
          <p:cNvPr id="19" name="Shape 16"/>
          <p:cNvSpPr/>
          <p:nvPr/>
        </p:nvSpPr>
        <p:spPr>
          <a:xfrm>
            <a:off x="6309360" y="1700784"/>
            <a:ext cx="5285232" cy="3803904"/>
          </a:xfrm>
          <a:prstGeom prst="rect">
            <a:avLst/>
          </a:prstGeom>
          <a:solidFill>
            <a:srgbClr val="EAE7F2"/>
          </a:solidFill>
          <a:ln w="12700">
            <a:solidFill>
              <a:srgbClr val="EAE7F2"/>
            </a:solidFill>
            <a:prstDash val="solid"/>
          </a:ln>
        </p:spPr>
      </p:sp>
      <p:sp>
        <p:nvSpPr>
          <p:cNvPr id="20" name="Shape 17"/>
          <p:cNvSpPr/>
          <p:nvPr/>
        </p:nvSpPr>
        <p:spPr>
          <a:xfrm>
            <a:off x="6309360" y="1700784"/>
            <a:ext cx="5285232" cy="932688"/>
          </a:xfrm>
          <a:prstGeom prst="rect">
            <a:avLst/>
          </a:prstGeom>
          <a:solidFill>
            <a:srgbClr val="37325F"/>
          </a:solidFill>
          <a:ln w="12700">
            <a:solidFill>
              <a:srgbClr val="37325F"/>
            </a:solidFill>
            <a:prstDash val="solid"/>
          </a:ln>
        </p:spPr>
      </p:sp>
      <p:sp>
        <p:nvSpPr>
          <p:cNvPr id="21" name="Text 18"/>
          <p:cNvSpPr/>
          <p:nvPr/>
        </p:nvSpPr>
        <p:spPr>
          <a:xfrm>
            <a:off x="644652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LOCALSTACK · SETTING</a:t>
            </a:r>
            <a:endParaRPr lang="en-US" sz="2500" dirty="0"/>
          </a:p>
        </p:txBody>
      </p:sp>
      <p:sp>
        <p:nvSpPr>
          <p:cNvPr id="22" name="Shape 19"/>
          <p:cNvSpPr/>
          <p:nvPr/>
        </p:nvSpPr>
        <p:spPr>
          <a:xfrm>
            <a:off x="6309360" y="1700784"/>
            <a:ext cx="59436" cy="3803904"/>
          </a:xfrm>
          <a:prstGeom prst="rect">
            <a:avLst/>
          </a:prstGeom>
          <a:solidFill>
            <a:srgbClr val="FF9810"/>
          </a:solidFill>
          <a:ln w="12700">
            <a:solidFill>
              <a:srgbClr val="FF9810"/>
            </a:solidFill>
            <a:prstDash val="solid"/>
          </a:ln>
        </p:spPr>
      </p:sp>
      <p:sp>
        <p:nvSpPr>
          <p:cNvPr id="23" name="Shape 20"/>
          <p:cNvSpPr/>
          <p:nvPr/>
        </p:nvSpPr>
        <p:spPr>
          <a:xfrm>
            <a:off x="6446520" y="2651760"/>
            <a:ext cx="5010912" cy="611860"/>
          </a:xfrm>
          <a:prstGeom prst="rect">
            <a:avLst/>
          </a:prstGeom>
          <a:solidFill>
            <a:srgbClr val="FFFFFF"/>
          </a:solidFill>
          <a:ln w="12700">
            <a:solidFill>
              <a:srgbClr val="C6C2D3"/>
            </a:solidFill>
            <a:prstDash val="solid"/>
          </a:ln>
        </p:spPr>
      </p:sp>
      <p:sp>
        <p:nvSpPr>
          <p:cNvPr id="24" name="Text 21"/>
          <p:cNvSpPr/>
          <p:nvPr/>
        </p:nvSpPr>
        <p:spPr>
          <a:xfrm>
            <a:off x="6565392" y="2743200"/>
            <a:ext cx="4773168" cy="428980"/>
          </a:xfrm>
          <a:prstGeom prst="rect">
            <a:avLst/>
          </a:prstGeom>
          <a:noFill/>
          <a:ln/>
        </p:spPr>
        <p:txBody>
          <a:bodyPr wrap="square" lIns="0" tIns="0" rIns="0" bIns="0" rtlCol="0" anchor="ctr"/>
          <a:lstStyle/>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PERSISTENCE=1</a:t>
            </a:r>
            <a:endParaRPr lang="en-US" sz="2000" dirty="0"/>
          </a:p>
        </p:txBody>
      </p:sp>
      <p:sp>
        <p:nvSpPr>
          <p:cNvPr id="25" name="Text 22"/>
          <p:cNvSpPr/>
          <p:nvPr/>
        </p:nvSpPr>
        <p:spPr>
          <a:xfrm>
            <a:off x="6492240" y="3355060"/>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Save snapshots in a persistent, mounted data directory.</a:t>
            </a:r>
            <a:endParaRPr lang="en-US" sz="2400" dirty="0"/>
          </a:p>
        </p:txBody>
      </p:sp>
      <p:sp>
        <p:nvSpPr>
          <p:cNvPr id="26" name="Text 23"/>
          <p:cNvSpPr/>
          <p:nvPr/>
        </p:nvSpPr>
        <p:spPr>
          <a:xfrm>
            <a:off x="6492240" y="4310041"/>
            <a:ext cx="4873752" cy="43634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Requires Base or Ultimate.</a:t>
            </a:r>
            <a:endParaRPr lang="en-US" sz="2400" dirty="0"/>
          </a:p>
        </p:txBody>
      </p:sp>
      <p:sp>
        <p:nvSpPr>
          <p:cNvPr id="27" name="Shape 24"/>
          <p:cNvSpPr/>
          <p:nvPr/>
        </p:nvSpPr>
        <p:spPr>
          <a:xfrm>
            <a:off x="594360" y="5522976"/>
            <a:ext cx="11000232" cy="841248"/>
          </a:xfrm>
          <a:prstGeom prst="rect">
            <a:avLst/>
          </a:prstGeom>
          <a:solidFill>
            <a:srgbClr val="EAE7F2"/>
          </a:solidFill>
          <a:ln w="12700">
            <a:solidFill>
              <a:srgbClr val="EAE7F2"/>
            </a:solidFill>
            <a:prstDash val="solid"/>
          </a:ln>
        </p:spPr>
      </p:sp>
      <p:sp>
        <p:nvSpPr>
          <p:cNvPr id="28" name="Shape 25"/>
          <p:cNvSpPr/>
          <p:nvPr/>
        </p:nvSpPr>
        <p:spPr>
          <a:xfrm>
            <a:off x="594360" y="5522976"/>
            <a:ext cx="59436" cy="841248"/>
          </a:xfrm>
          <a:prstGeom prst="rect">
            <a:avLst/>
          </a:prstGeom>
          <a:solidFill>
            <a:srgbClr val="FF9810"/>
          </a:solidFill>
          <a:ln w="12700">
            <a:solidFill>
              <a:srgbClr val="FF9810"/>
            </a:solidFill>
            <a:prstDash val="solid"/>
          </a:ln>
        </p:spPr>
      </p:sp>
      <p:sp>
        <p:nvSpPr>
          <p:cNvPr id="29" name="Text 26"/>
          <p:cNvSpPr/>
          <p:nvPr/>
        </p:nvSpPr>
        <p:spPr>
          <a:xfrm>
            <a:off x="777240" y="5614416"/>
            <a:ext cx="10652760" cy="77724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Docker: keep the data directory outside the container.</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Switching an existing project</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integrations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24</a:t>
            </a:r>
            <a:endParaRPr lang="en-US" sz="1500" dirty="0"/>
          </a:p>
        </p:txBody>
      </p:sp>
      <p:sp>
        <p:nvSpPr>
          <p:cNvPr id="12" name="Shape 9"/>
          <p:cNvSpPr/>
          <p:nvPr/>
        </p:nvSpPr>
        <p:spPr>
          <a:xfrm>
            <a:off x="594360" y="1737360"/>
            <a:ext cx="11109960" cy="566928"/>
          </a:xfrm>
          <a:prstGeom prst="rect">
            <a:avLst/>
          </a:prstGeom>
          <a:solidFill>
            <a:srgbClr val="37325F"/>
          </a:solidFill>
          <a:ln w="12700">
            <a:solidFill>
              <a:srgbClr val="37325F"/>
            </a:solidFill>
            <a:prstDash val="solid"/>
          </a:ln>
        </p:spPr>
      </p:sp>
      <p:sp>
        <p:nvSpPr>
          <p:cNvPr id="13" name="Text 10"/>
          <p:cNvSpPr/>
          <p:nvPr/>
        </p:nvSpPr>
        <p:spPr>
          <a:xfrm>
            <a:off x="722376" y="1874520"/>
            <a:ext cx="212140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WORKFLOW</a:t>
            </a:r>
            <a:endParaRPr lang="en-US" sz="1900" dirty="0"/>
          </a:p>
        </p:txBody>
      </p:sp>
      <p:sp>
        <p:nvSpPr>
          <p:cNvPr id="14" name="Text 11"/>
          <p:cNvSpPr/>
          <p:nvPr/>
        </p:nvSpPr>
        <p:spPr>
          <a:xfrm>
            <a:off x="3099816" y="1874520"/>
            <a:ext cx="395020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FAKECLOUD</a:t>
            </a:r>
            <a:endParaRPr lang="en-US" sz="1900" dirty="0"/>
          </a:p>
        </p:txBody>
      </p:sp>
      <p:sp>
        <p:nvSpPr>
          <p:cNvPr id="15" name="Text 12"/>
          <p:cNvSpPr/>
          <p:nvPr/>
        </p:nvSpPr>
        <p:spPr>
          <a:xfrm>
            <a:off x="7306056" y="1874520"/>
            <a:ext cx="427024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LOCALSTACK</a:t>
            </a:r>
            <a:endParaRPr lang="en-US" sz="1900" dirty="0"/>
          </a:p>
        </p:txBody>
      </p:sp>
      <p:sp>
        <p:nvSpPr>
          <p:cNvPr id="16" name="Shape 13"/>
          <p:cNvSpPr/>
          <p:nvPr/>
        </p:nvSpPr>
        <p:spPr>
          <a:xfrm>
            <a:off x="594360" y="2304288"/>
            <a:ext cx="11109960" cy="960120"/>
          </a:xfrm>
          <a:prstGeom prst="rect">
            <a:avLst/>
          </a:prstGeom>
          <a:solidFill>
            <a:srgbClr val="FFFFFF"/>
          </a:solidFill>
          <a:ln w="12700">
            <a:solidFill>
              <a:srgbClr val="FFFFFF"/>
            </a:solidFill>
            <a:prstDash val="solid"/>
          </a:ln>
        </p:spPr>
      </p:sp>
      <p:sp>
        <p:nvSpPr>
          <p:cNvPr id="17" name="Shape 14"/>
          <p:cNvSpPr/>
          <p:nvPr/>
        </p:nvSpPr>
        <p:spPr>
          <a:xfrm>
            <a:off x="594360" y="2304288"/>
            <a:ext cx="2377440" cy="960120"/>
          </a:xfrm>
          <a:prstGeom prst="rect">
            <a:avLst/>
          </a:prstGeom>
          <a:solidFill>
            <a:srgbClr val="37325F"/>
          </a:solidFill>
          <a:ln w="12700">
            <a:solidFill>
              <a:srgbClr val="37325F"/>
            </a:solidFill>
            <a:prstDash val="solid"/>
          </a:ln>
        </p:spPr>
      </p:sp>
      <p:sp>
        <p:nvSpPr>
          <p:cNvPr id="18" name="Shape 15"/>
          <p:cNvSpPr/>
          <p:nvPr/>
        </p:nvSpPr>
        <p:spPr>
          <a:xfrm>
            <a:off x="594360" y="2304288"/>
            <a:ext cx="50292" cy="960120"/>
          </a:xfrm>
          <a:prstGeom prst="rect">
            <a:avLst/>
          </a:prstGeom>
          <a:solidFill>
            <a:srgbClr val="FF9810"/>
          </a:solidFill>
          <a:ln w="12700">
            <a:solidFill>
              <a:srgbClr val="FF9810"/>
            </a:solidFill>
            <a:prstDash val="solid"/>
          </a:ln>
        </p:spPr>
      </p:sp>
      <p:sp>
        <p:nvSpPr>
          <p:cNvPr id="19" name="Text 16"/>
          <p:cNvSpPr/>
          <p:nvPr/>
        </p:nvSpPr>
        <p:spPr>
          <a:xfrm>
            <a:off x="722376" y="2432304"/>
            <a:ext cx="2112264" cy="740664"/>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AWS client</a:t>
            </a:r>
            <a:endParaRPr lang="en-US" sz="2400" dirty="0"/>
          </a:p>
        </p:txBody>
      </p:sp>
      <p:sp>
        <p:nvSpPr>
          <p:cNvPr id="20" name="Text 17"/>
          <p:cNvSpPr/>
          <p:nvPr/>
        </p:nvSpPr>
        <p:spPr>
          <a:xfrm>
            <a:off x="3099816" y="2432304"/>
            <a:ext cx="394106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AWS SDKs and CLI; local endpoint</a:t>
            </a:r>
            <a:endParaRPr lang="en-US" sz="2400" dirty="0"/>
          </a:p>
        </p:txBody>
      </p:sp>
      <p:sp>
        <p:nvSpPr>
          <p:cNvPr id="21" name="Text 18"/>
          <p:cNvSpPr/>
          <p:nvPr/>
        </p:nvSpPr>
        <p:spPr>
          <a:xfrm>
            <a:off x="7306056" y="2432304"/>
            <a:ext cx="426110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AWS SDKs and CLI; local endpoint</a:t>
            </a:r>
            <a:endParaRPr lang="en-US" sz="2400" dirty="0"/>
          </a:p>
        </p:txBody>
      </p:sp>
      <p:sp>
        <p:nvSpPr>
          <p:cNvPr id="22" name="Shape 19"/>
          <p:cNvSpPr/>
          <p:nvPr/>
        </p:nvSpPr>
        <p:spPr>
          <a:xfrm>
            <a:off x="594360" y="3264408"/>
            <a:ext cx="11109960" cy="960120"/>
          </a:xfrm>
          <a:prstGeom prst="rect">
            <a:avLst/>
          </a:prstGeom>
          <a:solidFill>
            <a:srgbClr val="EAE7F2"/>
          </a:solidFill>
          <a:ln w="12700">
            <a:solidFill>
              <a:srgbClr val="EAE7F2"/>
            </a:solidFill>
            <a:prstDash val="solid"/>
          </a:ln>
        </p:spPr>
      </p:sp>
      <p:sp>
        <p:nvSpPr>
          <p:cNvPr id="23" name="Shape 20"/>
          <p:cNvSpPr/>
          <p:nvPr/>
        </p:nvSpPr>
        <p:spPr>
          <a:xfrm>
            <a:off x="594360" y="3264408"/>
            <a:ext cx="2377440" cy="960120"/>
          </a:xfrm>
          <a:prstGeom prst="rect">
            <a:avLst/>
          </a:prstGeom>
          <a:solidFill>
            <a:srgbClr val="37325F"/>
          </a:solidFill>
          <a:ln w="12700">
            <a:solidFill>
              <a:srgbClr val="37325F"/>
            </a:solidFill>
            <a:prstDash val="solid"/>
          </a:ln>
        </p:spPr>
      </p:sp>
      <p:sp>
        <p:nvSpPr>
          <p:cNvPr id="24" name="Shape 21"/>
          <p:cNvSpPr/>
          <p:nvPr/>
        </p:nvSpPr>
        <p:spPr>
          <a:xfrm>
            <a:off x="594360" y="3264408"/>
            <a:ext cx="50292" cy="960120"/>
          </a:xfrm>
          <a:prstGeom prst="rect">
            <a:avLst/>
          </a:prstGeom>
          <a:solidFill>
            <a:srgbClr val="FF9810"/>
          </a:solidFill>
          <a:ln w="12700">
            <a:solidFill>
              <a:srgbClr val="FF9810"/>
            </a:solidFill>
            <a:prstDash val="solid"/>
          </a:ln>
        </p:spPr>
      </p:sp>
      <p:sp>
        <p:nvSpPr>
          <p:cNvPr id="25" name="Text 22"/>
          <p:cNvSpPr/>
          <p:nvPr/>
        </p:nvSpPr>
        <p:spPr>
          <a:xfrm>
            <a:off x="722376" y="3392424"/>
            <a:ext cx="2112264" cy="740664"/>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Resource tools</a:t>
            </a:r>
            <a:endParaRPr lang="en-US" sz="2400" dirty="0"/>
          </a:p>
        </p:txBody>
      </p:sp>
      <p:sp>
        <p:nvSpPr>
          <p:cNvPr id="26" name="Text 23"/>
          <p:cNvSpPr/>
          <p:nvPr/>
        </p:nvSpPr>
        <p:spPr>
          <a:xfrm>
            <a:off x="3099816" y="3392424"/>
            <a:ext cx="394106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e.g. Terraform / AWS APIs</a:t>
            </a:r>
            <a:endParaRPr lang="en-US" sz="2400" dirty="0"/>
          </a:p>
        </p:txBody>
      </p:sp>
      <p:sp>
        <p:nvSpPr>
          <p:cNvPr id="27" name="Text 24"/>
          <p:cNvSpPr/>
          <p:nvPr/>
        </p:nvSpPr>
        <p:spPr>
          <a:xfrm>
            <a:off x="7306056" y="3392424"/>
            <a:ext cx="426110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e.g. Terraform / CDK</a:t>
            </a:r>
            <a:endParaRPr lang="en-US" sz="2400" dirty="0"/>
          </a:p>
        </p:txBody>
      </p:sp>
      <p:sp>
        <p:nvSpPr>
          <p:cNvPr id="28" name="Shape 25"/>
          <p:cNvSpPr/>
          <p:nvPr/>
        </p:nvSpPr>
        <p:spPr>
          <a:xfrm>
            <a:off x="594360" y="4224528"/>
            <a:ext cx="11109960" cy="960120"/>
          </a:xfrm>
          <a:prstGeom prst="rect">
            <a:avLst/>
          </a:prstGeom>
          <a:solidFill>
            <a:srgbClr val="FFFFFF"/>
          </a:solidFill>
          <a:ln w="12700">
            <a:solidFill>
              <a:srgbClr val="FFFFFF"/>
            </a:solidFill>
            <a:prstDash val="solid"/>
          </a:ln>
        </p:spPr>
      </p:sp>
      <p:sp>
        <p:nvSpPr>
          <p:cNvPr id="29" name="Shape 26"/>
          <p:cNvSpPr/>
          <p:nvPr/>
        </p:nvSpPr>
        <p:spPr>
          <a:xfrm>
            <a:off x="594360" y="4224528"/>
            <a:ext cx="2377440" cy="960120"/>
          </a:xfrm>
          <a:prstGeom prst="rect">
            <a:avLst/>
          </a:prstGeom>
          <a:solidFill>
            <a:srgbClr val="37325F"/>
          </a:solidFill>
          <a:ln w="12700">
            <a:solidFill>
              <a:srgbClr val="37325F"/>
            </a:solidFill>
            <a:prstDash val="solid"/>
          </a:ln>
        </p:spPr>
      </p:sp>
      <p:sp>
        <p:nvSpPr>
          <p:cNvPr id="30" name="Shape 27"/>
          <p:cNvSpPr/>
          <p:nvPr/>
        </p:nvSpPr>
        <p:spPr>
          <a:xfrm>
            <a:off x="594360" y="4224528"/>
            <a:ext cx="50292" cy="960120"/>
          </a:xfrm>
          <a:prstGeom prst="rect">
            <a:avLst/>
          </a:prstGeom>
          <a:solidFill>
            <a:srgbClr val="FF9810"/>
          </a:solidFill>
          <a:ln w="12700">
            <a:solidFill>
              <a:srgbClr val="FF9810"/>
            </a:solidFill>
            <a:prstDash val="solid"/>
          </a:ln>
        </p:spPr>
      </p:sp>
      <p:sp>
        <p:nvSpPr>
          <p:cNvPr id="31" name="Text 28"/>
          <p:cNvSpPr/>
          <p:nvPr/>
        </p:nvSpPr>
        <p:spPr>
          <a:xfrm>
            <a:off x="722376" y="4352544"/>
            <a:ext cx="2112264" cy="740664"/>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Function edits</a:t>
            </a:r>
            <a:endParaRPr lang="en-US" sz="2400" dirty="0"/>
          </a:p>
        </p:txBody>
      </p:sp>
      <p:sp>
        <p:nvSpPr>
          <p:cNvPr id="32" name="Text 29"/>
          <p:cNvSpPr/>
          <p:nvPr/>
        </p:nvSpPr>
        <p:spPr>
          <a:xfrm>
            <a:off x="3099816" y="4352544"/>
            <a:ext cx="394106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Lambda API updates</a:t>
            </a:r>
            <a:endParaRPr lang="en-US" sz="2400" dirty="0"/>
          </a:p>
        </p:txBody>
      </p:sp>
      <p:sp>
        <p:nvSpPr>
          <p:cNvPr id="33" name="Text 30"/>
          <p:cNvSpPr/>
          <p:nvPr/>
        </p:nvSpPr>
        <p:spPr>
          <a:xfrm>
            <a:off x="7306056" y="4352544"/>
            <a:ext cx="426110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API updates; hot reloading</a:t>
            </a:r>
            <a:endParaRPr lang="en-US" sz="2400" dirty="0"/>
          </a:p>
        </p:txBody>
      </p:sp>
      <p:sp>
        <p:nvSpPr>
          <p:cNvPr id="34" name="Shape 31"/>
          <p:cNvSpPr/>
          <p:nvPr/>
        </p:nvSpPr>
        <p:spPr>
          <a:xfrm>
            <a:off x="594360" y="5184648"/>
            <a:ext cx="11109960" cy="960120"/>
          </a:xfrm>
          <a:prstGeom prst="rect">
            <a:avLst/>
          </a:prstGeom>
          <a:solidFill>
            <a:srgbClr val="EAE7F2"/>
          </a:solidFill>
          <a:ln w="12700">
            <a:solidFill>
              <a:srgbClr val="EAE7F2"/>
            </a:solidFill>
            <a:prstDash val="solid"/>
          </a:ln>
        </p:spPr>
      </p:sp>
      <p:sp>
        <p:nvSpPr>
          <p:cNvPr id="35" name="Shape 32"/>
          <p:cNvSpPr/>
          <p:nvPr/>
        </p:nvSpPr>
        <p:spPr>
          <a:xfrm>
            <a:off x="594360" y="5184648"/>
            <a:ext cx="2377440" cy="960120"/>
          </a:xfrm>
          <a:prstGeom prst="rect">
            <a:avLst/>
          </a:prstGeom>
          <a:solidFill>
            <a:srgbClr val="37325F"/>
          </a:solidFill>
          <a:ln w="12700">
            <a:solidFill>
              <a:srgbClr val="37325F"/>
            </a:solidFill>
            <a:prstDash val="solid"/>
          </a:ln>
        </p:spPr>
      </p:sp>
      <p:sp>
        <p:nvSpPr>
          <p:cNvPr id="36" name="Shape 33"/>
          <p:cNvSpPr/>
          <p:nvPr/>
        </p:nvSpPr>
        <p:spPr>
          <a:xfrm>
            <a:off x="594360" y="5184648"/>
            <a:ext cx="50292" cy="960120"/>
          </a:xfrm>
          <a:prstGeom prst="rect">
            <a:avLst/>
          </a:prstGeom>
          <a:solidFill>
            <a:srgbClr val="FF9810"/>
          </a:solidFill>
          <a:ln w="12700">
            <a:solidFill>
              <a:srgbClr val="FF9810"/>
            </a:solidFill>
            <a:prstDash val="solid"/>
          </a:ln>
        </p:spPr>
      </p:sp>
      <p:sp>
        <p:nvSpPr>
          <p:cNvPr id="37" name="Text 34"/>
          <p:cNvSpPr/>
          <p:nvPr/>
        </p:nvSpPr>
        <p:spPr>
          <a:xfrm>
            <a:off x="722376" y="5312664"/>
            <a:ext cx="2112264" cy="740664"/>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Tool-specific APIs</a:t>
            </a:r>
            <a:endParaRPr lang="en-US" sz="2400" dirty="0"/>
          </a:p>
        </p:txBody>
      </p:sp>
      <p:sp>
        <p:nvSpPr>
          <p:cNvPr id="38" name="Text 35"/>
          <p:cNvSpPr/>
          <p:nvPr/>
        </p:nvSpPr>
        <p:spPr>
          <a:xfrm>
            <a:off x="3099816" y="5312664"/>
            <a:ext cx="394106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/_fakecloud/...</a:t>
            </a:r>
            <a:endParaRPr lang="en-US" sz="2400" dirty="0"/>
          </a:p>
        </p:txBody>
      </p:sp>
      <p:sp>
        <p:nvSpPr>
          <p:cNvPr id="39" name="Text 36"/>
          <p:cNvSpPr/>
          <p:nvPr/>
        </p:nvSpPr>
        <p:spPr>
          <a:xfrm>
            <a:off x="7306056" y="5312664"/>
            <a:ext cx="426110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/_localstack/...</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Can you test access restrictions?</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security</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25</a:t>
            </a:r>
            <a:endParaRPr lang="en-US" sz="1500" dirty="0"/>
          </a:p>
        </p:txBody>
      </p:sp>
      <p:sp>
        <p:nvSpPr>
          <p:cNvPr id="12" name="Shape 9"/>
          <p:cNvSpPr/>
          <p:nvPr/>
        </p:nvSpPr>
        <p:spPr>
          <a:xfrm>
            <a:off x="685800" y="1700784"/>
            <a:ext cx="5285232" cy="3803904"/>
          </a:xfrm>
          <a:prstGeom prst="rect">
            <a:avLst/>
          </a:prstGeom>
          <a:solidFill>
            <a:srgbClr val="EAE7F2"/>
          </a:solidFill>
          <a:ln w="12700">
            <a:solidFill>
              <a:srgbClr val="EAE7F2"/>
            </a:solidFill>
            <a:prstDash val="solid"/>
          </a:ln>
        </p:spPr>
      </p:sp>
      <p:sp>
        <p:nvSpPr>
          <p:cNvPr id="13" name="Shape 10"/>
          <p:cNvSpPr/>
          <p:nvPr/>
        </p:nvSpPr>
        <p:spPr>
          <a:xfrm>
            <a:off x="685800" y="1700784"/>
            <a:ext cx="5285232" cy="932688"/>
          </a:xfrm>
          <a:prstGeom prst="rect">
            <a:avLst/>
          </a:prstGeom>
          <a:solidFill>
            <a:srgbClr val="37325F"/>
          </a:solidFill>
          <a:ln w="12700">
            <a:solidFill>
              <a:srgbClr val="37325F"/>
            </a:solidFill>
            <a:prstDash val="solid"/>
          </a:ln>
        </p:spPr>
      </p:sp>
      <p:sp>
        <p:nvSpPr>
          <p:cNvPr id="14" name="Text 11"/>
          <p:cNvSpPr/>
          <p:nvPr/>
        </p:nvSpPr>
        <p:spPr>
          <a:xfrm>
            <a:off x="82296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FAKECLOUD</a:t>
            </a:r>
            <a:endParaRPr lang="en-US" sz="2500" dirty="0"/>
          </a:p>
        </p:txBody>
      </p:sp>
      <p:sp>
        <p:nvSpPr>
          <p:cNvPr id="15" name="Shape 12"/>
          <p:cNvSpPr/>
          <p:nvPr/>
        </p:nvSpPr>
        <p:spPr>
          <a:xfrm>
            <a:off x="685800" y="1700784"/>
            <a:ext cx="59436" cy="3803904"/>
          </a:xfrm>
          <a:prstGeom prst="rect">
            <a:avLst/>
          </a:prstGeom>
          <a:solidFill>
            <a:srgbClr val="FF9810"/>
          </a:solidFill>
          <a:ln w="12700">
            <a:solidFill>
              <a:srgbClr val="FF9810"/>
            </a:solidFill>
            <a:prstDash val="solid"/>
          </a:ln>
        </p:spPr>
      </p:sp>
      <p:sp>
        <p:nvSpPr>
          <p:cNvPr id="16" name="Shape 13"/>
          <p:cNvSpPr/>
          <p:nvPr/>
        </p:nvSpPr>
        <p:spPr>
          <a:xfrm>
            <a:off x="822960" y="2651760"/>
            <a:ext cx="5010912" cy="611860"/>
          </a:xfrm>
          <a:prstGeom prst="rect">
            <a:avLst/>
          </a:prstGeom>
          <a:solidFill>
            <a:srgbClr val="FFFFFF"/>
          </a:solidFill>
          <a:ln w="12700">
            <a:solidFill>
              <a:srgbClr val="C6C2D3"/>
            </a:solidFill>
            <a:prstDash val="solid"/>
          </a:ln>
        </p:spPr>
      </p:sp>
      <p:sp>
        <p:nvSpPr>
          <p:cNvPr id="17" name="Text 14"/>
          <p:cNvSpPr/>
          <p:nvPr/>
        </p:nvSpPr>
        <p:spPr>
          <a:xfrm>
            <a:off x="941832" y="2743200"/>
            <a:ext cx="4773168" cy="428980"/>
          </a:xfrm>
          <a:prstGeom prst="rect">
            <a:avLst/>
          </a:prstGeom>
          <a:noFill/>
          <a:ln/>
        </p:spPr>
        <p:txBody>
          <a:bodyPr wrap="square" lIns="0" tIns="0" rIns="0" bIns="0" rtlCol="0" anchor="ctr"/>
          <a:lstStyle/>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--iam strict</a:t>
            </a:r>
            <a:endParaRPr lang="en-US" sz="2000" dirty="0"/>
          </a:p>
        </p:txBody>
      </p:sp>
      <p:sp>
        <p:nvSpPr>
          <p:cNvPr id="18" name="Text 15"/>
          <p:cNvSpPr/>
          <p:nvPr/>
        </p:nvSpPr>
        <p:spPr>
          <a:xfrm>
            <a:off x="868680" y="3355060"/>
            <a:ext cx="4873752" cy="43634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Policy enforcement is off by default.</a:t>
            </a:r>
            <a:endParaRPr lang="en-US" sz="2400" dirty="0"/>
          </a:p>
        </p:txBody>
      </p:sp>
      <p:sp>
        <p:nvSpPr>
          <p:cNvPr id="19" name="Text 16"/>
          <p:cNvSpPr/>
          <p:nvPr/>
        </p:nvSpPr>
        <p:spPr>
          <a:xfrm>
            <a:off x="868680" y="3946850"/>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test/test bypasses checks; use a restricted user.</a:t>
            </a:r>
            <a:endParaRPr lang="en-US" sz="2400" dirty="0"/>
          </a:p>
        </p:txBody>
      </p:sp>
      <p:sp>
        <p:nvSpPr>
          <p:cNvPr id="20" name="Shape 17"/>
          <p:cNvSpPr/>
          <p:nvPr/>
        </p:nvSpPr>
        <p:spPr>
          <a:xfrm>
            <a:off x="6309360" y="1700784"/>
            <a:ext cx="5285232" cy="3803904"/>
          </a:xfrm>
          <a:prstGeom prst="rect">
            <a:avLst/>
          </a:prstGeom>
          <a:solidFill>
            <a:srgbClr val="EAE7F2"/>
          </a:solidFill>
          <a:ln w="12700">
            <a:solidFill>
              <a:srgbClr val="EAE7F2"/>
            </a:solidFill>
            <a:prstDash val="solid"/>
          </a:ln>
        </p:spPr>
      </p:sp>
      <p:sp>
        <p:nvSpPr>
          <p:cNvPr id="21" name="Shape 18"/>
          <p:cNvSpPr/>
          <p:nvPr/>
        </p:nvSpPr>
        <p:spPr>
          <a:xfrm>
            <a:off x="6309360" y="1700784"/>
            <a:ext cx="5285232" cy="932688"/>
          </a:xfrm>
          <a:prstGeom prst="rect">
            <a:avLst/>
          </a:prstGeom>
          <a:solidFill>
            <a:srgbClr val="37325F"/>
          </a:solidFill>
          <a:ln w="12700">
            <a:solidFill>
              <a:srgbClr val="37325F"/>
            </a:solidFill>
            <a:prstDash val="solid"/>
          </a:ln>
        </p:spPr>
      </p:sp>
      <p:sp>
        <p:nvSpPr>
          <p:cNvPr id="22" name="Text 19"/>
          <p:cNvSpPr/>
          <p:nvPr/>
        </p:nvSpPr>
        <p:spPr>
          <a:xfrm>
            <a:off x="6446520" y="1810512"/>
            <a:ext cx="5010912" cy="932688"/>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LOCALSTACK</a:t>
            </a:r>
            <a:endParaRPr lang="en-US" sz="2500" dirty="0"/>
          </a:p>
        </p:txBody>
      </p:sp>
      <p:sp>
        <p:nvSpPr>
          <p:cNvPr id="23" name="Shape 20"/>
          <p:cNvSpPr/>
          <p:nvPr/>
        </p:nvSpPr>
        <p:spPr>
          <a:xfrm>
            <a:off x="6309360" y="1700784"/>
            <a:ext cx="59436" cy="3803904"/>
          </a:xfrm>
          <a:prstGeom prst="rect">
            <a:avLst/>
          </a:prstGeom>
          <a:solidFill>
            <a:srgbClr val="FF9810"/>
          </a:solidFill>
          <a:ln w="12700">
            <a:solidFill>
              <a:srgbClr val="FF9810"/>
            </a:solidFill>
            <a:prstDash val="solid"/>
          </a:ln>
        </p:spPr>
      </p:sp>
      <p:sp>
        <p:nvSpPr>
          <p:cNvPr id="24" name="Shape 21"/>
          <p:cNvSpPr/>
          <p:nvPr/>
        </p:nvSpPr>
        <p:spPr>
          <a:xfrm>
            <a:off x="6446520" y="2651760"/>
            <a:ext cx="5010912" cy="611860"/>
          </a:xfrm>
          <a:prstGeom prst="rect">
            <a:avLst/>
          </a:prstGeom>
          <a:solidFill>
            <a:srgbClr val="FFFFFF"/>
          </a:solidFill>
          <a:ln w="12700">
            <a:solidFill>
              <a:srgbClr val="C6C2D3"/>
            </a:solidFill>
            <a:prstDash val="solid"/>
          </a:ln>
        </p:spPr>
      </p:sp>
      <p:sp>
        <p:nvSpPr>
          <p:cNvPr id="25" name="Text 22"/>
          <p:cNvSpPr/>
          <p:nvPr/>
        </p:nvSpPr>
        <p:spPr>
          <a:xfrm>
            <a:off x="6565392" y="2743200"/>
            <a:ext cx="4773168" cy="428980"/>
          </a:xfrm>
          <a:prstGeom prst="rect">
            <a:avLst/>
          </a:prstGeom>
          <a:noFill/>
          <a:ln/>
        </p:spPr>
        <p:txBody>
          <a:bodyPr wrap="square" lIns="0" tIns="0" rIns="0" bIns="0" rtlCol="0" anchor="ctr"/>
          <a:lstStyle/>
          <a:p>
            <a:pPr algn="l" indent="0" marL="0">
              <a:lnSpc>
                <a:spcPct val="103000"/>
              </a:lnSpc>
              <a:buNone/>
            </a:pPr>
            <a:r>
              <a:rPr lang="en-US" sz="2000" dirty="0">
                <a:solidFill>
                  <a:srgbClr val="37325F"/>
                </a:solidFill>
                <a:latin typeface="Consolas" pitchFamily="34" charset="0"/>
                <a:ea typeface="Consolas" pitchFamily="34" charset="-122"/>
                <a:cs typeface="Consolas" pitchFamily="34" charset="-120"/>
              </a:rPr>
              <a:t>ENFORCE_IAM=1</a:t>
            </a:r>
            <a:endParaRPr lang="en-US" sz="2000" dirty="0"/>
          </a:p>
        </p:txBody>
      </p:sp>
      <p:sp>
        <p:nvSpPr>
          <p:cNvPr id="26" name="Text 23"/>
          <p:cNvSpPr/>
          <p:nvPr/>
        </p:nvSpPr>
        <p:spPr>
          <a:xfrm>
            <a:off x="6492240" y="3355060"/>
            <a:ext cx="4873752" cy="43634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Policy enforcement is off by default.</a:t>
            </a:r>
            <a:endParaRPr lang="en-US" sz="2400" dirty="0"/>
          </a:p>
        </p:txBody>
      </p:sp>
      <p:sp>
        <p:nvSpPr>
          <p:cNvPr id="27" name="Text 24"/>
          <p:cNvSpPr/>
          <p:nvPr/>
        </p:nvSpPr>
        <p:spPr>
          <a:xfrm>
            <a:off x="6492240" y="3946850"/>
            <a:ext cx="4873752" cy="799532"/>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Requires Base or Ultimate and a suitable test identity.</a:t>
            </a:r>
            <a:endParaRPr lang="en-US" sz="2400" dirty="0"/>
          </a:p>
        </p:txBody>
      </p:sp>
      <p:sp>
        <p:nvSpPr>
          <p:cNvPr id="28" name="Shape 25"/>
          <p:cNvSpPr/>
          <p:nvPr/>
        </p:nvSpPr>
        <p:spPr>
          <a:xfrm>
            <a:off x="594360" y="5522976"/>
            <a:ext cx="11000232" cy="841248"/>
          </a:xfrm>
          <a:prstGeom prst="rect">
            <a:avLst/>
          </a:prstGeom>
          <a:solidFill>
            <a:srgbClr val="EAE7F2"/>
          </a:solidFill>
          <a:ln w="12700">
            <a:solidFill>
              <a:srgbClr val="EAE7F2"/>
            </a:solidFill>
            <a:prstDash val="solid"/>
          </a:ln>
        </p:spPr>
      </p:sp>
      <p:sp>
        <p:nvSpPr>
          <p:cNvPr id="29" name="Shape 26"/>
          <p:cNvSpPr/>
          <p:nvPr/>
        </p:nvSpPr>
        <p:spPr>
          <a:xfrm>
            <a:off x="594360" y="5522976"/>
            <a:ext cx="59436" cy="841248"/>
          </a:xfrm>
          <a:prstGeom prst="rect">
            <a:avLst/>
          </a:prstGeom>
          <a:solidFill>
            <a:srgbClr val="FF9810"/>
          </a:solidFill>
          <a:ln w="12700">
            <a:solidFill>
              <a:srgbClr val="FF9810"/>
            </a:solidFill>
            <a:prstDash val="solid"/>
          </a:ln>
        </p:spPr>
      </p:sp>
      <p:sp>
        <p:nvSpPr>
          <p:cNvPr id="30" name="Text 27"/>
          <p:cNvSpPr/>
          <p:nvPr/>
        </p:nvSpPr>
        <p:spPr>
          <a:xfrm>
            <a:off x="777240" y="5614416"/>
            <a:ext cx="10652760" cy="77724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Example: a read-only user should read a file but be refused permission to delete it.</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Demo: graduate CSV processing</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Live demo</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26</a:t>
            </a:r>
            <a:endParaRPr lang="en-US" sz="1500" dirty="0"/>
          </a:p>
        </p:txBody>
      </p:sp>
      <p:sp>
        <p:nvSpPr>
          <p:cNvPr id="12" name="Shape 9"/>
          <p:cNvSpPr/>
          <p:nvPr/>
        </p:nvSpPr>
        <p:spPr>
          <a:xfrm>
            <a:off x="685800" y="1828800"/>
            <a:ext cx="2496312" cy="1828800"/>
          </a:xfrm>
          <a:prstGeom prst="rect">
            <a:avLst/>
          </a:prstGeom>
          <a:solidFill>
            <a:srgbClr val="EAE7F2"/>
          </a:solidFill>
          <a:ln w="12700">
            <a:solidFill>
              <a:srgbClr val="EAE7F2"/>
            </a:solidFill>
            <a:prstDash val="solid"/>
          </a:ln>
        </p:spPr>
      </p:sp>
      <p:sp>
        <p:nvSpPr>
          <p:cNvPr id="13" name="Shape 10"/>
          <p:cNvSpPr/>
          <p:nvPr/>
        </p:nvSpPr>
        <p:spPr>
          <a:xfrm>
            <a:off x="685800" y="1828800"/>
            <a:ext cx="2496312" cy="621792"/>
          </a:xfrm>
          <a:prstGeom prst="rect">
            <a:avLst/>
          </a:prstGeom>
          <a:solidFill>
            <a:srgbClr val="37325F"/>
          </a:solidFill>
          <a:ln w="12700">
            <a:solidFill>
              <a:srgbClr val="37325F"/>
            </a:solidFill>
            <a:prstDash val="solid"/>
          </a:ln>
        </p:spPr>
      </p:sp>
      <p:sp>
        <p:nvSpPr>
          <p:cNvPr id="14" name="Text 11"/>
          <p:cNvSpPr/>
          <p:nvPr/>
        </p:nvSpPr>
        <p:spPr>
          <a:xfrm>
            <a:off x="813816" y="1993392"/>
            <a:ext cx="2240280" cy="411480"/>
          </a:xfrm>
          <a:prstGeom prst="rect">
            <a:avLst/>
          </a:prstGeom>
          <a:noFill/>
          <a:ln/>
        </p:spPr>
        <p:txBody>
          <a:bodyPr wrap="square" lIns="0" tIns="0" rIns="0" bIns="0" rtlCol="0" anchor="ctr"/>
          <a:lstStyle/>
          <a:p>
            <a:pPr algn="l" indent="0" marL="0">
              <a:lnSpc>
                <a:spcPct val="103000"/>
              </a:lnSpc>
              <a:buNone/>
            </a:pPr>
            <a:r>
              <a:rPr lang="en-US" sz="2100" b="1" dirty="0">
                <a:solidFill>
                  <a:srgbClr val="FFFFFF"/>
                </a:solidFill>
                <a:latin typeface="Arial" pitchFamily="34" charset="0"/>
                <a:ea typeface="Arial" pitchFamily="34" charset="-122"/>
                <a:cs typeface="Arial" pitchFamily="34" charset="-120"/>
              </a:rPr>
              <a:t>S3 INPUT</a:t>
            </a:r>
            <a:endParaRPr lang="en-US" sz="2100" dirty="0"/>
          </a:p>
        </p:txBody>
      </p:sp>
      <p:sp>
        <p:nvSpPr>
          <p:cNvPr id="15" name="Text 12"/>
          <p:cNvSpPr/>
          <p:nvPr/>
        </p:nvSpPr>
        <p:spPr>
          <a:xfrm>
            <a:off x="841248" y="2770632"/>
            <a:ext cx="2185416" cy="758952"/>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Synthetic CSV</a:t>
            </a:r>
            <a:endParaRPr lang="en-US" sz="2400" dirty="0"/>
          </a:p>
        </p:txBody>
      </p:sp>
      <p:sp>
        <p:nvSpPr>
          <p:cNvPr id="16" name="Shape 13"/>
          <p:cNvSpPr/>
          <p:nvPr/>
        </p:nvSpPr>
        <p:spPr>
          <a:xfrm>
            <a:off x="3236976" y="2743200"/>
            <a:ext cx="237744" cy="0"/>
          </a:xfrm>
          <a:prstGeom prst="line">
            <a:avLst/>
          </a:prstGeom>
          <a:noFill/>
          <a:ln w="25400">
            <a:solidFill>
              <a:srgbClr val="37325F"/>
            </a:solidFill>
            <a:prstDash val="solid"/>
          </a:ln>
        </p:spPr>
      </p:sp>
      <p:sp>
        <p:nvSpPr>
          <p:cNvPr id="17" name="Shape 14"/>
          <p:cNvSpPr/>
          <p:nvPr/>
        </p:nvSpPr>
        <p:spPr>
          <a:xfrm>
            <a:off x="3355848" y="2651760"/>
            <a:ext cx="118872" cy="91440"/>
          </a:xfrm>
          <a:prstGeom prst="line">
            <a:avLst/>
          </a:prstGeom>
          <a:noFill/>
          <a:ln w="25400">
            <a:solidFill>
              <a:srgbClr val="37325F"/>
            </a:solidFill>
            <a:prstDash val="solid"/>
          </a:ln>
        </p:spPr>
      </p:sp>
      <p:sp>
        <p:nvSpPr>
          <p:cNvPr id="18" name="Shape 15"/>
          <p:cNvSpPr/>
          <p:nvPr/>
        </p:nvSpPr>
        <p:spPr>
          <a:xfrm>
            <a:off x="3355848" y="2834640"/>
            <a:ext cx="118872" cy="-91440"/>
          </a:xfrm>
          <a:prstGeom prst="line">
            <a:avLst/>
          </a:prstGeom>
          <a:noFill/>
          <a:ln w="25400">
            <a:solidFill>
              <a:srgbClr val="37325F"/>
            </a:solidFill>
            <a:prstDash val="solid"/>
          </a:ln>
        </p:spPr>
      </p:sp>
      <p:sp>
        <p:nvSpPr>
          <p:cNvPr id="19" name="Shape 16"/>
          <p:cNvSpPr/>
          <p:nvPr/>
        </p:nvSpPr>
        <p:spPr>
          <a:xfrm>
            <a:off x="3538728" y="1828800"/>
            <a:ext cx="2496312" cy="1828800"/>
          </a:xfrm>
          <a:prstGeom prst="rect">
            <a:avLst/>
          </a:prstGeom>
          <a:solidFill>
            <a:srgbClr val="EAE7F2"/>
          </a:solidFill>
          <a:ln w="12700">
            <a:solidFill>
              <a:srgbClr val="EAE7F2"/>
            </a:solidFill>
            <a:prstDash val="solid"/>
          </a:ln>
        </p:spPr>
      </p:sp>
      <p:sp>
        <p:nvSpPr>
          <p:cNvPr id="20" name="Shape 17"/>
          <p:cNvSpPr/>
          <p:nvPr/>
        </p:nvSpPr>
        <p:spPr>
          <a:xfrm>
            <a:off x="3538728" y="1828800"/>
            <a:ext cx="2496312" cy="621792"/>
          </a:xfrm>
          <a:prstGeom prst="rect">
            <a:avLst/>
          </a:prstGeom>
          <a:solidFill>
            <a:srgbClr val="37325F"/>
          </a:solidFill>
          <a:ln w="12700">
            <a:solidFill>
              <a:srgbClr val="37325F"/>
            </a:solidFill>
            <a:prstDash val="solid"/>
          </a:ln>
        </p:spPr>
      </p:sp>
      <p:sp>
        <p:nvSpPr>
          <p:cNvPr id="21" name="Text 18"/>
          <p:cNvSpPr/>
          <p:nvPr/>
        </p:nvSpPr>
        <p:spPr>
          <a:xfrm>
            <a:off x="3666744" y="1993392"/>
            <a:ext cx="2240280" cy="411480"/>
          </a:xfrm>
          <a:prstGeom prst="rect">
            <a:avLst/>
          </a:prstGeom>
          <a:noFill/>
          <a:ln/>
        </p:spPr>
        <p:txBody>
          <a:bodyPr wrap="square" lIns="0" tIns="0" rIns="0" bIns="0" rtlCol="0" anchor="ctr"/>
          <a:lstStyle/>
          <a:p>
            <a:pPr algn="l" indent="0" marL="0">
              <a:lnSpc>
                <a:spcPct val="103000"/>
              </a:lnSpc>
              <a:buNone/>
            </a:pPr>
            <a:r>
              <a:rPr lang="en-US" sz="2100" b="1" dirty="0">
                <a:solidFill>
                  <a:srgbClr val="FFFFFF"/>
                </a:solidFill>
                <a:latin typeface="Arial" pitchFamily="34" charset="0"/>
                <a:ea typeface="Arial" pitchFamily="34" charset="-122"/>
                <a:cs typeface="Arial" pitchFamily="34" charset="-120"/>
              </a:rPr>
              <a:t>S3 EVENT</a:t>
            </a:r>
            <a:endParaRPr lang="en-US" sz="2100" dirty="0"/>
          </a:p>
        </p:txBody>
      </p:sp>
      <p:sp>
        <p:nvSpPr>
          <p:cNvPr id="22" name="Text 19"/>
          <p:cNvSpPr/>
          <p:nvPr/>
        </p:nvSpPr>
        <p:spPr>
          <a:xfrm>
            <a:off x="3694176" y="2770632"/>
            <a:ext cx="2185416" cy="758952"/>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ObjectCreated</a:t>
            </a:r>
            <a:endParaRPr lang="en-US" sz="2400" dirty="0"/>
          </a:p>
        </p:txBody>
      </p:sp>
      <p:sp>
        <p:nvSpPr>
          <p:cNvPr id="23" name="Shape 20"/>
          <p:cNvSpPr/>
          <p:nvPr/>
        </p:nvSpPr>
        <p:spPr>
          <a:xfrm>
            <a:off x="6089904" y="2743200"/>
            <a:ext cx="237744" cy="0"/>
          </a:xfrm>
          <a:prstGeom prst="line">
            <a:avLst/>
          </a:prstGeom>
          <a:noFill/>
          <a:ln w="25400">
            <a:solidFill>
              <a:srgbClr val="37325F"/>
            </a:solidFill>
            <a:prstDash val="solid"/>
          </a:ln>
        </p:spPr>
      </p:sp>
      <p:sp>
        <p:nvSpPr>
          <p:cNvPr id="24" name="Shape 21"/>
          <p:cNvSpPr/>
          <p:nvPr/>
        </p:nvSpPr>
        <p:spPr>
          <a:xfrm>
            <a:off x="6208776" y="2651760"/>
            <a:ext cx="118872" cy="91440"/>
          </a:xfrm>
          <a:prstGeom prst="line">
            <a:avLst/>
          </a:prstGeom>
          <a:noFill/>
          <a:ln w="25400">
            <a:solidFill>
              <a:srgbClr val="37325F"/>
            </a:solidFill>
            <a:prstDash val="solid"/>
          </a:ln>
        </p:spPr>
      </p:sp>
      <p:sp>
        <p:nvSpPr>
          <p:cNvPr id="25" name="Shape 22"/>
          <p:cNvSpPr/>
          <p:nvPr/>
        </p:nvSpPr>
        <p:spPr>
          <a:xfrm>
            <a:off x="6208776" y="2834640"/>
            <a:ext cx="118872" cy="-91440"/>
          </a:xfrm>
          <a:prstGeom prst="line">
            <a:avLst/>
          </a:prstGeom>
          <a:noFill/>
          <a:ln w="25400">
            <a:solidFill>
              <a:srgbClr val="37325F"/>
            </a:solidFill>
            <a:prstDash val="solid"/>
          </a:ln>
        </p:spPr>
      </p:sp>
      <p:sp>
        <p:nvSpPr>
          <p:cNvPr id="26" name="Shape 23"/>
          <p:cNvSpPr/>
          <p:nvPr/>
        </p:nvSpPr>
        <p:spPr>
          <a:xfrm>
            <a:off x="6391656" y="1828800"/>
            <a:ext cx="2496312" cy="1828800"/>
          </a:xfrm>
          <a:prstGeom prst="rect">
            <a:avLst/>
          </a:prstGeom>
          <a:solidFill>
            <a:srgbClr val="EAE7F2"/>
          </a:solidFill>
          <a:ln w="12700">
            <a:solidFill>
              <a:srgbClr val="EAE7F2"/>
            </a:solidFill>
            <a:prstDash val="solid"/>
          </a:ln>
        </p:spPr>
      </p:sp>
      <p:sp>
        <p:nvSpPr>
          <p:cNvPr id="27" name="Shape 24"/>
          <p:cNvSpPr/>
          <p:nvPr/>
        </p:nvSpPr>
        <p:spPr>
          <a:xfrm>
            <a:off x="6391656" y="1828800"/>
            <a:ext cx="2496312" cy="621792"/>
          </a:xfrm>
          <a:prstGeom prst="rect">
            <a:avLst/>
          </a:prstGeom>
          <a:solidFill>
            <a:srgbClr val="37325F"/>
          </a:solidFill>
          <a:ln w="12700">
            <a:solidFill>
              <a:srgbClr val="37325F"/>
            </a:solidFill>
            <a:prstDash val="solid"/>
          </a:ln>
        </p:spPr>
      </p:sp>
      <p:sp>
        <p:nvSpPr>
          <p:cNvPr id="28" name="Text 25"/>
          <p:cNvSpPr/>
          <p:nvPr/>
        </p:nvSpPr>
        <p:spPr>
          <a:xfrm>
            <a:off x="6519672" y="1993392"/>
            <a:ext cx="2240280" cy="411480"/>
          </a:xfrm>
          <a:prstGeom prst="rect">
            <a:avLst/>
          </a:prstGeom>
          <a:noFill/>
          <a:ln/>
        </p:spPr>
        <p:txBody>
          <a:bodyPr wrap="square" lIns="0" tIns="0" rIns="0" bIns="0" rtlCol="0" anchor="ctr"/>
          <a:lstStyle/>
          <a:p>
            <a:pPr algn="l" indent="0" marL="0">
              <a:lnSpc>
                <a:spcPct val="103000"/>
              </a:lnSpc>
              <a:buNone/>
            </a:pPr>
            <a:r>
              <a:rPr lang="en-US" sz="2100" b="1" dirty="0">
                <a:solidFill>
                  <a:srgbClr val="FFFFFF"/>
                </a:solidFill>
                <a:latin typeface="Arial" pitchFamily="34" charset="0"/>
                <a:ea typeface="Arial" pitchFamily="34" charset="-122"/>
                <a:cs typeface="Arial" pitchFamily="34" charset="-120"/>
              </a:rPr>
              <a:t>LAMBDA</a:t>
            </a:r>
            <a:endParaRPr lang="en-US" sz="2100" dirty="0"/>
          </a:p>
        </p:txBody>
      </p:sp>
      <p:sp>
        <p:nvSpPr>
          <p:cNvPr id="29" name="Text 26"/>
          <p:cNvSpPr/>
          <p:nvPr/>
        </p:nvSpPr>
        <p:spPr>
          <a:xfrm>
            <a:off x="6547104" y="2770632"/>
            <a:ext cx="2185416" cy="758952"/>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Validate + aggregate</a:t>
            </a:r>
            <a:endParaRPr lang="en-US" sz="2400" dirty="0"/>
          </a:p>
        </p:txBody>
      </p:sp>
      <p:sp>
        <p:nvSpPr>
          <p:cNvPr id="30" name="Shape 27"/>
          <p:cNvSpPr/>
          <p:nvPr/>
        </p:nvSpPr>
        <p:spPr>
          <a:xfrm>
            <a:off x="8942832" y="2743200"/>
            <a:ext cx="237744" cy="0"/>
          </a:xfrm>
          <a:prstGeom prst="line">
            <a:avLst/>
          </a:prstGeom>
          <a:noFill/>
          <a:ln w="25400">
            <a:solidFill>
              <a:srgbClr val="37325F"/>
            </a:solidFill>
            <a:prstDash val="solid"/>
          </a:ln>
        </p:spPr>
      </p:sp>
      <p:sp>
        <p:nvSpPr>
          <p:cNvPr id="31" name="Shape 28"/>
          <p:cNvSpPr/>
          <p:nvPr/>
        </p:nvSpPr>
        <p:spPr>
          <a:xfrm>
            <a:off x="9061704" y="2651760"/>
            <a:ext cx="118872" cy="91440"/>
          </a:xfrm>
          <a:prstGeom prst="line">
            <a:avLst/>
          </a:prstGeom>
          <a:noFill/>
          <a:ln w="25400">
            <a:solidFill>
              <a:srgbClr val="37325F"/>
            </a:solidFill>
            <a:prstDash val="solid"/>
          </a:ln>
        </p:spPr>
      </p:sp>
      <p:sp>
        <p:nvSpPr>
          <p:cNvPr id="32" name="Shape 29"/>
          <p:cNvSpPr/>
          <p:nvPr/>
        </p:nvSpPr>
        <p:spPr>
          <a:xfrm>
            <a:off x="9061704" y="2834640"/>
            <a:ext cx="118872" cy="-91440"/>
          </a:xfrm>
          <a:prstGeom prst="line">
            <a:avLst/>
          </a:prstGeom>
          <a:noFill/>
          <a:ln w="25400">
            <a:solidFill>
              <a:srgbClr val="37325F"/>
            </a:solidFill>
            <a:prstDash val="solid"/>
          </a:ln>
        </p:spPr>
      </p:sp>
      <p:sp>
        <p:nvSpPr>
          <p:cNvPr id="33" name="Shape 30"/>
          <p:cNvSpPr/>
          <p:nvPr/>
        </p:nvSpPr>
        <p:spPr>
          <a:xfrm>
            <a:off x="9244584" y="1828800"/>
            <a:ext cx="2496312" cy="1828800"/>
          </a:xfrm>
          <a:prstGeom prst="rect">
            <a:avLst/>
          </a:prstGeom>
          <a:solidFill>
            <a:srgbClr val="EAE7F2"/>
          </a:solidFill>
          <a:ln w="12700">
            <a:solidFill>
              <a:srgbClr val="EAE7F2"/>
            </a:solidFill>
            <a:prstDash val="solid"/>
          </a:ln>
        </p:spPr>
      </p:sp>
      <p:sp>
        <p:nvSpPr>
          <p:cNvPr id="34" name="Shape 31"/>
          <p:cNvSpPr/>
          <p:nvPr/>
        </p:nvSpPr>
        <p:spPr>
          <a:xfrm>
            <a:off x="9244584" y="1828800"/>
            <a:ext cx="2496312" cy="621792"/>
          </a:xfrm>
          <a:prstGeom prst="rect">
            <a:avLst/>
          </a:prstGeom>
          <a:solidFill>
            <a:srgbClr val="37325F"/>
          </a:solidFill>
          <a:ln w="12700">
            <a:solidFill>
              <a:srgbClr val="37325F"/>
            </a:solidFill>
            <a:prstDash val="solid"/>
          </a:ln>
        </p:spPr>
      </p:sp>
      <p:sp>
        <p:nvSpPr>
          <p:cNvPr id="35" name="Text 32"/>
          <p:cNvSpPr/>
          <p:nvPr/>
        </p:nvSpPr>
        <p:spPr>
          <a:xfrm>
            <a:off x="9372600" y="1993392"/>
            <a:ext cx="2240280" cy="411480"/>
          </a:xfrm>
          <a:prstGeom prst="rect">
            <a:avLst/>
          </a:prstGeom>
          <a:noFill/>
          <a:ln/>
        </p:spPr>
        <p:txBody>
          <a:bodyPr wrap="square" lIns="0" tIns="0" rIns="0" bIns="0" rtlCol="0" anchor="ctr"/>
          <a:lstStyle/>
          <a:p>
            <a:pPr algn="l" indent="0" marL="0">
              <a:lnSpc>
                <a:spcPct val="103000"/>
              </a:lnSpc>
              <a:buNone/>
            </a:pPr>
            <a:r>
              <a:rPr lang="en-US" sz="2100" b="1" dirty="0">
                <a:solidFill>
                  <a:srgbClr val="FFFFFF"/>
                </a:solidFill>
                <a:latin typeface="Arial" pitchFamily="34" charset="0"/>
                <a:ea typeface="Arial" pitchFamily="34" charset="-122"/>
                <a:cs typeface="Arial" pitchFamily="34" charset="-120"/>
              </a:rPr>
              <a:t>S3 OUTPUT</a:t>
            </a:r>
            <a:endParaRPr lang="en-US" sz="2100" dirty="0"/>
          </a:p>
        </p:txBody>
      </p:sp>
      <p:sp>
        <p:nvSpPr>
          <p:cNvPr id="36" name="Text 33"/>
          <p:cNvSpPr/>
          <p:nvPr/>
        </p:nvSpPr>
        <p:spPr>
          <a:xfrm>
            <a:off x="9400032" y="2770632"/>
            <a:ext cx="2185416" cy="758952"/>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JSON report</a:t>
            </a:r>
            <a:endParaRPr lang="en-US" sz="2400" dirty="0"/>
          </a:p>
        </p:txBody>
      </p:sp>
      <p:sp>
        <p:nvSpPr>
          <p:cNvPr id="37" name="Shape 34"/>
          <p:cNvSpPr/>
          <p:nvPr/>
        </p:nvSpPr>
        <p:spPr>
          <a:xfrm>
            <a:off x="685800" y="4023360"/>
            <a:ext cx="3749040" cy="1353312"/>
          </a:xfrm>
          <a:prstGeom prst="rect">
            <a:avLst/>
          </a:prstGeom>
          <a:solidFill>
            <a:srgbClr val="37325F"/>
          </a:solidFill>
          <a:ln w="12700">
            <a:solidFill>
              <a:srgbClr val="37325F"/>
            </a:solidFill>
            <a:prstDash val="solid"/>
          </a:ln>
        </p:spPr>
      </p:sp>
      <p:sp>
        <p:nvSpPr>
          <p:cNvPr id="38" name="Shape 35"/>
          <p:cNvSpPr/>
          <p:nvPr/>
        </p:nvSpPr>
        <p:spPr>
          <a:xfrm>
            <a:off x="685800" y="4023360"/>
            <a:ext cx="59436" cy="1353312"/>
          </a:xfrm>
          <a:prstGeom prst="rect">
            <a:avLst/>
          </a:prstGeom>
          <a:solidFill>
            <a:srgbClr val="FF9810"/>
          </a:solidFill>
          <a:ln w="12700">
            <a:solidFill>
              <a:srgbClr val="FF9810"/>
            </a:solidFill>
            <a:prstDash val="solid"/>
          </a:ln>
        </p:spPr>
      </p:sp>
      <p:sp>
        <p:nvSpPr>
          <p:cNvPr id="39" name="Text 36"/>
          <p:cNvSpPr/>
          <p:nvPr/>
        </p:nvSpPr>
        <p:spPr>
          <a:xfrm>
            <a:off x="914400" y="4242816"/>
            <a:ext cx="3291840" cy="502920"/>
          </a:xfrm>
          <a:prstGeom prst="rect">
            <a:avLst/>
          </a:prstGeom>
          <a:noFill/>
          <a:ln/>
        </p:spPr>
        <p:txBody>
          <a:bodyPr wrap="square" lIns="0" tIns="0" rIns="0" bIns="0" rtlCol="0" anchor="ctr"/>
          <a:lstStyle/>
          <a:p>
            <a:pPr algn="l" indent="0" marL="0">
              <a:lnSpc>
                <a:spcPct val="103000"/>
              </a:lnSpc>
              <a:buNone/>
            </a:pPr>
            <a:r>
              <a:rPr lang="en-US" sz="2600" b="1" dirty="0">
                <a:solidFill>
                  <a:srgbClr val="FFFFFF"/>
                </a:solidFill>
                <a:latin typeface="Arial" pitchFamily="34" charset="0"/>
                <a:ea typeface="Arial" pitchFamily="34" charset="-122"/>
                <a:cs typeface="Arial" pitchFamily="34" charset="-120"/>
              </a:rPr>
              <a:t>Same application</a:t>
            </a:r>
            <a:endParaRPr lang="en-US" sz="2600" dirty="0"/>
          </a:p>
        </p:txBody>
      </p:sp>
      <p:sp>
        <p:nvSpPr>
          <p:cNvPr id="40" name="Text 37"/>
          <p:cNvSpPr/>
          <p:nvPr/>
        </p:nvSpPr>
        <p:spPr>
          <a:xfrm>
            <a:off x="914400" y="4828032"/>
            <a:ext cx="3291840" cy="457200"/>
          </a:xfrm>
          <a:prstGeom prst="rect">
            <a:avLst/>
          </a:prstGeom>
          <a:noFill/>
          <a:ln/>
        </p:spPr>
        <p:txBody>
          <a:bodyPr wrap="square" lIns="0" tIns="0" rIns="0" bIns="0" rtlCol="0" anchor="ctr"/>
          <a:lstStyle/>
          <a:p>
            <a:pPr algn="l" indent="0" marL="0">
              <a:lnSpc>
                <a:spcPct val="103000"/>
              </a:lnSpc>
              <a:buNone/>
            </a:pPr>
            <a:r>
              <a:rPr lang="en-US" sz="2400" dirty="0">
                <a:solidFill>
                  <a:srgbClr val="FFFFFF"/>
                </a:solidFill>
                <a:latin typeface="Arial" pitchFamily="34" charset="0"/>
                <a:ea typeface="Arial" pitchFamily="34" charset="-122"/>
                <a:cs typeface="Arial" pitchFamily="34" charset="-120"/>
              </a:rPr>
              <a:t>Two local emulators</a:t>
            </a:r>
            <a:endParaRPr lang="en-US" sz="2400" dirty="0"/>
          </a:p>
        </p:txBody>
      </p:sp>
      <p:sp>
        <p:nvSpPr>
          <p:cNvPr id="41" name="Text 38"/>
          <p:cNvSpPr/>
          <p:nvPr/>
        </p:nvSpPr>
        <p:spPr>
          <a:xfrm>
            <a:off x="4800600" y="4059936"/>
            <a:ext cx="6400800" cy="548640"/>
          </a:xfrm>
          <a:prstGeom prst="rect">
            <a:avLst/>
          </a:prstGeom>
          <a:noFill/>
          <a:ln/>
        </p:spPr>
        <p:txBody>
          <a:bodyPr wrap="square" lIns="0" tIns="0" rIns="0" bIns="0" rtlCol="0" anchor="ctr"/>
          <a:lstStyle/>
          <a:p>
            <a:pPr algn="l" indent="0" marL="0">
              <a:lnSpc>
                <a:spcPct val="103000"/>
              </a:lnSpc>
              <a:buNone/>
            </a:pPr>
            <a:r>
              <a:rPr lang="en-US" sz="2600" b="1" dirty="0">
                <a:solidFill>
                  <a:srgbClr val="37325F"/>
                </a:solidFill>
                <a:latin typeface="Arial" pitchFamily="34" charset="0"/>
                <a:ea typeface="Arial" pitchFamily="34" charset="-122"/>
                <a:cs typeface="Arial" pitchFamily="34" charset="-120"/>
              </a:rPr>
              <a:t>Upload and inspect the report</a:t>
            </a:r>
            <a:endParaRPr lang="en-US" sz="2600" dirty="0"/>
          </a:p>
        </p:txBody>
      </p:sp>
      <p:sp>
        <p:nvSpPr>
          <p:cNvPr id="42" name="Text 39"/>
          <p:cNvSpPr/>
          <p:nvPr/>
        </p:nvSpPr>
        <p:spPr>
          <a:xfrm>
            <a:off x="4800600" y="4690872"/>
            <a:ext cx="6400800" cy="54864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Disconnect notification → no output</a:t>
            </a:r>
            <a:endParaRPr lang="en-US" sz="2400" dirty="0"/>
          </a:p>
        </p:txBody>
      </p:sp>
      <p:sp>
        <p:nvSpPr>
          <p:cNvPr id="43" name="Text 40"/>
          <p:cNvSpPr/>
          <p:nvPr/>
        </p:nvSpPr>
        <p:spPr>
          <a:xfrm>
            <a:off x="4800600" y="5294376"/>
            <a:ext cx="6400800" cy="548640"/>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Reconnect and upload again → report</a:t>
            </a:r>
            <a:endParaRPr lang="en-US" sz="2400" dirty="0"/>
          </a:p>
        </p:txBody>
      </p:sp>
      <p:sp>
        <p:nvSpPr>
          <p:cNvPr id="44" name="Text 41">
            <a:hlinkClick r:id="rId1" tooltip=""/>
          </p:cNvPr>
          <p:cNvSpPr/>
          <p:nvPr/>
        </p:nvSpPr>
        <p:spPr>
          <a:xfrm>
            <a:off x="777240" y="5971032"/>
            <a:ext cx="10607040" cy="365760"/>
          </a:xfrm>
          <a:prstGeom prst="rect">
            <a:avLst/>
          </a:prstGeom>
          <a:noFill/>
          <a:ln/>
        </p:spPr>
        <p:txBody>
          <a:bodyPr wrap="square" lIns="0" tIns="0" rIns="0" bIns="0" rtlCol="0" anchor="ctr"/>
          <a:lstStyle/>
          <a:p>
            <a:pPr algn="l" indent="0" marL="0">
              <a:lnSpc>
                <a:spcPct val="103000"/>
              </a:lnSpc>
              <a:buNone/>
            </a:pPr>
            <a:r>
              <a:rPr lang="en-US" sz="2300" b="1" u="sng" dirty="0">
                <a:solidFill>
                  <a:srgbClr val="37325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live application: 127.0.0.1:8000</a:t>
            </a:r>
            <a:endParaRPr lang="en-US" sz="2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What still needs real AWS?</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Comparison · production limits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27</a:t>
            </a:r>
            <a:endParaRPr lang="en-US" sz="1500" dirty="0"/>
          </a:p>
        </p:txBody>
      </p:sp>
      <p:sp>
        <p:nvSpPr>
          <p:cNvPr id="12" name="Shape 9"/>
          <p:cNvSpPr/>
          <p:nvPr/>
        </p:nvSpPr>
        <p:spPr>
          <a:xfrm>
            <a:off x="685800" y="1783080"/>
            <a:ext cx="3017520" cy="932688"/>
          </a:xfrm>
          <a:prstGeom prst="rect">
            <a:avLst/>
          </a:prstGeom>
          <a:solidFill>
            <a:srgbClr val="37325F"/>
          </a:solidFill>
          <a:ln w="12700">
            <a:solidFill>
              <a:srgbClr val="37325F"/>
            </a:solidFill>
            <a:prstDash val="solid"/>
          </a:ln>
        </p:spPr>
      </p:sp>
      <p:sp>
        <p:nvSpPr>
          <p:cNvPr id="13" name="Shape 10"/>
          <p:cNvSpPr/>
          <p:nvPr/>
        </p:nvSpPr>
        <p:spPr>
          <a:xfrm>
            <a:off x="3767328" y="1783080"/>
            <a:ext cx="7708392" cy="932688"/>
          </a:xfrm>
          <a:prstGeom prst="rect">
            <a:avLst/>
          </a:prstGeom>
          <a:solidFill>
            <a:srgbClr val="EAE7F2"/>
          </a:solidFill>
          <a:ln w="12700">
            <a:solidFill>
              <a:srgbClr val="EAE7F2"/>
            </a:solidFill>
            <a:prstDash val="solid"/>
          </a:ln>
        </p:spPr>
      </p:sp>
      <p:sp>
        <p:nvSpPr>
          <p:cNvPr id="14" name="Shape 11"/>
          <p:cNvSpPr/>
          <p:nvPr/>
        </p:nvSpPr>
        <p:spPr>
          <a:xfrm>
            <a:off x="685800" y="1783080"/>
            <a:ext cx="59436" cy="932688"/>
          </a:xfrm>
          <a:prstGeom prst="rect">
            <a:avLst/>
          </a:prstGeom>
          <a:solidFill>
            <a:srgbClr val="FF9810"/>
          </a:solidFill>
          <a:ln w="12700">
            <a:solidFill>
              <a:srgbClr val="FF9810"/>
            </a:solidFill>
            <a:prstDash val="solid"/>
          </a:ln>
        </p:spPr>
      </p:sp>
      <p:sp>
        <p:nvSpPr>
          <p:cNvPr id="15" name="Text 12"/>
          <p:cNvSpPr/>
          <p:nvPr/>
        </p:nvSpPr>
        <p:spPr>
          <a:xfrm>
            <a:off x="896112" y="1828800"/>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Email / SMS</a:t>
            </a:r>
            <a:endParaRPr lang="en-US" sz="2500" dirty="0"/>
          </a:p>
        </p:txBody>
      </p:sp>
      <p:sp>
        <p:nvSpPr>
          <p:cNvPr id="16" name="Text 13"/>
          <p:cNvSpPr/>
          <p:nvPr/>
        </p:nvSpPr>
        <p:spPr>
          <a:xfrm>
            <a:off x="3886200" y="1828800"/>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FakeCloud records SNS email/SMS locally; messages are not actually delivered.</a:t>
            </a:r>
            <a:endParaRPr lang="en-US" sz="2400" dirty="0"/>
          </a:p>
        </p:txBody>
      </p:sp>
      <p:sp>
        <p:nvSpPr>
          <p:cNvPr id="17" name="Shape 14"/>
          <p:cNvSpPr/>
          <p:nvPr/>
        </p:nvSpPr>
        <p:spPr>
          <a:xfrm>
            <a:off x="685800" y="2862072"/>
            <a:ext cx="3017520" cy="932688"/>
          </a:xfrm>
          <a:prstGeom prst="rect">
            <a:avLst/>
          </a:prstGeom>
          <a:solidFill>
            <a:srgbClr val="37325F"/>
          </a:solidFill>
          <a:ln w="12700">
            <a:solidFill>
              <a:srgbClr val="37325F"/>
            </a:solidFill>
            <a:prstDash val="solid"/>
          </a:ln>
        </p:spPr>
      </p:sp>
      <p:sp>
        <p:nvSpPr>
          <p:cNvPr id="18" name="Shape 15"/>
          <p:cNvSpPr/>
          <p:nvPr/>
        </p:nvSpPr>
        <p:spPr>
          <a:xfrm>
            <a:off x="3767328" y="2862072"/>
            <a:ext cx="7708392" cy="932688"/>
          </a:xfrm>
          <a:prstGeom prst="rect">
            <a:avLst/>
          </a:prstGeom>
          <a:solidFill>
            <a:srgbClr val="EAE7F2"/>
          </a:solidFill>
          <a:ln w="12700">
            <a:solidFill>
              <a:srgbClr val="EAE7F2"/>
            </a:solidFill>
            <a:prstDash val="solid"/>
          </a:ln>
        </p:spPr>
      </p:sp>
      <p:sp>
        <p:nvSpPr>
          <p:cNvPr id="19" name="Shape 16"/>
          <p:cNvSpPr/>
          <p:nvPr/>
        </p:nvSpPr>
        <p:spPr>
          <a:xfrm>
            <a:off x="685800" y="2862072"/>
            <a:ext cx="59436" cy="932688"/>
          </a:xfrm>
          <a:prstGeom prst="rect">
            <a:avLst/>
          </a:prstGeom>
          <a:solidFill>
            <a:srgbClr val="FF9810"/>
          </a:solidFill>
          <a:ln w="12700">
            <a:solidFill>
              <a:srgbClr val="FF9810"/>
            </a:solidFill>
            <a:prstDash val="solid"/>
          </a:ln>
        </p:spPr>
      </p:sp>
      <p:sp>
        <p:nvSpPr>
          <p:cNvPr id="20" name="Text 17"/>
          <p:cNvSpPr/>
          <p:nvPr/>
        </p:nvSpPr>
        <p:spPr>
          <a:xfrm>
            <a:off x="896112" y="2907792"/>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Deployment</a:t>
            </a:r>
            <a:endParaRPr lang="en-US" sz="2500" dirty="0"/>
          </a:p>
        </p:txBody>
      </p:sp>
      <p:sp>
        <p:nvSpPr>
          <p:cNvPr id="21" name="Text 18"/>
          <p:cNvSpPr/>
          <p:nvPr/>
        </p:nvSpPr>
        <p:spPr>
          <a:xfrm>
            <a:off x="3886200" y="2907792"/>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Check the deployed roles, permissions and network paths in real AWS.</a:t>
            </a:r>
            <a:endParaRPr lang="en-US" sz="2400" dirty="0"/>
          </a:p>
        </p:txBody>
      </p:sp>
      <p:sp>
        <p:nvSpPr>
          <p:cNvPr id="22" name="Shape 19"/>
          <p:cNvSpPr/>
          <p:nvPr/>
        </p:nvSpPr>
        <p:spPr>
          <a:xfrm>
            <a:off x="685800" y="3941064"/>
            <a:ext cx="3017520" cy="932688"/>
          </a:xfrm>
          <a:prstGeom prst="rect">
            <a:avLst/>
          </a:prstGeom>
          <a:solidFill>
            <a:srgbClr val="37325F"/>
          </a:solidFill>
          <a:ln w="12700">
            <a:solidFill>
              <a:srgbClr val="37325F"/>
            </a:solidFill>
            <a:prstDash val="solid"/>
          </a:ln>
        </p:spPr>
      </p:sp>
      <p:sp>
        <p:nvSpPr>
          <p:cNvPr id="23" name="Shape 20"/>
          <p:cNvSpPr/>
          <p:nvPr/>
        </p:nvSpPr>
        <p:spPr>
          <a:xfrm>
            <a:off x="3767328" y="3941064"/>
            <a:ext cx="7708392" cy="932688"/>
          </a:xfrm>
          <a:prstGeom prst="rect">
            <a:avLst/>
          </a:prstGeom>
          <a:solidFill>
            <a:srgbClr val="EAE7F2"/>
          </a:solidFill>
          <a:ln w="12700">
            <a:solidFill>
              <a:srgbClr val="EAE7F2"/>
            </a:solidFill>
            <a:prstDash val="solid"/>
          </a:ln>
        </p:spPr>
      </p:sp>
      <p:sp>
        <p:nvSpPr>
          <p:cNvPr id="24" name="Shape 21"/>
          <p:cNvSpPr/>
          <p:nvPr/>
        </p:nvSpPr>
        <p:spPr>
          <a:xfrm>
            <a:off x="685800" y="3941064"/>
            <a:ext cx="59436" cy="932688"/>
          </a:xfrm>
          <a:prstGeom prst="rect">
            <a:avLst/>
          </a:prstGeom>
          <a:solidFill>
            <a:srgbClr val="FF9810"/>
          </a:solidFill>
          <a:ln w="12700">
            <a:solidFill>
              <a:srgbClr val="FF9810"/>
            </a:solidFill>
            <a:prstDash val="solid"/>
          </a:ln>
        </p:spPr>
      </p:sp>
      <p:sp>
        <p:nvSpPr>
          <p:cNvPr id="25" name="Text 22"/>
          <p:cNvSpPr/>
          <p:nvPr/>
        </p:nvSpPr>
        <p:spPr>
          <a:xfrm>
            <a:off x="896112" y="3986784"/>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Event timing</a:t>
            </a:r>
            <a:endParaRPr lang="en-US" sz="2500" dirty="0"/>
          </a:p>
        </p:txBody>
      </p:sp>
      <p:sp>
        <p:nvSpPr>
          <p:cNvPr id="26" name="Text 23"/>
          <p:cNvSpPr/>
          <p:nvPr/>
        </p:nvSpPr>
        <p:spPr>
          <a:xfrm>
            <a:off x="3886200" y="3986784"/>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An upload can finish before processing does; notifications may be delayed or repeated.</a:t>
            </a:r>
            <a:endParaRPr lang="en-US" sz="2400" dirty="0"/>
          </a:p>
        </p:txBody>
      </p:sp>
      <p:sp>
        <p:nvSpPr>
          <p:cNvPr id="27" name="Shape 24"/>
          <p:cNvSpPr/>
          <p:nvPr/>
        </p:nvSpPr>
        <p:spPr>
          <a:xfrm>
            <a:off x="685800" y="5020056"/>
            <a:ext cx="3017520" cy="932688"/>
          </a:xfrm>
          <a:prstGeom prst="rect">
            <a:avLst/>
          </a:prstGeom>
          <a:solidFill>
            <a:srgbClr val="37325F"/>
          </a:solidFill>
          <a:ln w="12700">
            <a:solidFill>
              <a:srgbClr val="37325F"/>
            </a:solidFill>
            <a:prstDash val="solid"/>
          </a:ln>
        </p:spPr>
      </p:sp>
      <p:sp>
        <p:nvSpPr>
          <p:cNvPr id="28" name="Shape 25"/>
          <p:cNvSpPr/>
          <p:nvPr/>
        </p:nvSpPr>
        <p:spPr>
          <a:xfrm>
            <a:off x="3767328" y="5020056"/>
            <a:ext cx="7708392" cy="932688"/>
          </a:xfrm>
          <a:prstGeom prst="rect">
            <a:avLst/>
          </a:prstGeom>
          <a:solidFill>
            <a:srgbClr val="EAE7F2"/>
          </a:solidFill>
          <a:ln w="12700">
            <a:solidFill>
              <a:srgbClr val="EAE7F2"/>
            </a:solidFill>
            <a:prstDash val="solid"/>
          </a:ln>
        </p:spPr>
      </p:sp>
      <p:sp>
        <p:nvSpPr>
          <p:cNvPr id="29" name="Shape 26"/>
          <p:cNvSpPr/>
          <p:nvPr/>
        </p:nvSpPr>
        <p:spPr>
          <a:xfrm>
            <a:off x="685800" y="5020056"/>
            <a:ext cx="59436" cy="932688"/>
          </a:xfrm>
          <a:prstGeom prst="rect">
            <a:avLst/>
          </a:prstGeom>
          <a:solidFill>
            <a:srgbClr val="FF9810"/>
          </a:solidFill>
          <a:ln w="12700">
            <a:solidFill>
              <a:srgbClr val="FF9810"/>
            </a:solidFill>
            <a:prstDash val="solid"/>
          </a:ln>
        </p:spPr>
      </p:sp>
      <p:sp>
        <p:nvSpPr>
          <p:cNvPr id="30" name="Text 27"/>
          <p:cNvSpPr/>
          <p:nvPr/>
        </p:nvSpPr>
        <p:spPr>
          <a:xfrm>
            <a:off x="896112" y="5065776"/>
            <a:ext cx="2743200" cy="969264"/>
          </a:xfrm>
          <a:prstGeom prst="rect">
            <a:avLst/>
          </a:prstGeom>
          <a:noFill/>
          <a:ln/>
        </p:spPr>
        <p:txBody>
          <a:bodyPr wrap="square" lIns="0" tIns="0" rIns="0" bIns="0" rtlCol="0" anchor="ctr"/>
          <a:lstStyle/>
          <a:p>
            <a:pPr algn="l" indent="0" marL="0">
              <a:lnSpc>
                <a:spcPct val="103000"/>
              </a:lnSpc>
              <a:buNone/>
            </a:pPr>
            <a:r>
              <a:rPr lang="en-US" sz="2500" b="1" dirty="0">
                <a:solidFill>
                  <a:srgbClr val="FFFFFF"/>
                </a:solidFill>
                <a:latin typeface="Arial" pitchFamily="34" charset="0"/>
                <a:ea typeface="Arial" pitchFamily="34" charset="-122"/>
                <a:cs typeface="Arial" pitchFamily="34" charset="-120"/>
              </a:rPr>
              <a:t>Scale / billing</a:t>
            </a:r>
            <a:endParaRPr lang="en-US" sz="2500" dirty="0"/>
          </a:p>
        </p:txBody>
      </p:sp>
      <p:sp>
        <p:nvSpPr>
          <p:cNvPr id="31" name="Text 28"/>
          <p:cNvSpPr/>
          <p:nvPr/>
        </p:nvSpPr>
        <p:spPr>
          <a:xfrm>
            <a:off x="3886200" y="5065776"/>
            <a:ext cx="7452360" cy="9692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Measure production capacity, latency and AWS charges in the real environment.</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11832336" y="0"/>
            <a:ext cx="359664" cy="1417320"/>
          </a:xfrm>
          <a:prstGeom prst="rect">
            <a:avLst/>
          </a:prstGeom>
          <a:solidFill>
            <a:srgbClr val="37325F"/>
          </a:solidFill>
          <a:ln w="12700">
            <a:solidFill>
              <a:srgbClr val="37325F"/>
            </a:solidFill>
            <a:prstDash val="solid"/>
          </a:ln>
        </p:spPr>
      </p:sp>
      <p:sp>
        <p:nvSpPr>
          <p:cNvPr id="5" name="Shape 2"/>
          <p:cNvSpPr/>
          <p:nvPr/>
        </p:nvSpPr>
        <p:spPr>
          <a:xfrm>
            <a:off x="11622024" y="1234440"/>
            <a:ext cx="365760" cy="365760"/>
          </a:xfrm>
          <a:prstGeom prst="diamond">
            <a:avLst/>
          </a:prstGeom>
          <a:solidFill>
            <a:srgbClr val="FF9810"/>
          </a:solidFill>
          <a:ln w="12700">
            <a:solidFill>
              <a:srgbClr val="FF9810"/>
            </a:solidFill>
            <a:prstDash val="solid"/>
          </a:ln>
        </p:spPr>
      </p:sp>
      <p:sp>
        <p:nvSpPr>
          <p:cNvPr id="6" name="Text 3"/>
          <p:cNvSpPr/>
          <p:nvPr/>
        </p:nvSpPr>
        <p:spPr>
          <a:xfrm>
            <a:off x="594360" y="576072"/>
            <a:ext cx="10972800" cy="777240"/>
          </a:xfrm>
          <a:prstGeom prst="rect">
            <a:avLst/>
          </a:prstGeom>
          <a:noFill/>
          <a:ln/>
        </p:spPr>
        <p:txBody>
          <a:bodyPr wrap="square" lIns="0" tIns="0" rIns="0" bIns="0" rtlCol="0" anchor="ctr"/>
          <a:lstStyle/>
          <a:p>
            <a:pPr algn="l" indent="0" marL="0">
              <a:lnSpc>
                <a:spcPct val="103000"/>
              </a:lnSpc>
              <a:buNone/>
            </a:pPr>
            <a:r>
              <a:rPr lang="en-US" sz="3000" b="1" dirty="0">
                <a:solidFill>
                  <a:srgbClr val="37325F"/>
                </a:solidFill>
                <a:latin typeface="Arial" pitchFamily="34" charset="0"/>
                <a:ea typeface="Arial" pitchFamily="34" charset="-122"/>
                <a:cs typeface="Arial" pitchFamily="34" charset="-120"/>
              </a:rPr>
              <a:t>Where each tool has an advantage</a:t>
            </a:r>
            <a:endParaRPr lang="en-US" sz="3000" dirty="0"/>
          </a:p>
        </p:txBody>
      </p:sp>
      <p:sp>
        <p:nvSpPr>
          <p:cNvPr id="7" name="Shape 4"/>
          <p:cNvSpPr/>
          <p:nvPr/>
        </p:nvSpPr>
        <p:spPr>
          <a:xfrm>
            <a:off x="594360" y="1353312"/>
            <a:ext cx="960120" cy="59436"/>
          </a:xfrm>
          <a:prstGeom prst="rect">
            <a:avLst/>
          </a:prstGeom>
          <a:solidFill>
            <a:srgbClr val="FF9810"/>
          </a:solidFill>
          <a:ln w="12700">
            <a:solidFill>
              <a:srgbClr val="FF9810"/>
            </a:solidFill>
            <a:prstDash val="solid"/>
          </a:ln>
        </p:spPr>
      </p:sp>
      <p:sp>
        <p:nvSpPr>
          <p:cNvPr id="8" name="Shape 5"/>
          <p:cNvSpPr/>
          <p:nvPr/>
        </p:nvSpPr>
        <p:spPr>
          <a:xfrm>
            <a:off x="594360" y="6437376"/>
            <a:ext cx="10991088" cy="0"/>
          </a:xfrm>
          <a:prstGeom prst="line">
            <a:avLst/>
          </a:prstGeom>
          <a:noFill/>
          <a:ln w="8890">
            <a:solidFill>
              <a:srgbClr val="C6C2D3"/>
            </a:solidFill>
            <a:prstDash val="solid"/>
          </a:ln>
        </p:spPr>
      </p:sp>
      <p:sp>
        <p:nvSpPr>
          <p:cNvPr id="9" name="Text 6"/>
          <p:cNvSpPr/>
          <p:nvPr/>
        </p:nvSpPr>
        <p:spPr>
          <a:xfrm>
            <a:off x="594360" y="6565392"/>
            <a:ext cx="2743200" cy="228600"/>
          </a:xfrm>
          <a:prstGeom prst="rect">
            <a:avLst/>
          </a:prstGeom>
          <a:noFill/>
          <a:ln/>
        </p:spPr>
        <p:txBody>
          <a:bodyPr wrap="square" lIns="0" tIns="0" rIns="0" bIns="0" rtlCol="0" anchor="ctr"/>
          <a:lstStyle/>
          <a:p>
            <a:pPr algn="l" indent="0" marL="0">
              <a:lnSpc>
                <a:spcPct val="103000"/>
              </a:lnSpc>
              <a:buNone/>
            </a:pPr>
            <a:r>
              <a:rPr lang="en-US" sz="1300" dirty="0">
                <a:solidFill>
                  <a:srgbClr val="51536A"/>
                </a:solidFill>
                <a:latin typeface="Arial" pitchFamily="34" charset="0"/>
                <a:ea typeface="Arial" pitchFamily="34" charset="-122"/>
                <a:cs typeface="Arial" pitchFamily="34" charset="-120"/>
              </a:rPr>
              <a:t>GSD · WADe 2026</a:t>
            </a:r>
            <a:endParaRPr lang="en-US" sz="1300" dirty="0"/>
          </a:p>
        </p:txBody>
      </p:sp>
      <p:sp>
        <p:nvSpPr>
          <p:cNvPr id="10" name="Text 7"/>
          <p:cNvSpPr/>
          <p:nvPr/>
        </p:nvSpPr>
        <p:spPr>
          <a:xfrm>
            <a:off x="3657600" y="6565392"/>
            <a:ext cx="4937760" cy="228600"/>
          </a:xfrm>
          <a:prstGeom prst="rect">
            <a:avLst/>
          </a:prstGeom>
          <a:noFill/>
          <a:ln/>
        </p:spPr>
        <p:txBody>
          <a:bodyPr wrap="square" lIns="0" tIns="0" rIns="0" bIns="0" rtlCol="0" anchor="ctr"/>
          <a:lstStyle/>
          <a:p>
            <a:pPr algn="ctr" indent="0" marL="0">
              <a:lnSpc>
                <a:spcPct val="103000"/>
              </a:lnSpc>
              <a:buNone/>
            </a:pPr>
            <a:r>
              <a:rPr lang="en-US" sz="1300" dirty="0">
                <a:solidFill>
                  <a:srgbClr val="51536A"/>
                </a:solidFill>
                <a:latin typeface="Arial" pitchFamily="34" charset="0"/>
                <a:ea typeface="Arial" pitchFamily="34" charset="-122"/>
                <a:cs typeface="Arial" pitchFamily="34" charset="-120"/>
              </a:rPr>
              <a:t>Conclusions</a:t>
            </a:r>
            <a:endParaRPr lang="en-US" sz="1300" dirty="0"/>
          </a:p>
        </p:txBody>
      </p:sp>
      <p:sp>
        <p:nvSpPr>
          <p:cNvPr id="11" name="Text 8"/>
          <p:cNvSpPr/>
          <p:nvPr/>
        </p:nvSpPr>
        <p:spPr>
          <a:xfrm>
            <a:off x="10881360" y="6537960"/>
            <a:ext cx="640080" cy="274320"/>
          </a:xfrm>
          <a:prstGeom prst="rect">
            <a:avLst/>
          </a:prstGeom>
          <a:noFill/>
          <a:ln/>
        </p:spPr>
        <p:txBody>
          <a:bodyPr wrap="square" lIns="0" tIns="0" rIns="0" bIns="0" rtlCol="0" anchor="ctr"/>
          <a:lstStyle/>
          <a:p>
            <a:pPr algn="r" indent="0" marL="0">
              <a:lnSpc>
                <a:spcPct val="103000"/>
              </a:lnSpc>
              <a:buNone/>
            </a:pPr>
            <a:r>
              <a:rPr lang="en-US" sz="1500" dirty="0">
                <a:solidFill>
                  <a:srgbClr val="37325F"/>
                </a:solidFill>
                <a:latin typeface="Arial" pitchFamily="34" charset="0"/>
                <a:ea typeface="Arial" pitchFamily="34" charset="-122"/>
                <a:cs typeface="Arial" pitchFamily="34" charset="-120"/>
              </a:rPr>
              <a:t>28</a:t>
            </a:r>
            <a:endParaRPr lang="en-US" sz="1500" dirty="0"/>
          </a:p>
        </p:txBody>
      </p:sp>
      <p:sp>
        <p:nvSpPr>
          <p:cNvPr id="12" name="Shape 9"/>
          <p:cNvSpPr/>
          <p:nvPr/>
        </p:nvSpPr>
        <p:spPr>
          <a:xfrm>
            <a:off x="594360" y="1737360"/>
            <a:ext cx="11109960" cy="566928"/>
          </a:xfrm>
          <a:prstGeom prst="rect">
            <a:avLst/>
          </a:prstGeom>
          <a:solidFill>
            <a:srgbClr val="37325F"/>
          </a:solidFill>
          <a:ln w="12700">
            <a:solidFill>
              <a:srgbClr val="37325F"/>
            </a:solidFill>
            <a:prstDash val="solid"/>
          </a:ln>
        </p:spPr>
      </p:sp>
      <p:sp>
        <p:nvSpPr>
          <p:cNvPr id="13" name="Text 10"/>
          <p:cNvSpPr/>
          <p:nvPr/>
        </p:nvSpPr>
        <p:spPr>
          <a:xfrm>
            <a:off x="722376" y="1874520"/>
            <a:ext cx="225856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CRITERION</a:t>
            </a:r>
            <a:endParaRPr lang="en-US" sz="1900" dirty="0"/>
          </a:p>
        </p:txBody>
      </p:sp>
      <p:sp>
        <p:nvSpPr>
          <p:cNvPr id="14" name="Text 11"/>
          <p:cNvSpPr/>
          <p:nvPr/>
        </p:nvSpPr>
        <p:spPr>
          <a:xfrm>
            <a:off x="3236976" y="1874520"/>
            <a:ext cx="390448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FAKECLOUD</a:t>
            </a:r>
            <a:endParaRPr lang="en-US" sz="1900" dirty="0"/>
          </a:p>
        </p:txBody>
      </p:sp>
      <p:sp>
        <p:nvSpPr>
          <p:cNvPr id="15" name="Text 12"/>
          <p:cNvSpPr/>
          <p:nvPr/>
        </p:nvSpPr>
        <p:spPr>
          <a:xfrm>
            <a:off x="7397496" y="1874520"/>
            <a:ext cx="4178808" cy="393192"/>
          </a:xfrm>
          <a:prstGeom prst="rect">
            <a:avLst/>
          </a:prstGeom>
          <a:noFill/>
          <a:ln/>
        </p:spPr>
        <p:txBody>
          <a:bodyPr wrap="square" lIns="0" tIns="0" rIns="0" bIns="0" rtlCol="0" anchor="ctr"/>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LOCALSTACK</a:t>
            </a:r>
            <a:endParaRPr lang="en-US" sz="1900" dirty="0"/>
          </a:p>
        </p:txBody>
      </p:sp>
      <p:sp>
        <p:nvSpPr>
          <p:cNvPr id="16" name="Shape 13"/>
          <p:cNvSpPr/>
          <p:nvPr/>
        </p:nvSpPr>
        <p:spPr>
          <a:xfrm>
            <a:off x="594360" y="2304288"/>
            <a:ext cx="11109960" cy="960120"/>
          </a:xfrm>
          <a:prstGeom prst="rect">
            <a:avLst/>
          </a:prstGeom>
          <a:solidFill>
            <a:srgbClr val="FFFFFF"/>
          </a:solidFill>
          <a:ln w="12700">
            <a:solidFill>
              <a:srgbClr val="FFFFFF"/>
            </a:solidFill>
            <a:prstDash val="solid"/>
          </a:ln>
        </p:spPr>
      </p:sp>
      <p:sp>
        <p:nvSpPr>
          <p:cNvPr id="17" name="Shape 14"/>
          <p:cNvSpPr/>
          <p:nvPr/>
        </p:nvSpPr>
        <p:spPr>
          <a:xfrm>
            <a:off x="594360" y="2304288"/>
            <a:ext cx="2514600" cy="960120"/>
          </a:xfrm>
          <a:prstGeom prst="rect">
            <a:avLst/>
          </a:prstGeom>
          <a:solidFill>
            <a:srgbClr val="37325F"/>
          </a:solidFill>
          <a:ln w="12700">
            <a:solidFill>
              <a:srgbClr val="37325F"/>
            </a:solidFill>
            <a:prstDash val="solid"/>
          </a:ln>
        </p:spPr>
      </p:sp>
      <p:sp>
        <p:nvSpPr>
          <p:cNvPr id="18" name="Shape 15"/>
          <p:cNvSpPr/>
          <p:nvPr/>
        </p:nvSpPr>
        <p:spPr>
          <a:xfrm>
            <a:off x="594360" y="2304288"/>
            <a:ext cx="50292" cy="960120"/>
          </a:xfrm>
          <a:prstGeom prst="rect">
            <a:avLst/>
          </a:prstGeom>
          <a:solidFill>
            <a:srgbClr val="FF9810"/>
          </a:solidFill>
          <a:ln w="12700">
            <a:solidFill>
              <a:srgbClr val="FF9810"/>
            </a:solidFill>
            <a:prstDash val="solid"/>
          </a:ln>
        </p:spPr>
      </p:sp>
      <p:sp>
        <p:nvSpPr>
          <p:cNvPr id="19" name="Text 16"/>
          <p:cNvSpPr/>
          <p:nvPr/>
        </p:nvSpPr>
        <p:spPr>
          <a:xfrm>
            <a:off x="722376" y="2432304"/>
            <a:ext cx="2249424" cy="740664"/>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Free local features</a:t>
            </a:r>
            <a:endParaRPr lang="en-US" sz="2400" dirty="0"/>
          </a:p>
        </p:txBody>
      </p:sp>
      <p:sp>
        <p:nvSpPr>
          <p:cNvPr id="20" name="Text 17"/>
          <p:cNvSpPr/>
          <p:nvPr/>
        </p:nvSpPr>
        <p:spPr>
          <a:xfrm>
            <a:off x="3236976" y="2432304"/>
            <a:ext cx="389534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Cognito; persistence;</a:t>
            </a:r>
            <a:endParaRPr lang="en-US" sz="2400" dirty="0"/>
          </a:p>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IAM enforcement</a:t>
            </a:r>
            <a:endParaRPr lang="en-US" sz="2400" dirty="0"/>
          </a:p>
        </p:txBody>
      </p:sp>
      <p:sp>
        <p:nvSpPr>
          <p:cNvPr id="21" name="Text 18"/>
          <p:cNvSpPr/>
          <p:nvPr/>
        </p:nvSpPr>
        <p:spPr>
          <a:xfrm>
            <a:off x="7397496" y="2432304"/>
            <a:ext cx="416966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Base/Ultimate for these features</a:t>
            </a:r>
            <a:endParaRPr lang="en-US" sz="2400" dirty="0"/>
          </a:p>
        </p:txBody>
      </p:sp>
      <p:sp>
        <p:nvSpPr>
          <p:cNvPr id="22" name="Shape 19"/>
          <p:cNvSpPr/>
          <p:nvPr/>
        </p:nvSpPr>
        <p:spPr>
          <a:xfrm>
            <a:off x="594360" y="3264408"/>
            <a:ext cx="11109960" cy="960120"/>
          </a:xfrm>
          <a:prstGeom prst="rect">
            <a:avLst/>
          </a:prstGeom>
          <a:solidFill>
            <a:srgbClr val="EAE7F2"/>
          </a:solidFill>
          <a:ln w="12700">
            <a:solidFill>
              <a:srgbClr val="EAE7F2"/>
            </a:solidFill>
            <a:prstDash val="solid"/>
          </a:ln>
        </p:spPr>
      </p:sp>
      <p:sp>
        <p:nvSpPr>
          <p:cNvPr id="23" name="Shape 20"/>
          <p:cNvSpPr/>
          <p:nvPr/>
        </p:nvSpPr>
        <p:spPr>
          <a:xfrm>
            <a:off x="594360" y="3264408"/>
            <a:ext cx="2514600" cy="960120"/>
          </a:xfrm>
          <a:prstGeom prst="rect">
            <a:avLst/>
          </a:prstGeom>
          <a:solidFill>
            <a:srgbClr val="37325F"/>
          </a:solidFill>
          <a:ln w="12700">
            <a:solidFill>
              <a:srgbClr val="37325F"/>
            </a:solidFill>
            <a:prstDash val="solid"/>
          </a:ln>
        </p:spPr>
      </p:sp>
      <p:sp>
        <p:nvSpPr>
          <p:cNvPr id="24" name="Shape 21"/>
          <p:cNvSpPr/>
          <p:nvPr/>
        </p:nvSpPr>
        <p:spPr>
          <a:xfrm>
            <a:off x="594360" y="3264408"/>
            <a:ext cx="50292" cy="960120"/>
          </a:xfrm>
          <a:prstGeom prst="rect">
            <a:avLst/>
          </a:prstGeom>
          <a:solidFill>
            <a:srgbClr val="FF9810"/>
          </a:solidFill>
          <a:ln w="12700">
            <a:solidFill>
              <a:srgbClr val="FF9810"/>
            </a:solidFill>
            <a:prstDash val="solid"/>
          </a:ln>
        </p:spPr>
      </p:sp>
      <p:sp>
        <p:nvSpPr>
          <p:cNvPr id="25" name="Text 22"/>
          <p:cNvSpPr/>
          <p:nvPr/>
        </p:nvSpPr>
        <p:spPr>
          <a:xfrm>
            <a:off x="722376" y="3392424"/>
            <a:ext cx="2249424" cy="740664"/>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Developer tools</a:t>
            </a:r>
            <a:endParaRPr lang="en-US" sz="2400" dirty="0"/>
          </a:p>
        </p:txBody>
      </p:sp>
      <p:sp>
        <p:nvSpPr>
          <p:cNvPr id="26" name="Text 23"/>
          <p:cNvSpPr/>
          <p:nvPr/>
        </p:nvSpPr>
        <p:spPr>
          <a:xfrm>
            <a:off x="3236976" y="3392424"/>
            <a:ext cx="389534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Binary + inspection tools</a:t>
            </a:r>
            <a:endParaRPr lang="en-US" sz="2400" dirty="0"/>
          </a:p>
        </p:txBody>
      </p:sp>
      <p:sp>
        <p:nvSpPr>
          <p:cNvPr id="27" name="Text 24"/>
          <p:cNvSpPr/>
          <p:nvPr/>
        </p:nvSpPr>
        <p:spPr>
          <a:xfrm>
            <a:off x="7397496" y="3392424"/>
            <a:ext cx="416966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Hot reload, CDK, support tiers</a:t>
            </a:r>
            <a:endParaRPr lang="en-US" sz="2400" dirty="0"/>
          </a:p>
        </p:txBody>
      </p:sp>
      <p:sp>
        <p:nvSpPr>
          <p:cNvPr id="28" name="Shape 25"/>
          <p:cNvSpPr/>
          <p:nvPr/>
        </p:nvSpPr>
        <p:spPr>
          <a:xfrm>
            <a:off x="594360" y="4224528"/>
            <a:ext cx="11109960" cy="960120"/>
          </a:xfrm>
          <a:prstGeom prst="rect">
            <a:avLst/>
          </a:prstGeom>
          <a:solidFill>
            <a:srgbClr val="FFFFFF"/>
          </a:solidFill>
          <a:ln w="12700">
            <a:solidFill>
              <a:srgbClr val="FFFFFF"/>
            </a:solidFill>
            <a:prstDash val="solid"/>
          </a:ln>
        </p:spPr>
      </p:sp>
      <p:sp>
        <p:nvSpPr>
          <p:cNvPr id="29" name="Shape 26"/>
          <p:cNvSpPr/>
          <p:nvPr/>
        </p:nvSpPr>
        <p:spPr>
          <a:xfrm>
            <a:off x="594360" y="4224528"/>
            <a:ext cx="2514600" cy="960120"/>
          </a:xfrm>
          <a:prstGeom prst="rect">
            <a:avLst/>
          </a:prstGeom>
          <a:solidFill>
            <a:srgbClr val="37325F"/>
          </a:solidFill>
          <a:ln w="12700">
            <a:solidFill>
              <a:srgbClr val="37325F"/>
            </a:solidFill>
            <a:prstDash val="solid"/>
          </a:ln>
        </p:spPr>
      </p:sp>
      <p:sp>
        <p:nvSpPr>
          <p:cNvPr id="30" name="Shape 27"/>
          <p:cNvSpPr/>
          <p:nvPr/>
        </p:nvSpPr>
        <p:spPr>
          <a:xfrm>
            <a:off x="594360" y="4224528"/>
            <a:ext cx="50292" cy="960120"/>
          </a:xfrm>
          <a:prstGeom prst="rect">
            <a:avLst/>
          </a:prstGeom>
          <a:solidFill>
            <a:srgbClr val="FF9810"/>
          </a:solidFill>
          <a:ln w="12700">
            <a:solidFill>
              <a:srgbClr val="FF9810"/>
            </a:solidFill>
            <a:prstDash val="solid"/>
          </a:ln>
        </p:spPr>
      </p:sp>
      <p:sp>
        <p:nvSpPr>
          <p:cNvPr id="31" name="Text 28"/>
          <p:cNvSpPr/>
          <p:nvPr/>
        </p:nvSpPr>
        <p:spPr>
          <a:xfrm>
            <a:off x="722376" y="4352544"/>
            <a:ext cx="2249424" cy="740664"/>
          </a:xfrm>
          <a:prstGeom prst="rect">
            <a:avLst/>
          </a:prstGeom>
          <a:noFill/>
          <a:ln/>
        </p:spPr>
        <p:txBody>
          <a:bodyPr wrap="square" lIns="0" tIns="0" rIns="0" bIns="0" rtlCol="0" anchor="ctr"/>
          <a:lstStyle/>
          <a:p>
            <a:pPr algn="l" indent="0" marL="0">
              <a:lnSpc>
                <a:spcPct val="103000"/>
              </a:lnSpc>
              <a:buNone/>
            </a:pPr>
            <a:r>
              <a:rPr lang="en-US" sz="2400" b="1" dirty="0">
                <a:solidFill>
                  <a:srgbClr val="FFFFFF"/>
                </a:solidFill>
                <a:latin typeface="Arial" pitchFamily="34" charset="0"/>
                <a:ea typeface="Arial" pitchFamily="34" charset="-122"/>
                <a:cs typeface="Arial" pitchFamily="34" charset="-120"/>
              </a:rPr>
              <a:t>Track record</a:t>
            </a:r>
            <a:endParaRPr lang="en-US" sz="2400" dirty="0"/>
          </a:p>
        </p:txBody>
      </p:sp>
      <p:sp>
        <p:nvSpPr>
          <p:cNvPr id="32" name="Text 29"/>
          <p:cNvSpPr/>
          <p:nvPr/>
        </p:nvSpPr>
        <p:spPr>
          <a:xfrm>
            <a:off x="3236976" y="4352544"/>
            <a:ext cx="389534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Started April 2026</a:t>
            </a:r>
            <a:endParaRPr lang="en-US" sz="2400" dirty="0"/>
          </a:p>
        </p:txBody>
      </p:sp>
      <p:sp>
        <p:nvSpPr>
          <p:cNvPr id="33" name="Text 30"/>
          <p:cNvSpPr/>
          <p:nvPr/>
        </p:nvSpPr>
        <p:spPr>
          <a:xfrm>
            <a:off x="7397496" y="4352544"/>
            <a:ext cx="4169664" cy="740664"/>
          </a:xfrm>
          <a:prstGeom prst="rect">
            <a:avLst/>
          </a:prstGeom>
          <a:noFill/>
          <a:ln/>
        </p:spPr>
        <p:txBody>
          <a:bodyPr wrap="square" lIns="0" tIns="0" rIns="0" bIns="0" rtlCol="0" anchor="ctr"/>
          <a:lstStyle/>
          <a:p>
            <a:pPr algn="l" indent="0" marL="0">
              <a:lnSpc>
                <a:spcPct val="103000"/>
              </a:lnSpc>
              <a:buNone/>
            </a:pPr>
            <a:r>
              <a:rPr lang="en-US" sz="2400" dirty="0">
                <a:solidFill>
                  <a:srgbClr val="202338"/>
                </a:solidFill>
                <a:latin typeface="Arial" pitchFamily="34" charset="0"/>
                <a:ea typeface="Arial" pitchFamily="34" charset="-122"/>
                <a:cs typeface="Arial" pitchFamily="34" charset="-120"/>
              </a:rPr>
              <a:t>Started 2016</a:t>
            </a:r>
            <a:endParaRPr lang="en-US" sz="2400" dirty="0"/>
          </a:p>
        </p:txBody>
      </p:sp>
      <p:sp>
        <p:nvSpPr>
          <p:cNvPr id="34" name="Shape 31"/>
          <p:cNvSpPr/>
          <p:nvPr/>
        </p:nvSpPr>
        <p:spPr>
          <a:xfrm>
            <a:off x="594360" y="5522976"/>
            <a:ext cx="11000232" cy="841248"/>
          </a:xfrm>
          <a:prstGeom prst="rect">
            <a:avLst/>
          </a:prstGeom>
          <a:solidFill>
            <a:srgbClr val="EAE7F2"/>
          </a:solidFill>
          <a:ln w="12700">
            <a:solidFill>
              <a:srgbClr val="EAE7F2"/>
            </a:solidFill>
            <a:prstDash val="solid"/>
          </a:ln>
        </p:spPr>
      </p:sp>
      <p:sp>
        <p:nvSpPr>
          <p:cNvPr id="35" name="Shape 32"/>
          <p:cNvSpPr/>
          <p:nvPr/>
        </p:nvSpPr>
        <p:spPr>
          <a:xfrm>
            <a:off x="594360" y="5522976"/>
            <a:ext cx="59436" cy="841248"/>
          </a:xfrm>
          <a:prstGeom prst="rect">
            <a:avLst/>
          </a:prstGeom>
          <a:solidFill>
            <a:srgbClr val="FF9810"/>
          </a:solidFill>
          <a:ln w="12700">
            <a:solidFill>
              <a:srgbClr val="FF9810"/>
            </a:solidFill>
            <a:prstDash val="solid"/>
          </a:ln>
        </p:spPr>
      </p:sp>
      <p:sp>
        <p:nvSpPr>
          <p:cNvPr id="36" name="Text 33"/>
          <p:cNvSpPr/>
          <p:nvPr/>
        </p:nvSpPr>
        <p:spPr>
          <a:xfrm>
            <a:off x="777240" y="5614416"/>
            <a:ext cx="10652760" cy="77724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FakeCloud offers more of these features without fees; LocalStack brings established tooling and support.</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w="12700">
            <a:solidFill>
              <a:srgbClr val="FFFFFF"/>
            </a:solidFill>
            <a:prstDash val="solid"/>
          </a:ln>
        </p:spPr>
      </p:sp>
      <p:sp>
        <p:nvSpPr>
          <p:cNvPr id="4" name="Shape 1"/>
          <p:cNvSpPr/>
          <p:nvPr/>
        </p:nvSpPr>
        <p:spPr>
          <a:xfrm>
            <a:off x="0" y="0"/>
            <a:ext cx="12192000" cy="6858000"/>
          </a:xfrm>
          <a:prstGeom prst="rect">
            <a:avLst/>
          </a:prstGeom>
          <a:solidFill>
            <a:srgbClr val="FFFFFF"/>
          </a:solidFill>
          <a:ln w="12700">
            <a:solidFill>
              <a:srgbClr val="FFFFFF"/>
            </a:solidFill>
            <a:prstDash val="solid"/>
          </a:ln>
        </p:spPr>
      </p:sp>
      <p:sp>
        <p:nvSpPr>
          <p:cNvPr id="5" name="Shape 2"/>
          <p:cNvSpPr/>
          <p:nvPr/>
        </p:nvSpPr>
        <p:spPr>
          <a:xfrm>
            <a:off x="9555480" y="658368"/>
            <a:ext cx="2636520" cy="5532120"/>
          </a:xfrm>
          <a:prstGeom prst="rect">
            <a:avLst/>
          </a:prstGeom>
          <a:solidFill>
            <a:srgbClr val="37325F"/>
          </a:solidFill>
          <a:ln w="12700">
            <a:solidFill>
              <a:srgbClr val="37325F"/>
            </a:solidFill>
            <a:prstDash val="solid"/>
          </a:ln>
        </p:spPr>
      </p:sp>
      <p:sp>
        <p:nvSpPr>
          <p:cNvPr id="6" name="Shape 3"/>
          <p:cNvSpPr/>
          <p:nvPr/>
        </p:nvSpPr>
        <p:spPr>
          <a:xfrm>
            <a:off x="8686800" y="2377440"/>
            <a:ext cx="2468880" cy="2468880"/>
          </a:xfrm>
          <a:prstGeom prst="diamond">
            <a:avLst/>
          </a:prstGeom>
          <a:solidFill>
            <a:srgbClr val="37325F"/>
          </a:solidFill>
          <a:ln w="12700">
            <a:solidFill>
              <a:srgbClr val="37325F"/>
            </a:solidFill>
            <a:prstDash val="solid"/>
          </a:ln>
        </p:spPr>
      </p:sp>
      <p:sp>
        <p:nvSpPr>
          <p:cNvPr id="7" name="Shape 4"/>
          <p:cNvSpPr/>
          <p:nvPr/>
        </p:nvSpPr>
        <p:spPr>
          <a:xfrm>
            <a:off x="8887968" y="2880360"/>
            <a:ext cx="1645920" cy="1645920"/>
          </a:xfrm>
          <a:prstGeom prst="diamond">
            <a:avLst/>
          </a:prstGeom>
          <a:solidFill>
            <a:srgbClr val="FF9810"/>
          </a:solidFill>
          <a:ln w="12700">
            <a:solidFill>
              <a:srgbClr val="FF9810"/>
            </a:solidFill>
            <a:prstDash val="solid"/>
          </a:ln>
        </p:spPr>
      </p:sp>
      <p:sp>
        <p:nvSpPr>
          <p:cNvPr id="8" name="Text 5"/>
          <p:cNvSpPr/>
          <p:nvPr/>
        </p:nvSpPr>
        <p:spPr>
          <a:xfrm>
            <a:off x="777240" y="704088"/>
            <a:ext cx="7863840" cy="960120"/>
          </a:xfrm>
          <a:prstGeom prst="rect">
            <a:avLst/>
          </a:prstGeom>
          <a:noFill/>
          <a:ln/>
        </p:spPr>
        <p:txBody>
          <a:bodyPr wrap="square" lIns="0" tIns="0" rIns="0" bIns="0" rtlCol="0" anchor="ctr"/>
          <a:lstStyle/>
          <a:p>
            <a:pPr algn="l" indent="0" marL="0">
              <a:lnSpc>
                <a:spcPct val="103000"/>
              </a:lnSpc>
              <a:buNone/>
            </a:pPr>
            <a:r>
              <a:rPr lang="en-US" sz="4700" b="1" dirty="0">
                <a:solidFill>
                  <a:srgbClr val="37325F"/>
                </a:solidFill>
                <a:latin typeface="Arial" pitchFamily="34" charset="0"/>
                <a:ea typeface="Arial" pitchFamily="34" charset="-122"/>
                <a:cs typeface="Arial" pitchFamily="34" charset="-120"/>
              </a:rPr>
              <a:t>Thank you!</a:t>
            </a:r>
            <a:endParaRPr lang="en-US" sz="4700" dirty="0"/>
          </a:p>
        </p:txBody>
      </p:sp>
      <p:sp>
        <p:nvSpPr>
          <p:cNvPr id="9" name="Shape 6"/>
          <p:cNvSpPr/>
          <p:nvPr/>
        </p:nvSpPr>
        <p:spPr>
          <a:xfrm>
            <a:off x="822960" y="1719072"/>
            <a:ext cx="1188720" cy="59436"/>
          </a:xfrm>
          <a:prstGeom prst="rect">
            <a:avLst/>
          </a:prstGeom>
          <a:solidFill>
            <a:srgbClr val="FF9810"/>
          </a:solidFill>
          <a:ln w="12700">
            <a:solidFill>
              <a:srgbClr val="FF9810"/>
            </a:solidFill>
            <a:prstDash val="solid"/>
          </a:ln>
        </p:spPr>
      </p:sp>
      <p:sp>
        <p:nvSpPr>
          <p:cNvPr id="10" name="Text 7"/>
          <p:cNvSpPr/>
          <p:nvPr/>
        </p:nvSpPr>
        <p:spPr>
          <a:xfrm>
            <a:off x="822960" y="1938528"/>
            <a:ext cx="7543800" cy="457200"/>
          </a:xfrm>
          <a:prstGeom prst="rect">
            <a:avLst/>
          </a:prstGeom>
          <a:noFill/>
          <a:ln/>
        </p:spPr>
        <p:txBody>
          <a:bodyPr wrap="square" lIns="0" tIns="0" rIns="0" bIns="0" rtlCol="0" anchor="ctr"/>
          <a:lstStyle/>
          <a:p>
            <a:pPr algn="l" indent="0" marL="0">
              <a:lnSpc>
                <a:spcPct val="103000"/>
              </a:lnSpc>
              <a:buNone/>
            </a:pPr>
            <a:r>
              <a:rPr lang="en-US" sz="2400" b="1" dirty="0">
                <a:solidFill>
                  <a:srgbClr val="37325F"/>
                </a:solidFill>
                <a:latin typeface="Arial" pitchFamily="34" charset="0"/>
                <a:ea typeface="Arial" pitchFamily="34" charset="-122"/>
                <a:cs typeface="Arial" pitchFamily="34" charset="-120"/>
              </a:rPr>
              <a:t>Selected sources</a:t>
            </a:r>
            <a:endParaRPr lang="en-US" sz="2400" dirty="0"/>
          </a:p>
        </p:txBody>
      </p:sp>
      <p:sp>
        <p:nvSpPr>
          <p:cNvPr id="11" name="Shape 8"/>
          <p:cNvSpPr/>
          <p:nvPr/>
        </p:nvSpPr>
        <p:spPr>
          <a:xfrm>
            <a:off x="822960" y="2624328"/>
            <a:ext cx="54864" cy="557784"/>
          </a:xfrm>
          <a:prstGeom prst="rect">
            <a:avLst/>
          </a:prstGeom>
          <a:solidFill>
            <a:srgbClr val="FF9810"/>
          </a:solidFill>
          <a:ln w="12700">
            <a:solidFill>
              <a:srgbClr val="FF9810"/>
            </a:solidFill>
            <a:prstDash val="solid"/>
          </a:ln>
        </p:spPr>
      </p:sp>
      <p:sp>
        <p:nvSpPr>
          <p:cNvPr id="12" name="Text 9">
            <a:hlinkClick r:id="rId1" tooltip=""/>
          </p:cNvPr>
          <p:cNvSpPr/>
          <p:nvPr/>
        </p:nvSpPr>
        <p:spPr>
          <a:xfrm>
            <a:off x="1024128" y="2587752"/>
            <a:ext cx="7315200" cy="411480"/>
          </a:xfrm>
          <a:prstGeom prst="rect">
            <a:avLst/>
          </a:prstGeom>
          <a:noFill/>
          <a:ln/>
        </p:spPr>
        <p:txBody>
          <a:bodyPr wrap="square" lIns="0" tIns="0" rIns="0" bIns="0" rtlCol="0" anchor="ctr"/>
          <a:lstStyle/>
          <a:p>
            <a:pPr algn="l" indent="0" marL="0">
              <a:lnSpc>
                <a:spcPct val="103000"/>
              </a:lnSpc>
              <a:buNone/>
            </a:pPr>
            <a:r>
              <a:rPr lang="en-US" sz="2400" b="1" u="sng" dirty="0">
                <a:solidFill>
                  <a:srgbClr val="37325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FakeCloud documentation</a:t>
            </a:r>
            <a:endParaRPr lang="en-US" sz="2400" dirty="0"/>
          </a:p>
        </p:txBody>
      </p:sp>
      <p:sp>
        <p:nvSpPr>
          <p:cNvPr id="13" name="Text 10"/>
          <p:cNvSpPr/>
          <p:nvPr/>
        </p:nvSpPr>
        <p:spPr>
          <a:xfrm>
            <a:off x="1024128" y="2980944"/>
            <a:ext cx="7315200" cy="338328"/>
          </a:xfrm>
          <a:prstGeom prst="rect">
            <a:avLst/>
          </a:prstGeom>
          <a:noFill/>
          <a:ln/>
        </p:spPr>
        <p:txBody>
          <a:bodyPr wrap="square" lIns="0" tIns="0" rIns="0" bIns="0" rtlCol="0" anchor="ctr"/>
          <a:lstStyle/>
          <a:p>
            <a:pPr algn="l" indent="0" marL="0">
              <a:lnSpc>
                <a:spcPct val="103000"/>
              </a:lnSpc>
              <a:buNone/>
            </a:pPr>
            <a:r>
              <a:rPr lang="en-US" sz="2000" dirty="0">
                <a:solidFill>
                  <a:srgbClr val="51536A"/>
                </a:solidFill>
                <a:latin typeface="Arial" pitchFamily="34" charset="0"/>
                <a:ea typeface="Arial" pitchFamily="34" charset="-122"/>
                <a:cs typeface="Arial" pitchFamily="34" charset="-120"/>
              </a:rPr>
              <a:t>Implementation and service coverage</a:t>
            </a:r>
            <a:endParaRPr lang="en-US" sz="2000" dirty="0"/>
          </a:p>
        </p:txBody>
      </p:sp>
      <p:sp>
        <p:nvSpPr>
          <p:cNvPr id="14" name="Shape 11"/>
          <p:cNvSpPr/>
          <p:nvPr/>
        </p:nvSpPr>
        <p:spPr>
          <a:xfrm>
            <a:off x="822960" y="3383280"/>
            <a:ext cx="54864" cy="557784"/>
          </a:xfrm>
          <a:prstGeom prst="rect">
            <a:avLst/>
          </a:prstGeom>
          <a:solidFill>
            <a:srgbClr val="FF9810"/>
          </a:solidFill>
          <a:ln w="12700">
            <a:solidFill>
              <a:srgbClr val="FF9810"/>
            </a:solidFill>
            <a:prstDash val="solid"/>
          </a:ln>
        </p:spPr>
      </p:sp>
      <p:sp>
        <p:nvSpPr>
          <p:cNvPr id="15" name="Text 12">
            <a:hlinkClick r:id="rId2" tooltip=""/>
          </p:cNvPr>
          <p:cNvSpPr/>
          <p:nvPr/>
        </p:nvSpPr>
        <p:spPr>
          <a:xfrm>
            <a:off x="1024128" y="3346704"/>
            <a:ext cx="7315200" cy="411480"/>
          </a:xfrm>
          <a:prstGeom prst="rect">
            <a:avLst/>
          </a:prstGeom>
          <a:noFill/>
          <a:ln/>
        </p:spPr>
        <p:txBody>
          <a:bodyPr wrap="square" lIns="0" tIns="0" rIns="0" bIns="0" rtlCol="0" anchor="ctr"/>
          <a:lstStyle/>
          <a:p>
            <a:pPr algn="l" indent="0" marL="0">
              <a:lnSpc>
                <a:spcPct val="103000"/>
              </a:lnSpc>
              <a:buNone/>
            </a:pPr>
            <a:r>
              <a:rPr lang="en-US" sz="2400" b="1" u="sng" dirty="0">
                <a:solidFill>
                  <a:srgbClr val="37325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LocalStack documentation</a:t>
            </a:r>
            <a:endParaRPr lang="en-US" sz="2400" dirty="0"/>
          </a:p>
        </p:txBody>
      </p:sp>
      <p:sp>
        <p:nvSpPr>
          <p:cNvPr id="16" name="Text 13"/>
          <p:cNvSpPr/>
          <p:nvPr/>
        </p:nvSpPr>
        <p:spPr>
          <a:xfrm>
            <a:off x="1024128" y="3739896"/>
            <a:ext cx="7315200" cy="338328"/>
          </a:xfrm>
          <a:prstGeom prst="rect">
            <a:avLst/>
          </a:prstGeom>
          <a:noFill/>
          <a:ln/>
        </p:spPr>
        <p:txBody>
          <a:bodyPr wrap="square" lIns="0" tIns="0" rIns="0" bIns="0" rtlCol="0" anchor="ctr"/>
          <a:lstStyle/>
          <a:p>
            <a:pPr algn="l" indent="0" marL="0">
              <a:lnSpc>
                <a:spcPct val="103000"/>
              </a:lnSpc>
              <a:buNone/>
            </a:pPr>
            <a:r>
              <a:rPr lang="en-US" sz="2000" dirty="0">
                <a:solidFill>
                  <a:srgbClr val="51536A"/>
                </a:solidFill>
                <a:latin typeface="Arial" pitchFamily="34" charset="0"/>
                <a:ea typeface="Arial" pitchFamily="34" charset="-122"/>
                <a:cs typeface="Arial" pitchFamily="34" charset="-120"/>
              </a:rPr>
              <a:t>Services and developer tools</a:t>
            </a:r>
            <a:endParaRPr lang="en-US" sz="2000" dirty="0"/>
          </a:p>
        </p:txBody>
      </p:sp>
      <p:sp>
        <p:nvSpPr>
          <p:cNvPr id="17" name="Shape 14"/>
          <p:cNvSpPr/>
          <p:nvPr/>
        </p:nvSpPr>
        <p:spPr>
          <a:xfrm>
            <a:off x="822960" y="4142232"/>
            <a:ext cx="54864" cy="557784"/>
          </a:xfrm>
          <a:prstGeom prst="rect">
            <a:avLst/>
          </a:prstGeom>
          <a:solidFill>
            <a:srgbClr val="FF9810"/>
          </a:solidFill>
          <a:ln w="12700">
            <a:solidFill>
              <a:srgbClr val="FF9810"/>
            </a:solidFill>
            <a:prstDash val="solid"/>
          </a:ln>
        </p:spPr>
      </p:sp>
      <p:sp>
        <p:nvSpPr>
          <p:cNvPr id="18" name="Text 15">
            <a:hlinkClick r:id="rId3" tooltip=""/>
          </p:cNvPr>
          <p:cNvSpPr/>
          <p:nvPr/>
        </p:nvSpPr>
        <p:spPr>
          <a:xfrm>
            <a:off x="1024128" y="4105656"/>
            <a:ext cx="7315200" cy="411480"/>
          </a:xfrm>
          <a:prstGeom prst="rect">
            <a:avLst/>
          </a:prstGeom>
          <a:noFill/>
          <a:ln/>
        </p:spPr>
        <p:txBody>
          <a:bodyPr wrap="square" lIns="0" tIns="0" rIns="0" bIns="0" rtlCol="0" anchor="ctr"/>
          <a:lstStyle/>
          <a:p>
            <a:pPr algn="l" indent="0" marL="0">
              <a:lnSpc>
                <a:spcPct val="103000"/>
              </a:lnSpc>
              <a:buNone/>
            </a:pPr>
            <a:r>
              <a:rPr lang="en-US" sz="2400" b="1" u="sng" dirty="0">
                <a:solidFill>
                  <a:srgbClr val="37325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FakeCloud vs. LocalStack</a:t>
            </a:r>
            <a:endParaRPr lang="en-US" sz="2400" dirty="0"/>
          </a:p>
        </p:txBody>
      </p:sp>
      <p:sp>
        <p:nvSpPr>
          <p:cNvPr id="19" name="Text 16"/>
          <p:cNvSpPr/>
          <p:nvPr/>
        </p:nvSpPr>
        <p:spPr>
          <a:xfrm>
            <a:off x="1024128" y="4498848"/>
            <a:ext cx="7315200" cy="338328"/>
          </a:xfrm>
          <a:prstGeom prst="rect">
            <a:avLst/>
          </a:prstGeom>
          <a:noFill/>
          <a:ln/>
        </p:spPr>
        <p:txBody>
          <a:bodyPr wrap="square" lIns="0" tIns="0" rIns="0" bIns="0" rtlCol="0" anchor="ctr"/>
          <a:lstStyle/>
          <a:p>
            <a:pPr algn="l" indent="0" marL="0">
              <a:lnSpc>
                <a:spcPct val="103000"/>
              </a:lnSpc>
              <a:buNone/>
            </a:pPr>
            <a:r>
              <a:rPr lang="en-US" sz="2000" dirty="0">
                <a:solidFill>
                  <a:srgbClr val="51536A"/>
                </a:solidFill>
                <a:latin typeface="Arial" pitchFamily="34" charset="0"/>
                <a:ea typeface="Arial" pitchFamily="34" charset="-122"/>
                <a:cs typeface="Arial" pitchFamily="34" charset="-120"/>
              </a:rPr>
              <a:t>Vendor comparison</a:t>
            </a:r>
            <a:endParaRPr lang="en-US" sz="2000" dirty="0"/>
          </a:p>
        </p:txBody>
      </p:sp>
      <p:sp>
        <p:nvSpPr>
          <p:cNvPr id="20" name="Shape 17"/>
          <p:cNvSpPr/>
          <p:nvPr/>
        </p:nvSpPr>
        <p:spPr>
          <a:xfrm>
            <a:off x="822960" y="4901184"/>
            <a:ext cx="54864" cy="557784"/>
          </a:xfrm>
          <a:prstGeom prst="rect">
            <a:avLst/>
          </a:prstGeom>
          <a:solidFill>
            <a:srgbClr val="FF9810"/>
          </a:solidFill>
          <a:ln w="12700">
            <a:solidFill>
              <a:srgbClr val="FF9810"/>
            </a:solidFill>
            <a:prstDash val="solid"/>
          </a:ln>
        </p:spPr>
      </p:sp>
      <p:sp>
        <p:nvSpPr>
          <p:cNvPr id="21" name="Text 18">
            <a:hlinkClick r:id="rId4" tooltip=""/>
          </p:cNvPr>
          <p:cNvSpPr/>
          <p:nvPr/>
        </p:nvSpPr>
        <p:spPr>
          <a:xfrm>
            <a:off x="1024128" y="4864608"/>
            <a:ext cx="7315200" cy="411480"/>
          </a:xfrm>
          <a:prstGeom prst="rect">
            <a:avLst/>
          </a:prstGeom>
          <a:noFill/>
          <a:ln/>
        </p:spPr>
        <p:txBody>
          <a:bodyPr wrap="square" lIns="0" tIns="0" rIns="0" bIns="0" rtlCol="0" anchor="ctr"/>
          <a:lstStyle/>
          <a:p>
            <a:pPr algn="l" indent="0" marL="0">
              <a:lnSpc>
                <a:spcPct val="103000"/>
              </a:lnSpc>
              <a:buNone/>
            </a:pPr>
            <a:r>
              <a:rPr lang="en-US" sz="2400" b="1" u="sng" dirty="0">
                <a:solidFill>
                  <a:srgbClr val="37325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FAUN: FakeCloud vs. LocalStack</a:t>
            </a:r>
            <a:endParaRPr lang="en-US" sz="2400" dirty="0"/>
          </a:p>
        </p:txBody>
      </p:sp>
      <p:sp>
        <p:nvSpPr>
          <p:cNvPr id="22" name="Text 19"/>
          <p:cNvSpPr/>
          <p:nvPr/>
        </p:nvSpPr>
        <p:spPr>
          <a:xfrm>
            <a:off x="1024128" y="5257800"/>
            <a:ext cx="7315200" cy="338328"/>
          </a:xfrm>
          <a:prstGeom prst="rect">
            <a:avLst/>
          </a:prstGeom>
          <a:noFill/>
          <a:ln/>
        </p:spPr>
        <p:txBody>
          <a:bodyPr wrap="square" lIns="0" tIns="0" rIns="0" bIns="0" rtlCol="0" anchor="ctr"/>
          <a:lstStyle/>
          <a:p>
            <a:pPr algn="l" indent="0" marL="0">
              <a:lnSpc>
                <a:spcPct val="103000"/>
              </a:lnSpc>
              <a:buNone/>
            </a:pPr>
            <a:r>
              <a:rPr lang="en-US" sz="2000" dirty="0">
                <a:solidFill>
                  <a:srgbClr val="51536A"/>
                </a:solidFill>
                <a:latin typeface="Arial" pitchFamily="34" charset="0"/>
                <a:ea typeface="Arial" pitchFamily="34" charset="-122"/>
                <a:cs typeface="Arial" pitchFamily="34" charset="-120"/>
              </a:rPr>
              <a:t>External review and comparison</a:t>
            </a:r>
            <a:endParaRPr lang="en-US" sz="2000" dirty="0"/>
          </a:p>
        </p:txBody>
      </p:sp>
      <p:sp>
        <p:nvSpPr>
          <p:cNvPr id="23" name="Shape 20"/>
          <p:cNvSpPr/>
          <p:nvPr/>
        </p:nvSpPr>
        <p:spPr>
          <a:xfrm>
            <a:off x="822960" y="5660136"/>
            <a:ext cx="54864" cy="557784"/>
          </a:xfrm>
          <a:prstGeom prst="rect">
            <a:avLst/>
          </a:prstGeom>
          <a:solidFill>
            <a:srgbClr val="FF9810"/>
          </a:solidFill>
          <a:ln w="12700">
            <a:solidFill>
              <a:srgbClr val="FF9810"/>
            </a:solidFill>
            <a:prstDash val="solid"/>
          </a:ln>
        </p:spPr>
      </p:sp>
      <p:sp>
        <p:nvSpPr>
          <p:cNvPr id="24" name="Text 21">
            <a:hlinkClick r:id="rId5" tooltip=""/>
          </p:cNvPr>
          <p:cNvSpPr/>
          <p:nvPr/>
        </p:nvSpPr>
        <p:spPr>
          <a:xfrm>
            <a:off x="1024128" y="5623560"/>
            <a:ext cx="7315200" cy="411480"/>
          </a:xfrm>
          <a:prstGeom prst="rect">
            <a:avLst/>
          </a:prstGeom>
          <a:noFill/>
          <a:ln/>
        </p:spPr>
        <p:txBody>
          <a:bodyPr wrap="square" lIns="0" tIns="0" rIns="0" bIns="0" rtlCol="0" anchor="ctr"/>
          <a:lstStyle/>
          <a:p>
            <a:pPr algn="l" indent="0" marL="0">
              <a:lnSpc>
                <a:spcPct val="103000"/>
              </a:lnSpc>
              <a:buNone/>
            </a:pPr>
            <a:r>
              <a:rPr lang="en-US" sz="2400" b="1" u="sng" dirty="0">
                <a:solidFill>
                  <a:srgbClr val="37325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LocalStack: March 2026 release</a:t>
            </a:r>
            <a:endParaRPr lang="en-US" sz="2400" dirty="0"/>
          </a:p>
        </p:txBody>
      </p:sp>
      <p:sp>
        <p:nvSpPr>
          <p:cNvPr id="25" name="Text 22"/>
          <p:cNvSpPr/>
          <p:nvPr/>
        </p:nvSpPr>
        <p:spPr>
          <a:xfrm>
            <a:off x="1024128" y="6016752"/>
            <a:ext cx="7315200" cy="338328"/>
          </a:xfrm>
          <a:prstGeom prst="rect">
            <a:avLst/>
          </a:prstGeom>
          <a:noFill/>
          <a:ln/>
        </p:spPr>
        <p:txBody>
          <a:bodyPr wrap="square" lIns="0" tIns="0" rIns="0" bIns="0" rtlCol="0" anchor="ctr"/>
          <a:lstStyle/>
          <a:p>
            <a:pPr algn="l" indent="0" marL="0">
              <a:lnSpc>
                <a:spcPct val="103000"/>
              </a:lnSpc>
              <a:buNone/>
            </a:pPr>
            <a:r>
              <a:rPr lang="en-US" sz="2000" dirty="0">
                <a:solidFill>
                  <a:srgbClr val="51536A"/>
                </a:solidFill>
                <a:latin typeface="Arial" pitchFamily="34" charset="0"/>
                <a:ea typeface="Arial" pitchFamily="34" charset="-122"/>
                <a:cs typeface="Arial" pitchFamily="34" charset="-120"/>
              </a:rPr>
              <a:t>Account and activation changes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FakeCloud vs. LocalStack</dc:title>
  <dc:subject>Access, runtime, workflow and confidence</dc:subject>
  <dc:creator>Gavril Ștefan-Dorian</dc:creator>
  <cp:lastModifiedBy>Gavril Ștefan-Dorian</cp:lastModifiedBy>
  <cp:revision>1</cp:revision>
  <dcterms:created xsi:type="dcterms:W3CDTF">2026-10-29T10:45:11Z</dcterms:created>
  <dcterms:modified xsi:type="dcterms:W3CDTF">2026-10-29T10:45:11Z</dcterms:modified>
</cp:coreProperties>
</file>